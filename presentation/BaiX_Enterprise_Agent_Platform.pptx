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84048"/>
            <a:ext cx="365760" cy="365760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0233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BAIX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402336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1137392" cy="1371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2B5C4"/>
                </a:solidFill>
                <a:latin typeface="Helvetica Neue"/>
              </a:rPr>
              <a:t>ENTERPRISE AGENT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475488" cy="4572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9967"/>
            <a:ext cx="4800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0F2445"/>
                </a:solidFill>
                <a:latin typeface="Helvetica Neue"/>
              </a:rPr>
              <a:t>AI that works</a:t>
            </a:r>
          </a:p>
          <a:p>
            <a:pPr algn="l">
              <a:lnSpc>
                <a:spcPct val="110000"/>
              </a:lnSpc>
            </a:pPr>
            <a:r>
              <a:rPr sz="3600" b="1">
                <a:solidFill>
                  <a:srgbClr val="0F2445"/>
                </a:solidFill>
                <a:latin typeface="Helvetica Neue"/>
              </a:rPr>
              <a:t>for your business.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5760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708C"/>
                </a:solidFill>
                <a:latin typeface="Helvetica Neue"/>
              </a:rPr>
              <a:t>Cloud. Desktop. Fully customized.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279392"/>
            <a:ext cx="2286000" cy="475488"/>
          </a:xfrm>
          <a:prstGeom prst="round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279392"/>
            <a:ext cx="22860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Helvetica Neue"/>
              </a:rPr>
              <a:t>OWN YOUR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303520"/>
            <a:ext cx="4800600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486400"/>
            <a:ext cx="4800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Private deployment  ·  Your models  ·  Your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3" y="1435608"/>
            <a:ext cx="6455664" cy="12984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4064" y="1371600"/>
            <a:ext cx="645566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1591056"/>
            <a:ext cx="73152" cy="859536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2" y="16459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757E8"/>
                </a:solidFill>
                <a:latin typeface="Helvetica Neue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19385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445"/>
                </a:solidFill>
                <a:latin typeface="Helvetica Neue"/>
              </a:rPr>
              <a:t>Cloud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23042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708C"/>
                </a:solidFill>
                <a:latin typeface="Helvetica Neue"/>
              </a:rPr>
              <a:t>AI for every employee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9783" y="3035808"/>
            <a:ext cx="6455664" cy="12984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84064" y="2971800"/>
            <a:ext cx="645566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84064" y="3191256"/>
            <a:ext cx="73152" cy="859536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57DE"/>
                </a:solidFill>
                <a:latin typeface="Helvetica Neue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35387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445"/>
                </a:solidFill>
                <a:latin typeface="Helvetica Neue"/>
              </a:rPr>
              <a:t>Desktop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3904487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708C"/>
                </a:solidFill>
                <a:latin typeface="Helvetica Neue"/>
              </a:rPr>
              <a:t>Your personal assistant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9783" y="4636008"/>
            <a:ext cx="6455664" cy="12984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84064" y="4572000"/>
            <a:ext cx="6455664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84064" y="4791456"/>
            <a:ext cx="73152" cy="859536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68112" y="4846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A673"/>
                </a:solidFill>
                <a:latin typeface="Helvetica Neue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51389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F2445"/>
                </a:solidFill>
                <a:latin typeface="Helvetica Neue"/>
              </a:rPr>
              <a:t>Custom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8112" y="550468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708C"/>
                </a:solidFill>
                <a:latin typeface="Helvetica Neue"/>
              </a:rPr>
              <a:t>Built for your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84048"/>
            <a:ext cx="365760" cy="365760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0233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BAIX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402336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1137392" cy="1371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757E8"/>
                </a:solidFill>
                <a:latin typeface="Helvetica Neue"/>
              </a:rPr>
              <a:t>CLOUD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475488" cy="4572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93392"/>
            <a:ext cx="3977639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>
                <a:solidFill>
                  <a:srgbClr val="0F2445"/>
                </a:solidFill>
                <a:latin typeface="Helvetica Neue"/>
              </a:rPr>
              <a:t>Enterprise AI</a:t>
            </a:r>
          </a:p>
          <a:p>
            <a:pPr algn="l">
              <a:lnSpc>
                <a:spcPct val="112000"/>
              </a:lnSpc>
            </a:pPr>
            <a:r>
              <a:rPr sz="2900" b="1">
                <a:solidFill>
                  <a:srgbClr val="0F2445"/>
                </a:solidFill>
                <a:latin typeface="Helvetica Neue"/>
              </a:rPr>
              <a:t>for everyone.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F708C"/>
                </a:solidFill>
                <a:latin typeface="Helvetica Neue"/>
              </a:rPr>
              <a:t>No IDE. No GitHub.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F708C"/>
                </a:solidFill>
                <a:latin typeface="Helvetica Neue"/>
              </a:rPr>
              <a:t>Just natural language.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41648"/>
            <a:ext cx="397763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315968"/>
            <a:ext cx="64008" cy="27432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Jira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4279392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Query · Analyze · Update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28032"/>
            <a:ext cx="64008" cy="27432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91456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WeShare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4791456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Search · Summarize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340096"/>
            <a:ext cx="64008" cy="27432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5303520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Automate · Schedule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9783" y="1435608"/>
            <a:ext cx="6455664" cy="44988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84064" y="1371600"/>
            <a:ext cx="6455664" cy="449884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4152" y="2999232"/>
            <a:ext cx="475488" cy="475488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29992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1264" y="3575304"/>
            <a:ext cx="55412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2445"/>
                </a:solidFill>
                <a:latin typeface="Helvetica Neue"/>
              </a:rPr>
              <a:t>CLOUD WORKFLOW IMAGE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3931920"/>
            <a:ext cx="55412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708C"/>
                </a:solidFill>
                <a:latin typeface="Helvetica Neue"/>
              </a:rPr>
              <a:t>Business user  ·  BaiX Cloud  ·  Jira / WeShare / apps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84048"/>
            <a:ext cx="365760" cy="365760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0233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BAIX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402336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1137392" cy="1371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A57DE"/>
                </a:solidFill>
                <a:latin typeface="Helvetica Neue"/>
              </a:rPr>
              <a:t>DESKTOP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475488" cy="4572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93392"/>
            <a:ext cx="3977639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>
                <a:solidFill>
                  <a:srgbClr val="0F2445"/>
                </a:solidFill>
                <a:latin typeface="Helvetica Neue"/>
              </a:rPr>
              <a:t>Your personal</a:t>
            </a:r>
          </a:p>
          <a:p>
            <a:pPr algn="l">
              <a:lnSpc>
                <a:spcPct val="112000"/>
              </a:lnSpc>
            </a:pPr>
            <a:r>
              <a:rPr sz="2900" b="1">
                <a:solidFill>
                  <a:srgbClr val="0F2445"/>
                </a:solidFill>
                <a:latin typeface="Helvetica Neue"/>
              </a:rPr>
              <a:t>AI assistant.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F708C"/>
                </a:solidFill>
                <a:latin typeface="Helvetica Neue"/>
              </a:rPr>
              <a:t>Acts in your environment.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F708C"/>
                </a:solidFill>
                <a:latin typeface="Helvetica Neue"/>
              </a:rPr>
              <a:t>Learns your preferences.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41648"/>
            <a:ext cx="397763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315968"/>
            <a:ext cx="64008" cy="27432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4279392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Automates real websites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64008" cy="27432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0016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4700016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Local files &amp;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157216"/>
            <a:ext cx="64008" cy="27432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5120640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Repeatable daily tasks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577840"/>
            <a:ext cx="64008" cy="27432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41264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5541264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Learns what works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9783" y="1435608"/>
            <a:ext cx="6455664" cy="44988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84064" y="1371600"/>
            <a:ext cx="6455664" cy="449884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74152" y="2999232"/>
            <a:ext cx="475488" cy="475488"/>
          </a:xfrm>
          <a:prstGeom prst="ellipse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29992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3575304"/>
            <a:ext cx="55412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2445"/>
                </a:solidFill>
                <a:latin typeface="Helvetica Neue"/>
              </a:rPr>
              <a:t>DESKTOP PRODUCT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3931920"/>
            <a:ext cx="55412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708C"/>
                </a:solidFill>
                <a:latin typeface="Helvetica Neue"/>
              </a:rPr>
              <a:t>BaiX Desktop completing a real browser task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84048"/>
            <a:ext cx="365760" cy="365760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0233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BAIX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402336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1137392" cy="1371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A673"/>
                </a:solidFill>
                <a:latin typeface="Helvetica Neue"/>
              </a:rPr>
              <a:t>CUSTOM 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475488" cy="4572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93392"/>
            <a:ext cx="3977639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>
                <a:solidFill>
                  <a:srgbClr val="0F2445"/>
                </a:solidFill>
                <a:latin typeface="Helvetica Neue"/>
              </a:rPr>
              <a:t>Built for</a:t>
            </a:r>
          </a:p>
          <a:p>
            <a:pPr algn="l">
              <a:lnSpc>
                <a:spcPct val="112000"/>
              </a:lnSpc>
            </a:pPr>
            <a:r>
              <a:rPr sz="2900" b="1">
                <a:solidFill>
                  <a:srgbClr val="0F2445"/>
                </a:solidFill>
                <a:latin typeface="Helvetica Neue"/>
              </a:rPr>
              <a:t>your business.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10128"/>
            <a:ext cx="397763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F708C"/>
                </a:solidFill>
                <a:latin typeface="Helvetica Neue"/>
              </a:rPr>
              <a:t>From general AI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F708C"/>
                </a:solidFill>
                <a:latin typeface="Helvetica Neue"/>
              </a:rPr>
              <a:t>to your domain expert.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041648"/>
            <a:ext cx="397763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315968"/>
            <a:ext cx="64008" cy="27432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4279392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Private &amp; on-premise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64008" cy="27432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0016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4700016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Your domain knowledge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157216"/>
            <a:ext cx="64008" cy="27432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5120640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Internal toolchains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577840"/>
            <a:ext cx="64008" cy="27432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41264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Product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5541264"/>
            <a:ext cx="20391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Embed into your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9783" y="1435608"/>
            <a:ext cx="6455664" cy="44988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84064" y="1371600"/>
            <a:ext cx="6455664" cy="449884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74152" y="2999232"/>
            <a:ext cx="475488" cy="475488"/>
          </a:xfrm>
          <a:prstGeom prst="ellipse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74152" y="299923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Helvetica Neue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3575304"/>
            <a:ext cx="55412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2445"/>
                </a:solidFill>
                <a:latin typeface="Helvetica Neue"/>
              </a:rPr>
              <a:t>CUSTOM AGENT CASE STUDY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3931920"/>
            <a:ext cx="55412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708C"/>
                </a:solidFill>
                <a:latin typeface="Helvetica Neue"/>
              </a:rPr>
              <a:t>Advantest TP: write · test · debug · integrate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84048"/>
            <a:ext cx="365760" cy="365760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Helvetica Neue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402336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2445"/>
                </a:solidFill>
                <a:latin typeface="Helvetica Neue"/>
              </a:rPr>
              <a:t>BAIX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402336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55080"/>
            <a:ext cx="11137392" cy="1371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2B5C4"/>
                </a:solidFill>
                <a:latin typeface="Helvetica Neue"/>
              </a:rPr>
              <a:t>LIVE SESSION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8103" y="1773936"/>
            <a:ext cx="475488" cy="4572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29967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0F2445"/>
                </a:solidFill>
                <a:latin typeface="Helvetica Neue"/>
              </a:rPr>
              <a:t>Demo &amp;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4436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5F708C"/>
                </a:solidFill>
                <a:latin typeface="Helvetica Neue"/>
              </a:rPr>
              <a:t>Three short demos, then open discussion.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" y="3813048"/>
            <a:ext cx="3429914" cy="13716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3749039"/>
            <a:ext cx="342991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986783"/>
            <a:ext cx="73152" cy="896112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4005072"/>
            <a:ext cx="27898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757E8"/>
                </a:solidFill>
                <a:latin typeface="Helvetica Neue"/>
              </a:rPr>
              <a:t>DEMO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4297679"/>
            <a:ext cx="278983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445"/>
                </a:solidFill>
                <a:latin typeface="Helvetica Neue"/>
              </a:rPr>
              <a:t>Cloud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4645152"/>
            <a:ext cx="278983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Analyze &amp; update Jira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6610" y="3813048"/>
            <a:ext cx="3429914" cy="13716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0890" y="3749039"/>
            <a:ext cx="342991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0890" y="3986783"/>
            <a:ext cx="73152" cy="8961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4938" y="4005072"/>
            <a:ext cx="27898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A57DE"/>
                </a:solidFill>
                <a:latin typeface="Helvetica Neue"/>
              </a:rPr>
              <a:t>DEMO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4938" y="4297679"/>
            <a:ext cx="278983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445"/>
                </a:solidFill>
                <a:latin typeface="Helvetica Neue"/>
              </a:rPr>
              <a:t>Desktop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4938" y="4645152"/>
            <a:ext cx="278983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Run a real browser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49132" y="3813048"/>
            <a:ext cx="3429914" cy="13716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3412" y="3749039"/>
            <a:ext cx="342991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3986783"/>
            <a:ext cx="73152" cy="896112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7460" y="4005072"/>
            <a:ext cx="27898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7A673"/>
                </a:solidFill>
                <a:latin typeface="Helvetica Neue"/>
              </a:rPr>
              <a:t>DEMO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7460" y="4297679"/>
            <a:ext cx="278983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2445"/>
                </a:solidFill>
                <a:latin typeface="Helvetica Neue"/>
              </a:rPr>
              <a:t>Custom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7460" y="4645152"/>
            <a:ext cx="278983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Debug Advantest TP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413248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59612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5F708C"/>
                </a:solidFill>
                <a:latin typeface="Helvetica Neue"/>
              </a:rPr>
              <a:t>Thank you  ·  BaiX Enterprise Agent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