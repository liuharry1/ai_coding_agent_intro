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26A47E07-E830-4421-A83F-A833147C73DC}">
          <p14:sldIdLst>
            <p14:sldId id="256"/>
            <p14:sldId id="257"/>
          </p14:sldIdLst>
        </p14:section>
        <p14:section name="Section 01 · Capabilities" id="{0248E97C-C97F-4BA9-9740-065A9C805978}">
          <p14:sldIdLst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</p14:sldIdLst>
        </p14:section>
        <p14:section name="Section 02 · Architecture &amp; Implementation" id="{1675B919-3EE7-4430-A489-5AFF3EE3B5CC}">
          <p14:sldIdLst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</p14:sldIdLst>
        </p14:section>
        <p14:section name="Closing" id="{4C6C243F-A998-48F5-BCD9-6F90C355DD08}">
          <p14:sldIdLst>
            <p14:sldId id="277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58368" y="365760"/>
            <a:ext cx="329184" cy="329184"/>
          </a:xfrm>
          <a:prstGeom prst="ellipse">
            <a:avLst/>
          </a:prstGeom>
          <a:solidFill>
            <a:srgbClr val="2757E8"/>
          </a:solidFill>
          <a:ln w="12700">
            <a:solidFill>
              <a:srgbClr val="2757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65760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Segoe UI"/>
                <a:ea typeface="Microsoft YaHei"/>
              </a:rPr>
              <a:t>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74904"/>
            <a:ext cx="219456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1">
                <a:solidFill>
                  <a:srgbClr val="0F2445"/>
                </a:solidFill>
                <a:latin typeface="Segoe UI"/>
                <a:ea typeface="Microsoft YaHei"/>
              </a:rPr>
              <a:t>CODING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76127" y="374904"/>
            <a:ext cx="4572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2000"/>
              </a:lnSpc>
              <a:spcAft>
                <a:spcPts val="0"/>
              </a:spcAft>
            </a:pPr>
            <a:r>
              <a:rPr sz="1000" b="1">
                <a:solidFill>
                  <a:srgbClr val="92A0B8"/>
                </a:solidFill>
                <a:latin typeface="Segoe UI"/>
                <a:ea typeface="Microsoft YaHei"/>
              </a:rPr>
              <a:t>01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382512"/>
            <a:ext cx="10874959" cy="10972"/>
          </a:xfrm>
          <a:prstGeom prst="rect">
            <a:avLst/>
          </a:prstGeom>
          <a:solidFill>
            <a:srgbClr val="D8E0EE"/>
          </a:solidFill>
          <a:ln w="12700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37160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00" b="1">
                <a:solidFill>
                  <a:srgbClr val="12B5C4"/>
                </a:solidFill>
                <a:latin typeface="Segoe UI"/>
                <a:ea typeface="Microsoft YaHei"/>
              </a:rPr>
              <a:t>Product &amp; architecture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700784"/>
            <a:ext cx="475488" cy="45720"/>
          </a:xfrm>
          <a:prstGeom prst="rect">
            <a:avLst/>
          </a:prstGeom>
          <a:solidFill>
            <a:srgbClr val="12B5C4"/>
          </a:solidFill>
          <a:ln w="12700">
            <a:solidFill>
              <a:srgbClr val="12B5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956816"/>
            <a:ext cx="5212080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3300" b="1">
                <a:solidFill>
                  <a:srgbClr val="0F2445"/>
                </a:solidFill>
                <a:latin typeface="Segoe UI"/>
                <a:ea typeface="Microsoft YaHei"/>
              </a:rPr>
              <a:t>Coding Agent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3300" b="1">
                <a:solidFill>
                  <a:srgbClr val="0F2445"/>
                </a:solidFill>
                <a:latin typeface="Segoe UI"/>
                <a:ea typeface="Microsoft YaHei"/>
              </a:rPr>
              <a:t>Capabilities and architecture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3529584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400" b="0">
                <a:solidFill>
                  <a:srgbClr val="5F708C"/>
                </a:solidFill>
                <a:latin typeface="Segoe UI"/>
                <a:ea typeface="Microsoft YaHei"/>
              </a:rPr>
              <a:t>Desktop, Web, IDE, and API all share one agent engine.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4114800"/>
            <a:ext cx="3108960" cy="475488"/>
          </a:xfrm>
          <a:prstGeom prst="roundRect">
            <a:avLst/>
          </a:prstGeom>
          <a:solidFill>
            <a:srgbClr val="2757E8"/>
          </a:solidFill>
          <a:ln w="12700">
            <a:solidFill>
              <a:srgbClr val="2757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4114800"/>
            <a:ext cx="31089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Segoe UI"/>
                <a:ea typeface="Microsoft YaHei"/>
              </a:rPr>
              <a:t>Runs locally · Private deployment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5248656"/>
            <a:ext cx="4937760" cy="10972"/>
          </a:xfrm>
          <a:prstGeom prst="rect">
            <a:avLst/>
          </a:prstGeom>
          <a:solidFill>
            <a:srgbClr val="D8E0EE"/>
          </a:solidFill>
          <a:ln w="12700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5486400"/>
            <a:ext cx="493776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00" b="0">
                <a:solidFill>
                  <a:srgbClr val="5F708C"/>
                </a:solidFill>
                <a:latin typeface="Segoe UI"/>
                <a:ea typeface="Microsoft YaHei"/>
              </a:rPr>
              <a:t>Your models  ·  Your data  ·  Extensible at the source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30468" y="1426464"/>
            <a:ext cx="5544007" cy="2103120"/>
          </a:xfrm>
          <a:prstGeom prst="roundRect">
            <a:avLst/>
          </a:prstGeom>
          <a:solidFill>
            <a:srgbClr val="E2E8F3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989320" y="1371600"/>
            <a:ext cx="5544007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89320" y="1645920"/>
            <a:ext cx="82296" cy="1554480"/>
          </a:xfrm>
          <a:prstGeom prst="rect">
            <a:avLst/>
          </a:prstGeom>
          <a:solidFill>
            <a:srgbClr val="2757E8"/>
          </a:solidFill>
          <a:ln w="12700">
            <a:solidFill>
              <a:srgbClr val="2757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9944" y="1682496"/>
            <a:ext cx="2743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00" b="1">
                <a:solidFill>
                  <a:srgbClr val="2757E8"/>
                </a:solidFill>
                <a:latin typeface="Segoe UI"/>
                <a:ea typeface="Microsoft YaHei"/>
              </a:rPr>
              <a:t>SECTION 01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9944" y="2066543"/>
            <a:ext cx="4721047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2400" b="1">
                <a:solidFill>
                  <a:srgbClr val="0F2445"/>
                </a:solidFill>
                <a:latin typeface="Segoe UI"/>
                <a:ea typeface="Microsoft YaHei"/>
              </a:rPr>
              <a:t>Capabilities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9944" y="2596896"/>
            <a:ext cx="4721047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50" b="0">
                <a:solidFill>
                  <a:srgbClr val="5F708C"/>
                </a:solidFill>
                <a:latin typeface="Segoe UI"/>
                <a:ea typeface="Microsoft YaHei"/>
              </a:rPr>
              <a:t>What the agent can do: coding, browser automation,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50" b="0">
                <a:solidFill>
                  <a:srgbClr val="5F708C"/>
                </a:solidFill>
                <a:latin typeface="Segoe UI"/>
                <a:ea typeface="Microsoft YaHei"/>
              </a:rPr>
              <a:t>extensions, clients and ACP, memory, and safeguards.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30468" y="3803903"/>
            <a:ext cx="5544007" cy="2103120"/>
          </a:xfrm>
          <a:prstGeom prst="roundRect">
            <a:avLst/>
          </a:prstGeom>
          <a:solidFill>
            <a:srgbClr val="E2E8F3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989320" y="3749039"/>
            <a:ext cx="5544007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989320" y="4023359"/>
            <a:ext cx="82296" cy="1554480"/>
          </a:xfrm>
          <a:prstGeom prst="rect">
            <a:avLst/>
          </a:prstGeom>
          <a:solidFill>
            <a:srgbClr val="7A57DE"/>
          </a:solidFill>
          <a:ln w="12700">
            <a:solidFill>
              <a:srgbClr val="7A5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9944" y="4059935"/>
            <a:ext cx="2743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00" b="1">
                <a:solidFill>
                  <a:srgbClr val="7A57DE"/>
                </a:solidFill>
                <a:latin typeface="Segoe UI"/>
                <a:ea typeface="Microsoft YaHei"/>
              </a:rPr>
              <a:t>SECTION 02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9944" y="4443983"/>
            <a:ext cx="4721047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2400" b="1">
                <a:solidFill>
                  <a:srgbClr val="0F2445"/>
                </a:solidFill>
                <a:latin typeface="Segoe UI"/>
                <a:ea typeface="Microsoft YaHei"/>
              </a:rPr>
              <a:t>Architecture &amp; implementation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9944" y="4974336"/>
            <a:ext cx="4721047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50" b="0">
                <a:solidFill>
                  <a:srgbClr val="5F708C"/>
                </a:solidFill>
                <a:latin typeface="Segoe UI"/>
                <a:ea typeface="Microsoft YaHei"/>
              </a:rPr>
              <a:t>How one conversation runs: turn host, query loop,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50" b="0">
                <a:solidFill>
                  <a:srgbClr val="5F708C"/>
                </a:solidFill>
                <a:latin typeface="Segoe UI"/>
                <a:ea typeface="Microsoft YaHei"/>
              </a:rPr>
              <a:t>tool pipeline, execution plane, protocol, and ACP.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58368" y="365760"/>
            <a:ext cx="329184" cy="329184"/>
          </a:xfrm>
          <a:prstGeom prst="ellipse">
            <a:avLst/>
          </a:prstGeom>
          <a:solidFill>
            <a:srgbClr val="2757E8"/>
          </a:solidFill>
          <a:ln w="12700">
            <a:solidFill>
              <a:srgbClr val="2757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65760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Segoe UI"/>
                <a:ea typeface="Microsoft YaHei"/>
              </a:rPr>
              <a:t>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74904"/>
            <a:ext cx="219456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1">
                <a:solidFill>
                  <a:srgbClr val="0F2445"/>
                </a:solidFill>
                <a:latin typeface="Segoe UI"/>
                <a:ea typeface="Microsoft YaHei"/>
              </a:rPr>
              <a:t>CODING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12687" y="374904"/>
            <a:ext cx="45720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2000"/>
              </a:lnSpc>
              <a:spcAft>
                <a:spcPts val="0"/>
              </a:spcAft>
            </a:pPr>
            <a:r>
              <a:rPr sz="1000" b="0">
                <a:solidFill>
                  <a:srgbClr val="5F708C"/>
                </a:solidFill>
                <a:latin typeface="Segoe UI"/>
                <a:ea typeface="Microsoft YaHei"/>
              </a:rPr>
              <a:t>AGENDA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76127" y="374904"/>
            <a:ext cx="4572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2000"/>
              </a:lnSpc>
              <a:spcAft>
                <a:spcPts val="0"/>
              </a:spcAft>
            </a:pPr>
            <a:r>
              <a:rPr sz="1000" b="1">
                <a:solidFill>
                  <a:srgbClr val="92A0B8"/>
                </a:solidFill>
                <a:latin typeface="Segoe UI"/>
                <a:ea typeface="Microsoft YaHei"/>
              </a:rPr>
              <a:t>02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6382512"/>
            <a:ext cx="10874959" cy="10972"/>
          </a:xfrm>
          <a:prstGeom prst="rect">
            <a:avLst/>
          </a:prstGeom>
          <a:solidFill>
            <a:srgbClr val="D8E0EE"/>
          </a:solidFill>
          <a:ln w="12700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914400"/>
            <a:ext cx="10874959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1">
                <a:solidFill>
                  <a:srgbClr val="2757E8"/>
                </a:solidFill>
                <a:latin typeface="Segoe UI"/>
                <a:ea typeface="Microsoft YaHei"/>
              </a:rPr>
              <a:t>AGENDA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197864"/>
            <a:ext cx="402336" cy="41148"/>
          </a:xfrm>
          <a:prstGeom prst="rect">
            <a:avLst/>
          </a:prstGeom>
          <a:solidFill>
            <a:srgbClr val="2757E8"/>
          </a:solidFill>
          <a:ln w="12700">
            <a:solidFill>
              <a:srgbClr val="2757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1316736"/>
            <a:ext cx="1087495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2500" b="1">
                <a:solidFill>
                  <a:srgbClr val="0F2445"/>
                </a:solidFill>
                <a:latin typeface="Segoe UI"/>
                <a:ea typeface="Microsoft YaHei"/>
              </a:rPr>
              <a:t>Two sections, one storyline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819656"/>
            <a:ext cx="10874959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200" b="0">
                <a:solidFill>
                  <a:srgbClr val="5F708C"/>
                </a:solidFill>
                <a:latin typeface="Segoe UI"/>
                <a:ea typeface="Microsoft YaHei"/>
              </a:rPr>
              <a:t>First what the agent can do, then how those capabilities are built.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9516" y="2304288"/>
            <a:ext cx="5282031" cy="3913632"/>
          </a:xfrm>
          <a:prstGeom prst="roundRect">
            <a:avLst/>
          </a:prstGeom>
          <a:solidFill>
            <a:srgbClr val="E2E8F3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58368" y="2249424"/>
            <a:ext cx="5282031" cy="39136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" y="2249424"/>
            <a:ext cx="5282031" cy="54864"/>
          </a:xfrm>
          <a:prstGeom prst="rect">
            <a:avLst/>
          </a:prstGeom>
          <a:solidFill>
            <a:srgbClr val="2757E8"/>
          </a:solidFill>
          <a:ln w="12700">
            <a:solidFill>
              <a:srgbClr val="2757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7552" y="2523744"/>
            <a:ext cx="4641951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300" b="1">
                <a:solidFill>
                  <a:srgbClr val="0F2445"/>
                </a:solidFill>
                <a:latin typeface="Segoe UI"/>
                <a:ea typeface="Microsoft YaHei"/>
              </a:rPr>
              <a:t>SECTION 01 · CAPABILITIES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" y="2999232"/>
            <a:ext cx="457200" cy="3771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00" b="1">
                <a:solidFill>
                  <a:srgbClr val="2757E8"/>
                </a:solidFill>
                <a:latin typeface="Segoe UI"/>
                <a:ea typeface="Microsoft YaHei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99616" y="2999232"/>
            <a:ext cx="4093311" cy="3771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50" b="0">
                <a:solidFill>
                  <a:srgbClr val="0F2445"/>
                </a:solidFill>
                <a:latin typeface="Segoe UI"/>
                <a:ea typeface="Microsoft YaHei"/>
              </a:rPr>
              <a:t>Capability map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7552" y="3376422"/>
            <a:ext cx="457200" cy="3771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00" b="1">
                <a:solidFill>
                  <a:srgbClr val="2757E8"/>
                </a:solidFill>
                <a:latin typeface="Segoe UI"/>
                <a:ea typeface="Microsoft YaHei"/>
              </a:rP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99616" y="3376422"/>
            <a:ext cx="4093311" cy="3771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50" b="0">
                <a:solidFill>
                  <a:srgbClr val="0F2445"/>
                </a:solidFill>
                <a:latin typeface="Segoe UI"/>
                <a:ea typeface="Microsoft YaHei"/>
              </a:rPr>
              <a:t>Core coding capabilities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87552" y="3376422"/>
            <a:ext cx="4623663" cy="7315"/>
          </a:xfrm>
          <a:prstGeom prst="rect">
            <a:avLst/>
          </a:prstGeom>
          <a:solidFill>
            <a:srgbClr val="D8E0EE"/>
          </a:solidFill>
          <a:ln w="12700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7552" y="3753611"/>
            <a:ext cx="457200" cy="3771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00" b="1">
                <a:solidFill>
                  <a:srgbClr val="2757E8"/>
                </a:solidFill>
                <a:latin typeface="Segoe UI"/>
                <a:ea typeface="Microsoft YaHei"/>
              </a:rPr>
              <a:t>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99616" y="3753611"/>
            <a:ext cx="4093311" cy="3771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50" b="0">
                <a:solidFill>
                  <a:srgbClr val="0F2445"/>
                </a:solidFill>
                <a:latin typeface="Segoe UI"/>
                <a:ea typeface="Microsoft YaHei"/>
              </a:rPr>
              <a:t>Browser automation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87552" y="3753611"/>
            <a:ext cx="4623663" cy="7315"/>
          </a:xfrm>
          <a:prstGeom prst="rect">
            <a:avLst/>
          </a:prstGeom>
          <a:solidFill>
            <a:srgbClr val="D8E0EE"/>
          </a:solidFill>
          <a:ln w="12700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87552" y="4130802"/>
            <a:ext cx="457200" cy="3771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00" b="1">
                <a:solidFill>
                  <a:srgbClr val="2757E8"/>
                </a:solidFill>
                <a:latin typeface="Segoe UI"/>
                <a:ea typeface="Microsoft YaHei"/>
              </a:rPr>
              <a:t>07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99616" y="4130802"/>
            <a:ext cx="4093311" cy="3771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50" b="0">
                <a:solidFill>
                  <a:srgbClr val="0F2445"/>
                </a:solidFill>
                <a:latin typeface="Segoe UI"/>
                <a:ea typeface="Microsoft YaHei"/>
              </a:rPr>
              <a:t>Extensions: subagents, skills, MCP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87552" y="4130802"/>
            <a:ext cx="4623663" cy="7315"/>
          </a:xfrm>
          <a:prstGeom prst="rect">
            <a:avLst/>
          </a:prstGeom>
          <a:solidFill>
            <a:srgbClr val="D8E0EE"/>
          </a:solidFill>
          <a:ln w="12700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7552" y="4507992"/>
            <a:ext cx="457200" cy="3771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00" b="1">
                <a:solidFill>
                  <a:srgbClr val="2757E8"/>
                </a:solidFill>
                <a:latin typeface="Segoe UI"/>
                <a:ea typeface="Microsoft YaHei"/>
              </a:rPr>
              <a:t>08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99616" y="4507992"/>
            <a:ext cx="4093311" cy="3771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50" b="0">
                <a:solidFill>
                  <a:srgbClr val="0F2445"/>
                </a:solidFill>
                <a:latin typeface="Segoe UI"/>
                <a:ea typeface="Microsoft YaHei"/>
              </a:rPr>
              <a:t>Memory and context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87552" y="4507992"/>
            <a:ext cx="4623663" cy="7315"/>
          </a:xfrm>
          <a:prstGeom prst="rect">
            <a:avLst/>
          </a:prstGeom>
          <a:solidFill>
            <a:srgbClr val="D8E0EE"/>
          </a:solidFill>
          <a:ln w="12700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87552" y="4885181"/>
            <a:ext cx="457200" cy="3771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00" b="1">
                <a:solidFill>
                  <a:srgbClr val="2757E8"/>
                </a:solidFill>
                <a:latin typeface="Segoe UI"/>
                <a:ea typeface="Microsoft YaHei"/>
              </a:rPr>
              <a:t>09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99616" y="4885181"/>
            <a:ext cx="4093311" cy="3771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50" b="0">
                <a:solidFill>
                  <a:srgbClr val="0F2445"/>
                </a:solidFill>
                <a:latin typeface="Segoe UI"/>
                <a:ea typeface="Microsoft YaHei"/>
              </a:rPr>
              <a:t>Clients: one engine, four entry points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87552" y="4885181"/>
            <a:ext cx="4623663" cy="7315"/>
          </a:xfrm>
          <a:prstGeom prst="rect">
            <a:avLst/>
          </a:prstGeom>
          <a:solidFill>
            <a:srgbClr val="D8E0EE"/>
          </a:solidFill>
          <a:ln w="12700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87552" y="5262372"/>
            <a:ext cx="457200" cy="3771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00" b="1">
                <a:solidFill>
                  <a:srgbClr val="2757E8"/>
                </a:solidFill>
                <a:latin typeface="Segoe UI"/>
                <a:ea typeface="Microsoft YaHei"/>
              </a:rPr>
              <a:t>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99616" y="5262372"/>
            <a:ext cx="4093311" cy="3771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50" b="0">
                <a:solidFill>
                  <a:srgbClr val="0F2445"/>
                </a:solidFill>
                <a:latin typeface="Segoe UI"/>
                <a:ea typeface="Microsoft YaHei"/>
              </a:rPr>
              <a:t>ACP: use it inside your IDE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87552" y="5262372"/>
            <a:ext cx="4623663" cy="7315"/>
          </a:xfrm>
          <a:prstGeom prst="rect">
            <a:avLst/>
          </a:prstGeom>
          <a:solidFill>
            <a:srgbClr val="D8E0EE"/>
          </a:solidFill>
          <a:ln w="12700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87552" y="5639562"/>
            <a:ext cx="457200" cy="3771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00" b="1">
                <a:solidFill>
                  <a:srgbClr val="2757E8"/>
                </a:solidFill>
                <a:latin typeface="Segoe UI"/>
                <a:ea typeface="Microsoft YaHei"/>
              </a:rPr>
              <a:t>11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499616" y="5639562"/>
            <a:ext cx="4093311" cy="3771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50" b="0">
                <a:solidFill>
                  <a:srgbClr val="0F2445"/>
                </a:solidFill>
                <a:latin typeface="Segoe UI"/>
                <a:ea typeface="Microsoft YaHei"/>
              </a:rPr>
              <a:t>Safeguards for real projects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87552" y="5639562"/>
            <a:ext cx="4623663" cy="7315"/>
          </a:xfrm>
          <a:prstGeom prst="rect">
            <a:avLst/>
          </a:prstGeom>
          <a:solidFill>
            <a:srgbClr val="D8E0EE"/>
          </a:solidFill>
          <a:ln w="12700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6292443" y="2304288"/>
            <a:ext cx="5282031" cy="3913632"/>
          </a:xfrm>
          <a:prstGeom prst="roundRect">
            <a:avLst/>
          </a:prstGeom>
          <a:solidFill>
            <a:srgbClr val="E2E8F3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6251295" y="2249424"/>
            <a:ext cx="5282031" cy="39136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251295" y="2249424"/>
            <a:ext cx="5282031" cy="54864"/>
          </a:xfrm>
          <a:prstGeom prst="rect">
            <a:avLst/>
          </a:prstGeom>
          <a:solidFill>
            <a:srgbClr val="7A57DE"/>
          </a:solidFill>
          <a:ln w="12700">
            <a:solidFill>
              <a:srgbClr val="7A5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80479" y="2523744"/>
            <a:ext cx="4641951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300" b="1">
                <a:solidFill>
                  <a:srgbClr val="0F2445"/>
                </a:solidFill>
                <a:latin typeface="Segoe UI"/>
                <a:ea typeface="Microsoft YaHei"/>
              </a:rPr>
              <a:t>SECTION 02 · ARCHITECTURE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0479" y="2999232"/>
            <a:ext cx="457200" cy="335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00" b="1">
                <a:solidFill>
                  <a:srgbClr val="7A57DE"/>
                </a:solidFill>
                <a:latin typeface="Segoe UI"/>
                <a:ea typeface="Microsoft YaHei"/>
              </a:rPr>
              <a:t>13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092543" y="2999232"/>
            <a:ext cx="4093311" cy="335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50" b="0">
                <a:solidFill>
                  <a:srgbClr val="0F2445"/>
                </a:solidFill>
                <a:latin typeface="Segoe UI"/>
                <a:ea typeface="Microsoft YaHei"/>
              </a:rPr>
              <a:t>System overview: layers and boundaries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80479" y="3334512"/>
            <a:ext cx="457200" cy="335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00" b="1">
                <a:solidFill>
                  <a:srgbClr val="7A57DE"/>
                </a:solidFill>
                <a:latin typeface="Segoe UI"/>
                <a:ea typeface="Microsoft YaHei"/>
              </a:rPr>
              <a:t>14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092543" y="3334512"/>
            <a:ext cx="4093311" cy="335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50" b="0">
                <a:solidFill>
                  <a:srgbClr val="0F2445"/>
                </a:solidFill>
                <a:latin typeface="Segoe UI"/>
                <a:ea typeface="Microsoft YaHei"/>
              </a:rPr>
              <a:t>One message, end to end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580479" y="3334512"/>
            <a:ext cx="4623663" cy="7315"/>
          </a:xfrm>
          <a:prstGeom prst="rect">
            <a:avLst/>
          </a:prstGeom>
          <a:solidFill>
            <a:srgbClr val="D8E0EE"/>
          </a:solidFill>
          <a:ln w="12700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580479" y="3669792"/>
            <a:ext cx="457200" cy="335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00" b="1">
                <a:solidFill>
                  <a:srgbClr val="7A57DE"/>
                </a:solidFill>
                <a:latin typeface="Segoe UI"/>
                <a:ea typeface="Microsoft YaHei"/>
              </a:rPr>
              <a:t>15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092543" y="3669792"/>
            <a:ext cx="4093311" cy="335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50" b="0">
                <a:solidFill>
                  <a:srgbClr val="0F2445"/>
                </a:solidFill>
                <a:latin typeface="Segoe UI"/>
                <a:ea typeface="Microsoft YaHei"/>
              </a:rPr>
              <a:t>How the agent loop divides work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580479" y="3669792"/>
            <a:ext cx="4623663" cy="7315"/>
          </a:xfrm>
          <a:prstGeom prst="rect">
            <a:avLst/>
          </a:prstGeom>
          <a:solidFill>
            <a:srgbClr val="D8E0EE"/>
          </a:solidFill>
          <a:ln w="12700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580479" y="4005072"/>
            <a:ext cx="457200" cy="335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00" b="1">
                <a:solidFill>
                  <a:srgbClr val="7A57DE"/>
                </a:solidFill>
                <a:latin typeface="Segoe UI"/>
                <a:ea typeface="Microsoft YaHei"/>
              </a:rPr>
              <a:t>16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092543" y="4005072"/>
            <a:ext cx="4093311" cy="335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50" b="0">
                <a:solidFill>
                  <a:srgbClr val="0F2445"/>
                </a:solidFill>
                <a:latin typeface="Segoe UI"/>
                <a:ea typeface="Microsoft YaHei"/>
              </a:rPr>
              <a:t>The tool pipeline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580479" y="4005072"/>
            <a:ext cx="4623663" cy="7315"/>
          </a:xfrm>
          <a:prstGeom prst="rect">
            <a:avLst/>
          </a:prstGeom>
          <a:solidFill>
            <a:srgbClr val="D8E0EE"/>
          </a:solidFill>
          <a:ln w="12700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580479" y="4340351"/>
            <a:ext cx="457200" cy="335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00" b="1">
                <a:solidFill>
                  <a:srgbClr val="7A57DE"/>
                </a:solidFill>
                <a:latin typeface="Segoe UI"/>
                <a:ea typeface="Microsoft YaHei"/>
              </a:rPr>
              <a:t>17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092543" y="4340351"/>
            <a:ext cx="4093311" cy="335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50" b="0">
                <a:solidFill>
                  <a:srgbClr val="0F2445"/>
                </a:solidFill>
                <a:latin typeface="Segoe UI"/>
                <a:ea typeface="Microsoft YaHei"/>
              </a:rPr>
              <a:t>Execution plane: control vs. execution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580479" y="4340351"/>
            <a:ext cx="4623663" cy="7315"/>
          </a:xfrm>
          <a:prstGeom prst="rect">
            <a:avLst/>
          </a:prstGeom>
          <a:solidFill>
            <a:srgbClr val="D8E0EE"/>
          </a:solidFill>
          <a:ln w="12700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580479" y="4675632"/>
            <a:ext cx="457200" cy="335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00" b="1">
                <a:solidFill>
                  <a:srgbClr val="7A57DE"/>
                </a:solidFill>
                <a:latin typeface="Segoe UI"/>
                <a:ea typeface="Microsoft YaHei"/>
              </a:rPr>
              <a:t>18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092543" y="4675632"/>
            <a:ext cx="4093311" cy="335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50" b="0">
                <a:solidFill>
                  <a:srgbClr val="0F2445"/>
                </a:solidFill>
                <a:latin typeface="Segoe UI"/>
                <a:ea typeface="Microsoft YaHei"/>
              </a:rPr>
              <a:t>Protocol and correlation IDs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580479" y="4675632"/>
            <a:ext cx="4623663" cy="7315"/>
          </a:xfrm>
          <a:prstGeom prst="rect">
            <a:avLst/>
          </a:prstGeom>
          <a:solidFill>
            <a:srgbClr val="D8E0EE"/>
          </a:solidFill>
          <a:ln w="12700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580479" y="5010912"/>
            <a:ext cx="457200" cy="335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00" b="1">
                <a:solidFill>
                  <a:srgbClr val="7A57DE"/>
                </a:solidFill>
                <a:latin typeface="Segoe UI"/>
                <a:ea typeface="Microsoft YaHei"/>
              </a:rPr>
              <a:t>19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092543" y="5010912"/>
            <a:ext cx="4093311" cy="335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50" b="0">
                <a:solidFill>
                  <a:srgbClr val="0F2445"/>
                </a:solidFill>
                <a:latin typeface="Segoe UI"/>
                <a:ea typeface="Microsoft YaHei"/>
              </a:rPr>
              <a:t>Inside the ACP adapter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580479" y="5010912"/>
            <a:ext cx="4623663" cy="7315"/>
          </a:xfrm>
          <a:prstGeom prst="rect">
            <a:avLst/>
          </a:prstGeom>
          <a:solidFill>
            <a:srgbClr val="D8E0EE"/>
          </a:solidFill>
          <a:ln w="12700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580479" y="5346192"/>
            <a:ext cx="457200" cy="335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00" b="1">
                <a:solidFill>
                  <a:srgbClr val="7A57DE"/>
                </a:solidFill>
                <a:latin typeface="Segoe UI"/>
                <a:ea typeface="Microsoft YaHei"/>
              </a:rPr>
              <a:t>20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092543" y="5346192"/>
            <a:ext cx="4093311" cy="335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50" b="0">
                <a:solidFill>
                  <a:srgbClr val="0F2445"/>
                </a:solidFill>
                <a:latin typeface="Segoe UI"/>
                <a:ea typeface="Microsoft YaHei"/>
              </a:rPr>
              <a:t>How memory and compaction work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580479" y="5346192"/>
            <a:ext cx="4623663" cy="7315"/>
          </a:xfrm>
          <a:prstGeom prst="rect">
            <a:avLst/>
          </a:prstGeom>
          <a:solidFill>
            <a:srgbClr val="D8E0EE"/>
          </a:solidFill>
          <a:ln w="12700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580479" y="5681472"/>
            <a:ext cx="457200" cy="335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00" b="1">
                <a:solidFill>
                  <a:srgbClr val="7A57DE"/>
                </a:solidFill>
                <a:latin typeface="Segoe UI"/>
                <a:ea typeface="Microsoft YaHei"/>
              </a:rPr>
              <a:t>21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092543" y="5681472"/>
            <a:ext cx="4093311" cy="335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50" b="0">
                <a:solidFill>
                  <a:srgbClr val="0F2445"/>
                </a:solidFill>
                <a:latin typeface="Segoe UI"/>
                <a:ea typeface="Microsoft YaHei"/>
              </a:rPr>
              <a:t>Failure boundaries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580479" y="5681472"/>
            <a:ext cx="4623663" cy="7315"/>
          </a:xfrm>
          <a:prstGeom prst="rect">
            <a:avLst/>
          </a:prstGeom>
          <a:solidFill>
            <a:srgbClr val="D8E0EE"/>
          </a:solidFill>
          <a:ln w="12700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58368" y="365760"/>
            <a:ext cx="329184" cy="329184"/>
          </a:xfrm>
          <a:prstGeom prst="ellipse">
            <a:avLst/>
          </a:prstGeom>
          <a:solidFill>
            <a:srgbClr val="2757E8"/>
          </a:solidFill>
          <a:ln w="12700">
            <a:solidFill>
              <a:srgbClr val="2757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65760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Segoe UI"/>
                <a:ea typeface="Microsoft YaHei"/>
              </a:rPr>
              <a:t>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74904"/>
            <a:ext cx="219456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1">
                <a:solidFill>
                  <a:srgbClr val="0F2445"/>
                </a:solidFill>
                <a:latin typeface="Segoe UI"/>
                <a:ea typeface="Microsoft YaHei"/>
              </a:rPr>
              <a:t>CODING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12687" y="374904"/>
            <a:ext cx="45720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2000"/>
              </a:lnSpc>
              <a:spcAft>
                <a:spcPts val="0"/>
              </a:spcAft>
            </a:pPr>
            <a:r>
              <a:rPr sz="1000" b="0">
                <a:solidFill>
                  <a:srgbClr val="5F708C"/>
                </a:solidFill>
                <a:latin typeface="Segoe UI"/>
                <a:ea typeface="Microsoft YaHei"/>
              </a:rPr>
              <a:t>SECTION 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76127" y="374904"/>
            <a:ext cx="4572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2000"/>
              </a:lnSpc>
              <a:spcAft>
                <a:spcPts val="0"/>
              </a:spcAft>
            </a:pPr>
            <a:r>
              <a:rPr sz="1000" b="1">
                <a:solidFill>
                  <a:srgbClr val="92A0B8"/>
                </a:solidFill>
                <a:latin typeface="Segoe UI"/>
                <a:ea typeface="Microsoft YaHei"/>
              </a:rPr>
              <a:t>03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6382512"/>
            <a:ext cx="10874959" cy="10972"/>
          </a:xfrm>
          <a:prstGeom prst="rect">
            <a:avLst/>
          </a:prstGeom>
          <a:solidFill>
            <a:srgbClr val="D8E0EE"/>
          </a:solidFill>
          <a:ln w="12700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2286000"/>
            <a:ext cx="36576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00" b="1">
                <a:solidFill>
                  <a:srgbClr val="5F708C"/>
                </a:solidFill>
                <a:latin typeface="Segoe UI"/>
                <a:ea typeface="Microsoft YaHei"/>
              </a:rPr>
              <a:t>SECTION 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560320"/>
            <a:ext cx="2743200" cy="1737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9600" b="1">
                <a:solidFill>
                  <a:srgbClr val="2757E8"/>
                </a:solidFill>
                <a:latin typeface="Segoe UI"/>
                <a:ea typeface="Microsoft YaHei"/>
              </a:rPr>
              <a:t>01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4389120"/>
            <a:ext cx="1280160" cy="45720"/>
          </a:xfrm>
          <a:prstGeom prst="rect">
            <a:avLst/>
          </a:prstGeom>
          <a:solidFill>
            <a:srgbClr val="2757E8"/>
          </a:solidFill>
          <a:ln w="12700">
            <a:solidFill>
              <a:srgbClr val="2757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60520" y="3072384"/>
            <a:ext cx="7498079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3800" b="1">
                <a:solidFill>
                  <a:srgbClr val="0F2445"/>
                </a:solidFill>
                <a:latin typeface="Segoe UI"/>
                <a:ea typeface="Microsoft YaHei"/>
              </a:rPr>
              <a:t>Capabilities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87952" y="3840480"/>
            <a:ext cx="749807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400" b="0">
                <a:solidFill>
                  <a:srgbClr val="5F708C"/>
                </a:solidFill>
                <a:latin typeface="Segoe UI"/>
                <a:ea typeface="Microsoft YaHei"/>
              </a:rPr>
              <a:t>What the agent can do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60520" y="4315968"/>
            <a:ext cx="1706041" cy="4206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60520" y="4315968"/>
            <a:ext cx="1706041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1050" b="1">
                <a:solidFill>
                  <a:srgbClr val="0F2445"/>
                </a:solidFill>
                <a:latin typeface="Segoe UI"/>
                <a:ea typeface="Microsoft YaHei"/>
              </a:rPr>
              <a:t>Coding · Browser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49441" y="4315968"/>
            <a:ext cx="1706041" cy="4206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49441" y="4315968"/>
            <a:ext cx="1706041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1050" b="1">
                <a:solidFill>
                  <a:srgbClr val="0F2445"/>
                </a:solidFill>
                <a:latin typeface="Segoe UI"/>
                <a:ea typeface="Microsoft YaHei"/>
              </a:rPr>
              <a:t>Extensions · MCP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38363" y="4315968"/>
            <a:ext cx="1706041" cy="4206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38363" y="4315968"/>
            <a:ext cx="1706041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1050" b="1">
                <a:solidFill>
                  <a:srgbClr val="0F2445"/>
                </a:solidFill>
                <a:latin typeface="Segoe UI"/>
                <a:ea typeface="Microsoft YaHei"/>
              </a:rPr>
              <a:t>Clients · ACP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827285" y="4315968"/>
            <a:ext cx="1706041" cy="4206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27285" y="4315968"/>
            <a:ext cx="1706041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1050" b="1">
                <a:solidFill>
                  <a:srgbClr val="0F2445"/>
                </a:solidFill>
                <a:latin typeface="Segoe UI"/>
                <a:ea typeface="Microsoft YaHei"/>
              </a:rPr>
              <a:t>Memory · Limits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58368" y="365760"/>
            <a:ext cx="329184" cy="329184"/>
          </a:xfrm>
          <a:prstGeom prst="ellipse">
            <a:avLst/>
          </a:prstGeom>
          <a:solidFill>
            <a:srgbClr val="2757E8"/>
          </a:solidFill>
          <a:ln w="12700">
            <a:solidFill>
              <a:srgbClr val="2757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65760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Segoe UI"/>
                <a:ea typeface="Microsoft YaHei"/>
              </a:rPr>
              <a:t>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74904"/>
            <a:ext cx="219456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1">
                <a:solidFill>
                  <a:srgbClr val="0F2445"/>
                </a:solidFill>
                <a:latin typeface="Segoe UI"/>
                <a:ea typeface="Microsoft YaHei"/>
              </a:rPr>
              <a:t>CODING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12687" y="374904"/>
            <a:ext cx="45720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2000"/>
              </a:lnSpc>
              <a:spcAft>
                <a:spcPts val="0"/>
              </a:spcAft>
            </a:pPr>
            <a:r>
              <a:rPr sz="1000" b="0">
                <a:solidFill>
                  <a:srgbClr val="5F708C"/>
                </a:solidFill>
                <a:latin typeface="Segoe UI"/>
                <a:ea typeface="Microsoft YaHei"/>
              </a:rPr>
              <a:t>SECTION 01 · CAPABILITIES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76127" y="374904"/>
            <a:ext cx="4572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2000"/>
              </a:lnSpc>
              <a:spcAft>
                <a:spcPts val="0"/>
              </a:spcAft>
            </a:pPr>
            <a:r>
              <a:rPr sz="1000" b="1">
                <a:solidFill>
                  <a:srgbClr val="92A0B8"/>
                </a:solidFill>
                <a:latin typeface="Segoe UI"/>
                <a:ea typeface="Microsoft YaHei"/>
              </a:rPr>
              <a:t>04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6382512"/>
            <a:ext cx="10874959" cy="10972"/>
          </a:xfrm>
          <a:prstGeom prst="rect">
            <a:avLst/>
          </a:prstGeom>
          <a:solidFill>
            <a:srgbClr val="D8E0EE"/>
          </a:solidFill>
          <a:ln w="12700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914400"/>
            <a:ext cx="10874959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1">
                <a:solidFill>
                  <a:srgbClr val="2757E8"/>
                </a:solidFill>
                <a:latin typeface="Segoe UI"/>
                <a:ea typeface="Microsoft YaHei"/>
              </a:rPr>
              <a:t>CAPABILITY MAP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197864"/>
            <a:ext cx="402336" cy="41148"/>
          </a:xfrm>
          <a:prstGeom prst="rect">
            <a:avLst/>
          </a:prstGeom>
          <a:solidFill>
            <a:srgbClr val="2757E8"/>
          </a:solidFill>
          <a:ln w="12700">
            <a:solidFill>
              <a:srgbClr val="2757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1316736"/>
            <a:ext cx="1087495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2500" b="1">
                <a:solidFill>
                  <a:srgbClr val="0F2445"/>
                </a:solidFill>
                <a:latin typeface="Segoe UI"/>
                <a:ea typeface="Microsoft YaHei"/>
              </a:rPr>
              <a:t>Six capabilities that add up to a working agent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819656"/>
            <a:ext cx="10874959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200" b="0">
                <a:solidFill>
                  <a:srgbClr val="5F708C"/>
                </a:solidFill>
                <a:latin typeface="Segoe UI"/>
                <a:ea typeface="Microsoft YaHei"/>
              </a:rPr>
              <a:t>Each one stands alone, and they chain together in a single conversation.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9516" y="2304288"/>
            <a:ext cx="3454298" cy="1828800"/>
          </a:xfrm>
          <a:prstGeom prst="roundRect">
            <a:avLst/>
          </a:prstGeom>
          <a:solidFill>
            <a:srgbClr val="E2E8F3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58368" y="2249424"/>
            <a:ext cx="3454298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" y="2432304"/>
            <a:ext cx="64008" cy="1463040"/>
          </a:xfrm>
          <a:prstGeom prst="rect">
            <a:avLst/>
          </a:prstGeom>
          <a:solidFill>
            <a:srgbClr val="2757E8"/>
          </a:solidFill>
          <a:ln w="12700">
            <a:solidFill>
              <a:srgbClr val="2757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2395728"/>
            <a:ext cx="2942234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950" b="1">
                <a:solidFill>
                  <a:srgbClr val="2757E8"/>
                </a:solidFill>
                <a:latin typeface="Segoe UI"/>
                <a:ea typeface="Microsoft YaHei"/>
              </a:rPr>
              <a:t>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2633472"/>
            <a:ext cx="2942234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450" b="1">
                <a:solidFill>
                  <a:srgbClr val="0F2445"/>
                </a:solidFill>
                <a:latin typeface="Segoe UI"/>
                <a:ea typeface="Microsoft YaHei"/>
              </a:rPr>
              <a:t>Coding assistant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" y="2999232"/>
            <a:ext cx="2942234" cy="932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350"/>
              </a:spcAft>
            </a:pPr>
            <a:r>
              <a:rPr sz="950" b="0">
                <a:solidFill>
                  <a:srgbClr val="5F708C"/>
                </a:solidFill>
                <a:latin typeface="Segoe UI"/>
                <a:ea typeface="Microsoft YaHei"/>
              </a:rPr>
              <a:t>· Edits files by fragment instead of rewriting them</a:t>
            </a:r>
          </a:p>
          <a:p>
            <a:pPr algn="l">
              <a:lnSpc>
                <a:spcPct val="130000"/>
              </a:lnSpc>
              <a:spcAft>
                <a:spcPts val="350"/>
              </a:spcAft>
            </a:pPr>
            <a:r>
              <a:rPr sz="950" b="0">
                <a:solidFill>
                  <a:srgbClr val="5F708C"/>
                </a:solidFill>
                <a:latin typeface="Segoe UI"/>
                <a:ea typeface="Microsoft YaHei"/>
              </a:rPr>
              <a:t>· ripgrep-class search plus structured LSP intelligence</a:t>
            </a:r>
          </a:p>
          <a:p>
            <a:pPr algn="l">
              <a:lnSpc>
                <a:spcPct val="130000"/>
              </a:lnSpc>
              <a:spcAft>
                <a:spcPts val="350"/>
              </a:spcAft>
            </a:pPr>
            <a:r>
              <a:rPr sz="950" b="0">
                <a:solidFill>
                  <a:srgbClr val="5F708C"/>
                </a:solidFill>
                <a:latin typeface="Segoe UI"/>
                <a:ea typeface="Microsoft YaHei"/>
              </a:rPr>
              <a:t>· Cross-platform commands; long ones move to background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09846" y="2304288"/>
            <a:ext cx="3454298" cy="1828800"/>
          </a:xfrm>
          <a:prstGeom prst="roundRect">
            <a:avLst/>
          </a:prstGeom>
          <a:solidFill>
            <a:srgbClr val="E2E8F3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368698" y="2249424"/>
            <a:ext cx="3454298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68698" y="2432304"/>
            <a:ext cx="64008" cy="1463040"/>
          </a:xfrm>
          <a:prstGeom prst="rect">
            <a:avLst/>
          </a:prstGeom>
          <a:solidFill>
            <a:srgbClr val="12B5C4"/>
          </a:solidFill>
          <a:ln w="12700">
            <a:solidFill>
              <a:srgbClr val="12B5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43018" y="2395728"/>
            <a:ext cx="2942234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950" b="1">
                <a:solidFill>
                  <a:srgbClr val="12B5C4"/>
                </a:solidFill>
                <a:latin typeface="Segoe UI"/>
                <a:ea typeface="Microsoft YaHei"/>
              </a:rPr>
              <a:t>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43018" y="2633472"/>
            <a:ext cx="2942234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450" b="1">
                <a:solidFill>
                  <a:srgbClr val="0F2445"/>
                </a:solidFill>
                <a:latin typeface="Segoe UI"/>
                <a:ea typeface="Microsoft YaHei"/>
              </a:rPr>
              <a:t>Browser automation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43018" y="2999232"/>
            <a:ext cx="2942234" cy="932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350"/>
              </a:spcAft>
            </a:pPr>
            <a:r>
              <a:rPr sz="950" b="0">
                <a:solidFill>
                  <a:srgbClr val="5F708C"/>
                </a:solidFill>
                <a:latin typeface="Segoe UI"/>
                <a:ea typeface="Microsoft YaHei"/>
              </a:rPr>
              <a:t>· Drives real pages: navigate, click, fill, screenshot</a:t>
            </a:r>
          </a:p>
          <a:p>
            <a:pPr algn="l">
              <a:lnSpc>
                <a:spcPct val="130000"/>
              </a:lnSpc>
              <a:spcAft>
                <a:spcPts val="350"/>
              </a:spcAft>
            </a:pPr>
            <a:r>
              <a:rPr sz="950" b="0">
                <a:solidFill>
                  <a:srgbClr val="5F708C"/>
                </a:solidFill>
                <a:latin typeface="Segoe UI"/>
                <a:ea typeface="Microsoft YaHei"/>
              </a:rPr>
              <a:t>· Can reuse your own Chrome cookies and sessions</a:t>
            </a:r>
          </a:p>
          <a:p>
            <a:pPr algn="l">
              <a:lnSpc>
                <a:spcPct val="130000"/>
              </a:lnSpc>
              <a:spcAft>
                <a:spcPts val="350"/>
              </a:spcAft>
            </a:pPr>
            <a:r>
              <a:rPr sz="950" b="0">
                <a:solidFill>
                  <a:srgbClr val="5F708C"/>
                </a:solidFill>
                <a:latin typeface="Segoe UI"/>
                <a:ea typeface="Microsoft YaHei"/>
              </a:rPr>
              <a:t>· Reads network traffic to catch silent failures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20176" y="2304288"/>
            <a:ext cx="3454298" cy="1828800"/>
          </a:xfrm>
          <a:prstGeom prst="roundRect">
            <a:avLst/>
          </a:prstGeom>
          <a:solidFill>
            <a:srgbClr val="E2E8F3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079028" y="2249424"/>
            <a:ext cx="3454298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79028" y="2432304"/>
            <a:ext cx="64008" cy="1463040"/>
          </a:xfrm>
          <a:prstGeom prst="rect">
            <a:avLst/>
          </a:prstGeom>
          <a:solidFill>
            <a:srgbClr val="7A57DE"/>
          </a:solidFill>
          <a:ln w="12700">
            <a:solidFill>
              <a:srgbClr val="7A5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53348" y="2395728"/>
            <a:ext cx="2942234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950" b="1">
                <a:solidFill>
                  <a:srgbClr val="7A57DE"/>
                </a:solidFill>
                <a:latin typeface="Segoe UI"/>
                <a:ea typeface="Microsoft YaHei"/>
              </a:rPr>
              <a:t>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53348" y="2633472"/>
            <a:ext cx="2942234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450" b="1">
                <a:solidFill>
                  <a:srgbClr val="0F2445"/>
                </a:solidFill>
                <a:latin typeface="Segoe UI"/>
                <a:ea typeface="Microsoft YaHei"/>
              </a:rPr>
              <a:t>Extensions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53348" y="2999232"/>
            <a:ext cx="2942234" cy="932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350"/>
              </a:spcAft>
            </a:pPr>
            <a:r>
              <a:rPr sz="950" b="0">
                <a:solidFill>
                  <a:srgbClr val="5F708C"/>
                </a:solidFill>
                <a:latin typeface="Segoe UI"/>
                <a:ea typeface="Microsoft YaHei"/>
              </a:rPr>
              <a:t>· Skills, slash commands, subagents, MCP, plugins</a:t>
            </a:r>
          </a:p>
          <a:p>
            <a:pPr algn="l">
              <a:lnSpc>
                <a:spcPct val="130000"/>
              </a:lnSpc>
              <a:spcAft>
                <a:spcPts val="350"/>
              </a:spcAft>
            </a:pPr>
            <a:r>
              <a:rPr sz="950" b="0">
                <a:solidFill>
                  <a:srgbClr val="5F708C"/>
                </a:solidFill>
                <a:latin typeface="Segoe UI"/>
                <a:ea typeface="Microsoft YaHei"/>
              </a:rPr>
              <a:t>· All Markdown or config; the core loop stays untouched</a:t>
            </a:r>
          </a:p>
          <a:p>
            <a:pPr algn="l">
              <a:lnSpc>
                <a:spcPct val="130000"/>
              </a:lnSpc>
              <a:spcAft>
                <a:spcPts val="350"/>
              </a:spcAft>
            </a:pPr>
            <a:r>
              <a:rPr sz="950" b="0">
                <a:solidFill>
                  <a:srgbClr val="5F708C"/>
                </a:solidFill>
                <a:latin typeface="Segoe UI"/>
                <a:ea typeface="Microsoft YaHei"/>
              </a:rPr>
              <a:t>· Merged across plugin, user, project, managed scopes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99516" y="4389120"/>
            <a:ext cx="3454298" cy="1828800"/>
          </a:xfrm>
          <a:prstGeom prst="roundRect">
            <a:avLst/>
          </a:prstGeom>
          <a:solidFill>
            <a:srgbClr val="E2E8F3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58368" y="4334256"/>
            <a:ext cx="3454298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58368" y="4517136"/>
            <a:ext cx="64008" cy="1463040"/>
          </a:xfrm>
          <a:prstGeom prst="rect">
            <a:avLst/>
          </a:prstGeom>
          <a:solidFill>
            <a:srgbClr val="17A673"/>
          </a:solidFill>
          <a:ln w="12700">
            <a:solidFill>
              <a:srgbClr val="17A6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32688" y="4480560"/>
            <a:ext cx="2942234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950" b="1">
                <a:solidFill>
                  <a:srgbClr val="17A673"/>
                </a:solidFill>
                <a:latin typeface="Segoe UI"/>
                <a:ea typeface="Microsoft YaHei"/>
              </a:rPr>
              <a:t>04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2688" y="4718304"/>
            <a:ext cx="2942234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450" b="1">
                <a:solidFill>
                  <a:srgbClr val="0F2445"/>
                </a:solidFill>
                <a:latin typeface="Segoe UI"/>
                <a:ea typeface="Microsoft YaHei"/>
              </a:rPr>
              <a:t>Clients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2688" y="5084064"/>
            <a:ext cx="2942234" cy="932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350"/>
              </a:spcAft>
            </a:pPr>
            <a:r>
              <a:rPr sz="950" b="0">
                <a:solidFill>
                  <a:srgbClr val="5F708C"/>
                </a:solidFill>
                <a:latin typeface="Segoe UI"/>
                <a:ea typeface="Microsoft YaHei"/>
              </a:rPr>
              <a:t>· Electron desktop, Web UI, and CLI stdio</a:t>
            </a:r>
          </a:p>
          <a:p>
            <a:pPr algn="l">
              <a:lnSpc>
                <a:spcPct val="130000"/>
              </a:lnSpc>
              <a:spcAft>
                <a:spcPts val="350"/>
              </a:spcAft>
            </a:pPr>
            <a:r>
              <a:rPr sz="950" b="0">
                <a:solidFill>
                  <a:srgbClr val="5F708C"/>
                </a:solidFill>
                <a:latin typeface="Segoe UI"/>
                <a:ea typeface="Microsoft YaHei"/>
              </a:rPr>
              <a:t>· ACP brings it into VS Code, Cursor, and IntelliJ</a:t>
            </a:r>
          </a:p>
          <a:p>
            <a:pPr algn="l">
              <a:lnSpc>
                <a:spcPct val="130000"/>
              </a:lnSpc>
              <a:spcAft>
                <a:spcPts val="350"/>
              </a:spcAft>
            </a:pPr>
            <a:r>
              <a:rPr sz="950" b="0">
                <a:solidFill>
                  <a:srgbClr val="5F708C"/>
                </a:solidFill>
                <a:latin typeface="Segoe UI"/>
                <a:ea typeface="Microsoft YaHei"/>
              </a:rPr>
              <a:t>· HTTP API plus TypeScript and Python SDKs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409846" y="4389120"/>
            <a:ext cx="3454298" cy="1828800"/>
          </a:xfrm>
          <a:prstGeom prst="roundRect">
            <a:avLst/>
          </a:prstGeom>
          <a:solidFill>
            <a:srgbClr val="E2E8F3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4368698" y="4334256"/>
            <a:ext cx="3454298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368698" y="4517136"/>
            <a:ext cx="64008" cy="1463040"/>
          </a:xfrm>
          <a:prstGeom prst="rect">
            <a:avLst/>
          </a:prstGeom>
          <a:solidFill>
            <a:srgbClr val="D68A22"/>
          </a:solidFill>
          <a:ln w="12700">
            <a:solidFill>
              <a:srgbClr val="D68A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643018" y="4480560"/>
            <a:ext cx="2942234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950" b="1">
                <a:solidFill>
                  <a:srgbClr val="D68A22"/>
                </a:solidFill>
                <a:latin typeface="Segoe UI"/>
                <a:ea typeface="Microsoft YaHei"/>
              </a:rPr>
              <a:t>05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643018" y="4718304"/>
            <a:ext cx="2942234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450" b="1">
                <a:solidFill>
                  <a:srgbClr val="0F2445"/>
                </a:solidFill>
                <a:latin typeface="Segoe UI"/>
                <a:ea typeface="Microsoft YaHei"/>
              </a:rPr>
              <a:t>Memory and context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43018" y="5084064"/>
            <a:ext cx="2942234" cy="932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350"/>
              </a:spcAft>
            </a:pPr>
            <a:r>
              <a:rPr sz="950" b="0">
                <a:solidFill>
                  <a:srgbClr val="5F708C"/>
                </a:solidFill>
                <a:latin typeface="Segoe UI"/>
                <a:ea typeface="Microsoft YaHei"/>
              </a:rPr>
              <a:t>· Project rules stay resident; memory is recalled on demand</a:t>
            </a:r>
          </a:p>
          <a:p>
            <a:pPr algn="l">
              <a:lnSpc>
                <a:spcPct val="130000"/>
              </a:lnSpc>
              <a:spcAft>
                <a:spcPts val="350"/>
              </a:spcAft>
            </a:pPr>
            <a:r>
              <a:rPr sz="950" b="0">
                <a:solidFill>
                  <a:srgbClr val="5F708C"/>
                </a:solidFill>
                <a:latin typeface="Segoe UI"/>
                <a:ea typeface="Microsoft YaHei"/>
              </a:rPr>
              <a:t>· Session notes track progress for the current chat</a:t>
            </a:r>
          </a:p>
          <a:p>
            <a:pPr algn="l">
              <a:lnSpc>
                <a:spcPct val="130000"/>
              </a:lnSpc>
              <a:spcAft>
                <a:spcPts val="350"/>
              </a:spcAft>
            </a:pPr>
            <a:r>
              <a:rPr sz="950" b="0">
                <a:solidFill>
                  <a:srgbClr val="5F708C"/>
                </a:solidFill>
                <a:latin typeface="Segoe UI"/>
                <a:ea typeface="Microsoft YaHei"/>
              </a:rPr>
              <a:t>· Context compacts automatically; full history is kept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120176" y="4389120"/>
            <a:ext cx="3454298" cy="1828800"/>
          </a:xfrm>
          <a:prstGeom prst="roundRect">
            <a:avLst/>
          </a:prstGeom>
          <a:solidFill>
            <a:srgbClr val="E2E8F3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8079028" y="4334256"/>
            <a:ext cx="3454298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079028" y="4517136"/>
            <a:ext cx="64008" cy="1463040"/>
          </a:xfrm>
          <a:prstGeom prst="rect">
            <a:avLst/>
          </a:prstGeom>
          <a:solidFill>
            <a:srgbClr val="D64560"/>
          </a:solidFill>
          <a:ln w="12700">
            <a:solidFill>
              <a:srgbClr val="D645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353348" y="4480560"/>
            <a:ext cx="2942234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950" b="1">
                <a:solidFill>
                  <a:srgbClr val="D64560"/>
                </a:solidFill>
                <a:latin typeface="Segoe UI"/>
                <a:ea typeface="Microsoft YaHei"/>
              </a:rPr>
              <a:t>06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53348" y="4718304"/>
            <a:ext cx="2942234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450" b="1">
                <a:solidFill>
                  <a:srgbClr val="0F2445"/>
                </a:solidFill>
                <a:latin typeface="Segoe UI"/>
                <a:ea typeface="Microsoft YaHei"/>
              </a:rPr>
              <a:t>Safeguards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353348" y="5084064"/>
            <a:ext cx="2942234" cy="932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350"/>
              </a:spcAft>
            </a:pPr>
            <a:r>
              <a:rPr sz="950" b="0">
                <a:solidFill>
                  <a:srgbClr val="5F708C"/>
                </a:solidFill>
                <a:latin typeface="Segoe UI"/>
                <a:ea typeface="Microsoft YaHei"/>
              </a:rPr>
              <a:t>· Filesystem permission boundaries and deployment lockdown</a:t>
            </a:r>
          </a:p>
          <a:p>
            <a:pPr algn="l">
              <a:lnSpc>
                <a:spcPct val="130000"/>
              </a:lnSpc>
              <a:spcAft>
                <a:spcPts val="350"/>
              </a:spcAft>
            </a:pPr>
            <a:r>
              <a:rPr sz="950" b="0">
                <a:solidFill>
                  <a:srgbClr val="5F708C"/>
                </a:solidFill>
                <a:latin typeface="Segoe UI"/>
                <a:ea typeface="Microsoft YaHei"/>
              </a:rPr>
              <a:t>· Scheduled tasks, background tasks, offloaded outputs</a:t>
            </a:r>
          </a:p>
          <a:p>
            <a:pPr algn="l">
              <a:lnSpc>
                <a:spcPct val="130000"/>
              </a:lnSpc>
              <a:spcAft>
                <a:spcPts val="350"/>
              </a:spcAft>
            </a:pPr>
            <a:r>
              <a:rPr sz="950" b="0">
                <a:solidFill>
                  <a:srgbClr val="5F708C"/>
                </a:solidFill>
                <a:latin typeface="Segoe UI"/>
                <a:ea typeface="Microsoft YaHei"/>
              </a:rPr>
              <a:t>· Every failure is contained at the tool boundary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58368" y="365760"/>
            <a:ext cx="329184" cy="329184"/>
          </a:xfrm>
          <a:prstGeom prst="ellipse">
            <a:avLst/>
          </a:prstGeom>
          <a:solidFill>
            <a:srgbClr val="2757E8"/>
          </a:solidFill>
          <a:ln w="12700">
            <a:solidFill>
              <a:srgbClr val="2757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65760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Segoe UI"/>
                <a:ea typeface="Microsoft YaHei"/>
              </a:rPr>
              <a:t>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74904"/>
            <a:ext cx="219456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1">
                <a:solidFill>
                  <a:srgbClr val="0F2445"/>
                </a:solidFill>
                <a:latin typeface="Segoe UI"/>
                <a:ea typeface="Microsoft YaHei"/>
              </a:rPr>
              <a:t>CODING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12687" y="374904"/>
            <a:ext cx="45720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2000"/>
              </a:lnSpc>
              <a:spcAft>
                <a:spcPts val="0"/>
              </a:spcAft>
            </a:pPr>
            <a:r>
              <a:rPr sz="1000" b="0">
                <a:solidFill>
                  <a:srgbClr val="5F708C"/>
                </a:solidFill>
                <a:latin typeface="Segoe UI"/>
                <a:ea typeface="Microsoft YaHei"/>
              </a:rPr>
              <a:t>SECTION 01 · CAPABILITIES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76127" y="374904"/>
            <a:ext cx="4572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2000"/>
              </a:lnSpc>
              <a:spcAft>
                <a:spcPts val="0"/>
              </a:spcAft>
            </a:pPr>
            <a:r>
              <a:rPr sz="1000" b="1">
                <a:solidFill>
                  <a:srgbClr val="92A0B8"/>
                </a:solidFill>
                <a:latin typeface="Segoe UI"/>
                <a:ea typeface="Microsoft YaHei"/>
              </a:rPr>
              <a:t>05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6382512"/>
            <a:ext cx="10874959" cy="10972"/>
          </a:xfrm>
          <a:prstGeom prst="rect">
            <a:avLst/>
          </a:prstGeom>
          <a:solidFill>
            <a:srgbClr val="D8E0EE"/>
          </a:solidFill>
          <a:ln w="12700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914400"/>
            <a:ext cx="10874959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1">
                <a:solidFill>
                  <a:srgbClr val="2757E8"/>
                </a:solidFill>
                <a:latin typeface="Segoe UI"/>
                <a:ea typeface="Microsoft YaHei"/>
              </a:rPr>
              <a:t>CORE CODING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197864"/>
            <a:ext cx="402336" cy="41148"/>
          </a:xfrm>
          <a:prstGeom prst="rect">
            <a:avLst/>
          </a:prstGeom>
          <a:solidFill>
            <a:srgbClr val="2757E8"/>
          </a:solidFill>
          <a:ln w="12700">
            <a:solidFill>
              <a:srgbClr val="2757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1316736"/>
            <a:ext cx="1087495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2500" b="1">
                <a:solidFill>
                  <a:srgbClr val="0F2445"/>
                </a:solidFill>
                <a:latin typeface="Segoe UI"/>
                <a:ea typeface="Microsoft YaHei"/>
              </a:rPr>
              <a:t>From reading the code to verifying the change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819656"/>
            <a:ext cx="10874959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200" b="0">
                <a:solidFill>
                  <a:srgbClr val="5F708C"/>
                </a:solidFill>
                <a:latin typeface="Segoe UI"/>
                <a:ea typeface="Microsoft YaHei"/>
              </a:rPr>
              <a:t>The tools are not a pile of APIs — they form a search → understand → edit → verify chain.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9516" y="2304288"/>
            <a:ext cx="3454298" cy="1828800"/>
          </a:xfrm>
          <a:prstGeom prst="roundRect">
            <a:avLst/>
          </a:prstGeom>
          <a:solidFill>
            <a:srgbClr val="E2E8F3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58368" y="2249424"/>
            <a:ext cx="3454298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" y="2432304"/>
            <a:ext cx="64008" cy="1463040"/>
          </a:xfrm>
          <a:prstGeom prst="rect">
            <a:avLst/>
          </a:prstGeom>
          <a:solidFill>
            <a:srgbClr val="2757E8"/>
          </a:solidFill>
          <a:ln w="12700">
            <a:solidFill>
              <a:srgbClr val="2757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2395728"/>
            <a:ext cx="2942234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950" b="1">
                <a:solidFill>
                  <a:srgbClr val="2757E8"/>
                </a:solidFill>
                <a:latin typeface="Segoe UI"/>
                <a:ea typeface="Microsoft YaHei"/>
              </a:rPr>
              <a:t>Files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2633472"/>
            <a:ext cx="2942234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450" b="1">
                <a:solidFill>
                  <a:srgbClr val="0F2445"/>
                </a:solidFill>
                <a:latin typeface="Segoe UI"/>
                <a:ea typeface="Microsoft YaHei"/>
              </a:rPr>
              <a:t>Read / Write / Edit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" y="2999232"/>
            <a:ext cx="2942234" cy="932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350"/>
              </a:spcAft>
            </a:pPr>
            <a:r>
              <a:rPr sz="950" b="0">
                <a:solidFill>
                  <a:srgbClr val="5F708C"/>
                </a:solidFill>
                <a:latin typeface="Segoe UI"/>
                <a:ea typeface="Microsoft YaHei"/>
              </a:rPr>
              <a:t>· Line-range reads keep whole files out of context</a:t>
            </a:r>
          </a:p>
          <a:p>
            <a:pPr algn="l">
              <a:lnSpc>
                <a:spcPct val="130000"/>
              </a:lnSpc>
              <a:spcAft>
                <a:spcPts val="350"/>
              </a:spcAft>
            </a:pPr>
            <a:r>
              <a:rPr sz="950" b="0">
                <a:solidFill>
                  <a:srgbClr val="5F708C"/>
                </a:solidFill>
                <a:latin typeface="Segoe UI"/>
                <a:ea typeface="Microsoft YaHei"/>
              </a:rPr>
              <a:t>· Exact replacement fails loudly instead of guessing</a:t>
            </a:r>
          </a:p>
          <a:p>
            <a:pPr algn="l">
              <a:lnSpc>
                <a:spcPct val="130000"/>
              </a:lnSpc>
              <a:spcAft>
                <a:spcPts val="350"/>
              </a:spcAft>
            </a:pPr>
            <a:r>
              <a:rPr sz="950" b="0">
                <a:solidFill>
                  <a:srgbClr val="5F708C"/>
                </a:solidFill>
                <a:latin typeface="Segoe UI"/>
                <a:ea typeface="Microsoft YaHei"/>
              </a:rPr>
              <a:t>· LSP diagnostics flow back after every write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09846" y="2304288"/>
            <a:ext cx="3454298" cy="1828800"/>
          </a:xfrm>
          <a:prstGeom prst="roundRect">
            <a:avLst/>
          </a:prstGeom>
          <a:solidFill>
            <a:srgbClr val="E2E8F3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368698" y="2249424"/>
            <a:ext cx="3454298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68698" y="2432304"/>
            <a:ext cx="64008" cy="1463040"/>
          </a:xfrm>
          <a:prstGeom prst="rect">
            <a:avLst/>
          </a:prstGeom>
          <a:solidFill>
            <a:srgbClr val="12B5C4"/>
          </a:solidFill>
          <a:ln w="12700">
            <a:solidFill>
              <a:srgbClr val="12B5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43018" y="2395728"/>
            <a:ext cx="2942234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950" b="1">
                <a:solidFill>
                  <a:srgbClr val="12B5C4"/>
                </a:solidFill>
                <a:latin typeface="Segoe UI"/>
                <a:ea typeface="Microsoft YaHei"/>
              </a:rPr>
              <a:t>Search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43018" y="2633472"/>
            <a:ext cx="2942234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450" b="1">
                <a:solidFill>
                  <a:srgbClr val="0F2445"/>
                </a:solidFill>
                <a:latin typeface="Segoe UI"/>
                <a:ea typeface="Microsoft YaHei"/>
              </a:rPr>
              <a:t>Glob / Grep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43018" y="2999232"/>
            <a:ext cx="2942234" cy="932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350"/>
              </a:spcAft>
            </a:pPr>
            <a:r>
              <a:rPr sz="950" b="0">
                <a:solidFill>
                  <a:srgbClr val="5F708C"/>
                </a:solidFill>
                <a:latin typeface="Segoe UI"/>
                <a:ea typeface="Microsoft YaHei"/>
              </a:rPr>
              <a:t>· ripgrep backend: regex, file types, context lines</a:t>
            </a:r>
          </a:p>
          <a:p>
            <a:pPr algn="l">
              <a:lnSpc>
                <a:spcPct val="130000"/>
              </a:lnSpc>
              <a:spcAft>
                <a:spcPts val="350"/>
              </a:spcAft>
            </a:pPr>
            <a:r>
              <a:rPr sz="950" b="0">
                <a:solidFill>
                  <a:srgbClr val="5F708C"/>
                </a:solidFill>
                <a:latin typeface="Segoe UI"/>
                <a:ea typeface="Microsoft YaHei"/>
              </a:rPr>
              <a:t>· Runs next to the workspace, remote included</a:t>
            </a:r>
          </a:p>
          <a:p>
            <a:pPr algn="l">
              <a:lnSpc>
                <a:spcPct val="130000"/>
              </a:lnSpc>
              <a:spcAft>
                <a:spcPts val="350"/>
              </a:spcAft>
            </a:pPr>
            <a:r>
              <a:rPr sz="950" b="0">
                <a:solidFill>
                  <a:srgbClr val="5F708C"/>
                </a:solidFill>
                <a:latin typeface="Segoe UI"/>
                <a:ea typeface="Microsoft YaHei"/>
              </a:rPr>
              <a:t>· Can return names only to control context cost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20176" y="2304288"/>
            <a:ext cx="3454298" cy="1828800"/>
          </a:xfrm>
          <a:prstGeom prst="roundRect">
            <a:avLst/>
          </a:prstGeom>
          <a:solidFill>
            <a:srgbClr val="E2E8F3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079028" y="2249424"/>
            <a:ext cx="3454298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79028" y="2432304"/>
            <a:ext cx="64008" cy="1463040"/>
          </a:xfrm>
          <a:prstGeom prst="rect">
            <a:avLst/>
          </a:prstGeom>
          <a:solidFill>
            <a:srgbClr val="17A673"/>
          </a:solidFill>
          <a:ln w="12700">
            <a:solidFill>
              <a:srgbClr val="17A6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53348" y="2395728"/>
            <a:ext cx="2942234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950" b="1">
                <a:solidFill>
                  <a:srgbClr val="17A673"/>
                </a:solidFill>
                <a:latin typeface="Segoe UI"/>
                <a:ea typeface="Microsoft YaHei"/>
              </a:rPr>
              <a:t>Shell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53348" y="2633472"/>
            <a:ext cx="2942234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450" b="1">
                <a:solidFill>
                  <a:srgbClr val="0F2445"/>
                </a:solidFill>
                <a:latin typeface="Segoe UI"/>
                <a:ea typeface="Microsoft YaHei"/>
              </a:rPr>
              <a:t>Bash / PowerShell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53348" y="2999232"/>
            <a:ext cx="2942234" cy="932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350"/>
              </a:spcAft>
            </a:pPr>
            <a:r>
              <a:rPr sz="950" b="0">
                <a:solidFill>
                  <a:srgbClr val="5F708C"/>
                </a:solidFill>
                <a:latin typeface="Segoe UI"/>
                <a:ea typeface="Microsoft YaHei"/>
              </a:rPr>
              <a:t>· Cross-platform shell that keeps cwd and state</a:t>
            </a:r>
          </a:p>
          <a:p>
            <a:pPr algn="l">
              <a:lnSpc>
                <a:spcPct val="130000"/>
              </a:lnSpc>
              <a:spcAft>
                <a:spcPts val="350"/>
              </a:spcAft>
            </a:pPr>
            <a:r>
              <a:rPr sz="950" b="0">
                <a:solidFill>
                  <a:srgbClr val="5F708C"/>
                </a:solidFill>
                <a:latin typeface="Segoe UI"/>
                <a:ea typeface="Microsoft YaHei"/>
              </a:rPr>
              <a:t>· Long commands move off the blocking agent path</a:t>
            </a:r>
          </a:p>
          <a:p>
            <a:pPr algn="l">
              <a:lnSpc>
                <a:spcPct val="130000"/>
              </a:lnSpc>
              <a:spcAft>
                <a:spcPts val="350"/>
              </a:spcAft>
            </a:pPr>
            <a:r>
              <a:rPr sz="950" b="0">
                <a:solidFill>
                  <a:srgbClr val="5F708C"/>
                </a:solidFill>
                <a:latin typeface="Segoe UI"/>
                <a:ea typeface="Microsoft YaHei"/>
              </a:rPr>
              <a:t>· A failure cancels siblings in the same group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99516" y="4389120"/>
            <a:ext cx="3454298" cy="1828800"/>
          </a:xfrm>
          <a:prstGeom prst="roundRect">
            <a:avLst/>
          </a:prstGeom>
          <a:solidFill>
            <a:srgbClr val="E2E8F3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58368" y="4334256"/>
            <a:ext cx="3454298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58368" y="4517136"/>
            <a:ext cx="64008" cy="1463040"/>
          </a:xfrm>
          <a:prstGeom prst="rect">
            <a:avLst/>
          </a:prstGeom>
          <a:solidFill>
            <a:srgbClr val="7A57DE"/>
          </a:solidFill>
          <a:ln w="12700">
            <a:solidFill>
              <a:srgbClr val="7A5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32688" y="4480560"/>
            <a:ext cx="2942234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950" b="1">
                <a:solidFill>
                  <a:srgbClr val="7A57DE"/>
                </a:solidFill>
                <a:latin typeface="Segoe UI"/>
                <a:ea typeface="Microsoft YaHei"/>
              </a:rPr>
              <a:t>Code intelligence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2688" y="4718304"/>
            <a:ext cx="2942234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450" b="1">
                <a:solidFill>
                  <a:srgbClr val="0F2445"/>
                </a:solidFill>
                <a:latin typeface="Segoe UI"/>
                <a:ea typeface="Microsoft YaHei"/>
              </a:rPr>
              <a:t>LSP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2688" y="5084064"/>
            <a:ext cx="2942234" cy="932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350"/>
              </a:spcAft>
            </a:pPr>
            <a:r>
              <a:rPr sz="950" b="0">
                <a:solidFill>
                  <a:srgbClr val="5F708C"/>
                </a:solidFill>
                <a:latin typeface="Segoe UI"/>
                <a:ea typeface="Microsoft YaHei"/>
              </a:rPr>
              <a:t>· Definitions, references, implementations, symbols, hover</a:t>
            </a:r>
          </a:p>
          <a:p>
            <a:pPr algn="l">
              <a:lnSpc>
                <a:spcPct val="130000"/>
              </a:lnSpc>
              <a:spcAft>
                <a:spcPts val="350"/>
              </a:spcAft>
            </a:pPr>
            <a:r>
              <a:rPr sz="950" b="0">
                <a:solidFill>
                  <a:srgbClr val="5F708C"/>
                </a:solidFill>
                <a:latin typeface="Segoe UI"/>
                <a:ea typeface="Microsoft YaHei"/>
              </a:rPr>
              <a:t>· Servers run beside the workspace, not on the control host</a:t>
            </a:r>
          </a:p>
          <a:p>
            <a:pPr algn="l">
              <a:lnSpc>
                <a:spcPct val="130000"/>
              </a:lnSpc>
              <a:spcAft>
                <a:spcPts val="350"/>
              </a:spcAft>
            </a:pPr>
            <a:r>
              <a:rPr sz="950" b="0">
                <a:solidFill>
                  <a:srgbClr val="5F708C"/>
                </a:solidFill>
                <a:latin typeface="Segoe UI"/>
                <a:ea typeface="Microsoft YaHei"/>
              </a:rPr>
              <a:t>· Passive diagnostics attach after Write and Edit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409846" y="4389120"/>
            <a:ext cx="3454298" cy="1828800"/>
          </a:xfrm>
          <a:prstGeom prst="roundRect">
            <a:avLst/>
          </a:prstGeom>
          <a:solidFill>
            <a:srgbClr val="E2E8F3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4368698" y="4334256"/>
            <a:ext cx="3454298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368698" y="4517136"/>
            <a:ext cx="64008" cy="1463040"/>
          </a:xfrm>
          <a:prstGeom prst="rect">
            <a:avLst/>
          </a:prstGeom>
          <a:solidFill>
            <a:srgbClr val="D68A22"/>
          </a:solidFill>
          <a:ln w="12700">
            <a:solidFill>
              <a:srgbClr val="D68A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643018" y="4480560"/>
            <a:ext cx="2942234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950" b="1">
                <a:solidFill>
                  <a:srgbClr val="D68A22"/>
                </a:solidFill>
                <a:latin typeface="Segoe UI"/>
                <a:ea typeface="Microsoft YaHei"/>
              </a:rPr>
              <a:t>Parallelism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643018" y="4718304"/>
            <a:ext cx="2942234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450" b="1">
                <a:solidFill>
                  <a:srgbClr val="0F2445"/>
                </a:solidFill>
                <a:latin typeface="Segoe UI"/>
                <a:ea typeface="Microsoft YaHei"/>
              </a:rPr>
              <a:t>Subagents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43018" y="5084064"/>
            <a:ext cx="2942234" cy="932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350"/>
              </a:spcAft>
            </a:pPr>
            <a:r>
              <a:rPr sz="950" b="0">
                <a:solidFill>
                  <a:srgbClr val="5F708C"/>
                </a:solidFill>
                <a:latin typeface="Segoe UI"/>
                <a:ea typeface="Microsoft YaHei"/>
              </a:rPr>
              <a:t>· Explore: read-only parallel search, structured report</a:t>
            </a:r>
          </a:p>
          <a:p>
            <a:pPr algn="l">
              <a:lnSpc>
                <a:spcPct val="130000"/>
              </a:lnSpc>
              <a:spcAft>
                <a:spcPts val="350"/>
              </a:spcAft>
            </a:pPr>
            <a:r>
              <a:rPr sz="950" b="0">
                <a:solidFill>
                  <a:srgbClr val="5F708C"/>
                </a:solidFill>
                <a:latin typeface="Segoe UI"/>
                <a:ea typeface="Microsoft YaHei"/>
              </a:rPr>
              <a:t>· Plan: read-only architectural planning</a:t>
            </a:r>
          </a:p>
          <a:p>
            <a:pPr algn="l">
              <a:lnSpc>
                <a:spcPct val="130000"/>
              </a:lnSpc>
              <a:spcAft>
                <a:spcPts val="350"/>
              </a:spcAft>
            </a:pPr>
            <a:r>
              <a:rPr sz="950" b="0">
                <a:solidFill>
                  <a:srgbClr val="5F708C"/>
                </a:solidFill>
                <a:latin typeface="Segoe UI"/>
                <a:ea typeface="Microsoft YaHei"/>
              </a:rPr>
              <a:t>· general-purpose: open-ended read/write, shell, and web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120176" y="4389120"/>
            <a:ext cx="3454298" cy="1828800"/>
          </a:xfrm>
          <a:prstGeom prst="roundRect">
            <a:avLst/>
          </a:prstGeom>
          <a:solidFill>
            <a:srgbClr val="E2E8F3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8079028" y="4334256"/>
            <a:ext cx="3454298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079028" y="4517136"/>
            <a:ext cx="64008" cy="1463040"/>
          </a:xfrm>
          <a:prstGeom prst="rect">
            <a:avLst/>
          </a:prstGeom>
          <a:solidFill>
            <a:srgbClr val="D64560"/>
          </a:solidFill>
          <a:ln w="12700">
            <a:solidFill>
              <a:srgbClr val="D645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353348" y="4480560"/>
            <a:ext cx="2942234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950" b="1">
                <a:solidFill>
                  <a:srgbClr val="D64560"/>
                </a:solidFill>
                <a:latin typeface="Segoe UI"/>
                <a:ea typeface="Microsoft YaHei"/>
              </a:rPr>
              <a:t>Visibility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53348" y="4718304"/>
            <a:ext cx="2942234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450" b="1">
                <a:solidFill>
                  <a:srgbClr val="0F2445"/>
                </a:solidFill>
                <a:latin typeface="Segoe UI"/>
                <a:ea typeface="Microsoft YaHei"/>
              </a:rPr>
              <a:t>Plans and questions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353348" y="5084064"/>
            <a:ext cx="2942234" cy="932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350"/>
              </a:spcAft>
            </a:pPr>
            <a:r>
              <a:rPr sz="950" b="0">
                <a:solidFill>
                  <a:srgbClr val="5F708C"/>
                </a:solidFill>
                <a:latin typeface="Segoe UI"/>
                <a:ea typeface="Microsoft YaHei"/>
              </a:rPr>
              <a:t>· TodoWrite makes multi-step work explicit</a:t>
            </a:r>
          </a:p>
          <a:p>
            <a:pPr algn="l">
              <a:lnSpc>
                <a:spcPct val="130000"/>
              </a:lnSpc>
              <a:spcAft>
                <a:spcPts val="350"/>
              </a:spcAft>
            </a:pPr>
            <a:r>
              <a:rPr sz="950" b="0">
                <a:solidFill>
                  <a:srgbClr val="5F708C"/>
                </a:solidFill>
                <a:latin typeface="Segoe UI"/>
                <a:ea typeface="Microsoft YaHei"/>
              </a:rPr>
              <a:t>· AskUserQuestion interrupts only for real decisions</a:t>
            </a:r>
          </a:p>
          <a:p>
            <a:pPr algn="l">
              <a:lnSpc>
                <a:spcPct val="130000"/>
              </a:lnSpc>
              <a:spcAft>
                <a:spcPts val="350"/>
              </a:spcAft>
            </a:pPr>
            <a:r>
              <a:rPr sz="950" b="0">
                <a:solidFill>
                  <a:srgbClr val="5F708C"/>
                </a:solidFill>
                <a:latin typeface="Segoe UI"/>
                <a:ea typeface="Microsoft YaHei"/>
              </a:rPr>
              <a:t>· Plan mode designs first, implements after approval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58368" y="365760"/>
            <a:ext cx="329184" cy="329184"/>
          </a:xfrm>
          <a:prstGeom prst="ellipse">
            <a:avLst/>
          </a:prstGeom>
          <a:solidFill>
            <a:srgbClr val="2757E8"/>
          </a:solidFill>
          <a:ln w="12700">
            <a:solidFill>
              <a:srgbClr val="2757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65760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Segoe UI"/>
                <a:ea typeface="Microsoft YaHei"/>
              </a:rPr>
              <a:t>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74904"/>
            <a:ext cx="219456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1">
                <a:solidFill>
                  <a:srgbClr val="0F2445"/>
                </a:solidFill>
                <a:latin typeface="Segoe UI"/>
                <a:ea typeface="Microsoft YaHei"/>
              </a:rPr>
              <a:t>CODING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12687" y="374904"/>
            <a:ext cx="45720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2000"/>
              </a:lnSpc>
              <a:spcAft>
                <a:spcPts val="0"/>
              </a:spcAft>
            </a:pPr>
            <a:r>
              <a:rPr sz="1000" b="0">
                <a:solidFill>
                  <a:srgbClr val="5F708C"/>
                </a:solidFill>
                <a:latin typeface="Segoe UI"/>
                <a:ea typeface="Microsoft YaHei"/>
              </a:rPr>
              <a:t>SECTION 01 · CAPABILITIES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76127" y="374904"/>
            <a:ext cx="4572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2000"/>
              </a:lnSpc>
              <a:spcAft>
                <a:spcPts val="0"/>
              </a:spcAft>
            </a:pPr>
            <a:r>
              <a:rPr sz="1000" b="1">
                <a:solidFill>
                  <a:srgbClr val="92A0B8"/>
                </a:solidFill>
                <a:latin typeface="Segoe UI"/>
                <a:ea typeface="Microsoft YaHei"/>
              </a:rPr>
              <a:t>06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6382512"/>
            <a:ext cx="10874959" cy="10972"/>
          </a:xfrm>
          <a:prstGeom prst="rect">
            <a:avLst/>
          </a:prstGeom>
          <a:solidFill>
            <a:srgbClr val="D8E0EE"/>
          </a:solidFill>
          <a:ln w="12700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914400"/>
            <a:ext cx="10874959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1">
                <a:solidFill>
                  <a:srgbClr val="12B5C4"/>
                </a:solidFill>
                <a:latin typeface="Segoe UI"/>
                <a:ea typeface="Microsoft YaHei"/>
              </a:rPr>
              <a:t>BROWSER AUTOMATION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197864"/>
            <a:ext cx="402336" cy="41148"/>
          </a:xfrm>
          <a:prstGeom prst="rect">
            <a:avLst/>
          </a:prstGeom>
          <a:solidFill>
            <a:srgbClr val="12B5C4"/>
          </a:solidFill>
          <a:ln w="12700">
            <a:solidFill>
              <a:srgbClr val="12B5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1316736"/>
            <a:ext cx="1087495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2500" b="1">
                <a:solidFill>
                  <a:srgbClr val="0F2445"/>
                </a:solidFill>
                <a:latin typeface="Segoe UI"/>
                <a:ea typeface="Microsoft YaHei"/>
              </a:rPr>
              <a:t>Snapshot, pick, act, then look again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819656"/>
            <a:ext cx="10874959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200" b="0">
                <a:solidFill>
                  <a:srgbClr val="5F708C"/>
                </a:solidFill>
                <a:latin typeface="Segoe UI"/>
                <a:ea typeface="Microsoft YaHei"/>
              </a:rPr>
              <a:t>The agent works from a ref-tagged element snapshot, not from pixel coordinates.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4944" y="2423160"/>
            <a:ext cx="2362123" cy="896112"/>
          </a:xfrm>
          <a:prstGeom prst="roundRect">
            <a:avLst/>
          </a:prstGeom>
          <a:solidFill>
            <a:srgbClr val="E2E8F3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58368" y="2377440"/>
            <a:ext cx="2362123" cy="89611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757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8096" y="2505456"/>
            <a:ext cx="2142667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1200" b="1">
                <a:solidFill>
                  <a:srgbClr val="0F2445"/>
                </a:solidFill>
                <a:latin typeface="Segoe UI"/>
                <a:ea typeface="Microsoft YaHei"/>
              </a:rPr>
              <a:t>① navigate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" y="2779776"/>
            <a:ext cx="2106091" cy="3840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900" b="0">
                <a:solidFill>
                  <a:srgbClr val="5F708C"/>
                </a:solidFill>
                <a:latin typeface="Segoe UI"/>
                <a:ea typeface="Microsoft YaHei"/>
              </a:rPr>
              <a:t>Opens the page, returns a first snapshot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532555" y="2423160"/>
            <a:ext cx="2362123" cy="896112"/>
          </a:xfrm>
          <a:prstGeom prst="roundRect">
            <a:avLst/>
          </a:prstGeom>
          <a:solidFill>
            <a:srgbClr val="E2E8F3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495979" y="2377440"/>
            <a:ext cx="2362123" cy="89611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2B5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05707" y="2505456"/>
            <a:ext cx="2142667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1200" b="1">
                <a:solidFill>
                  <a:srgbClr val="0F2445"/>
                </a:solidFill>
                <a:latin typeface="Segoe UI"/>
                <a:ea typeface="Microsoft YaHei"/>
              </a:rPr>
              <a:t>② snapshot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23995" y="2779776"/>
            <a:ext cx="2106091" cy="3840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900" b="0">
                <a:solidFill>
                  <a:srgbClr val="5F708C"/>
                </a:solidFill>
                <a:latin typeface="Segoe UI"/>
                <a:ea typeface="Microsoft YaHei"/>
              </a:rPr>
              <a:t>A ref-tagged element tree, not pixels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075355" y="2825496"/>
            <a:ext cx="347472" cy="0"/>
          </a:xfrm>
          <a:prstGeom prst="line">
            <a:avLst/>
          </a:prstGeom>
          <a:ln w="19050">
            <a:solidFill>
              <a:srgbClr val="92A0B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370167" y="2423160"/>
            <a:ext cx="2362123" cy="896112"/>
          </a:xfrm>
          <a:prstGeom prst="roundRect">
            <a:avLst/>
          </a:prstGeom>
          <a:solidFill>
            <a:srgbClr val="E2E8F3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333591" y="2377440"/>
            <a:ext cx="2362123" cy="89611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7A5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3319" y="2505456"/>
            <a:ext cx="2142667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1200" b="1">
                <a:solidFill>
                  <a:srgbClr val="0F2445"/>
                </a:solidFill>
                <a:latin typeface="Segoe UI"/>
                <a:ea typeface="Microsoft YaHei"/>
              </a:rPr>
              <a:t>③ act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61607" y="2779776"/>
            <a:ext cx="2106091" cy="3840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900" b="0">
                <a:solidFill>
                  <a:srgbClr val="5F708C"/>
                </a:solidFill>
                <a:latin typeface="Segoe UI"/>
                <a:ea typeface="Microsoft YaHei"/>
              </a:rPr>
              <a:t>fill_form and click elements by ref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912967" y="2825496"/>
            <a:ext cx="347472" cy="0"/>
          </a:xfrm>
          <a:prstGeom prst="line">
            <a:avLst/>
          </a:prstGeom>
          <a:ln w="19050">
            <a:solidFill>
              <a:srgbClr val="92A0B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9207779" y="2423160"/>
            <a:ext cx="2362123" cy="896112"/>
          </a:xfrm>
          <a:prstGeom prst="roundRect">
            <a:avLst/>
          </a:prstGeom>
          <a:solidFill>
            <a:srgbClr val="E2E8F3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171203" y="2377440"/>
            <a:ext cx="2362123" cy="89611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7A6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80931" y="2505456"/>
            <a:ext cx="2142667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1200" b="1">
                <a:solidFill>
                  <a:srgbClr val="0F2445"/>
                </a:solidFill>
                <a:latin typeface="Segoe UI"/>
                <a:ea typeface="Microsoft YaHei"/>
              </a:rPr>
              <a:t>④ verify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99219" y="2779776"/>
            <a:ext cx="2106091" cy="3840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900" b="0">
                <a:solidFill>
                  <a:srgbClr val="5F708C"/>
                </a:solidFill>
                <a:latin typeface="Segoe UI"/>
                <a:ea typeface="Microsoft YaHei"/>
              </a:rPr>
              <a:t>Judge from a fresh snapshot and network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750579" y="2825496"/>
            <a:ext cx="347472" cy="0"/>
          </a:xfrm>
          <a:prstGeom prst="line">
            <a:avLst/>
          </a:prstGeom>
          <a:ln w="19050">
            <a:solidFill>
              <a:srgbClr val="92A0B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0352265" y="3273552"/>
            <a:ext cx="0" cy="384048"/>
          </a:xfrm>
          <a:prstGeom prst="line">
            <a:avLst/>
          </a:prstGeom>
          <a:ln w="19050">
            <a:solidFill>
              <a:srgbClr val="12B5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H="1">
            <a:off x="4677041" y="3657600"/>
            <a:ext cx="5675224" cy="0"/>
          </a:xfrm>
          <a:prstGeom prst="line">
            <a:avLst/>
          </a:prstGeom>
          <a:ln w="19050">
            <a:solidFill>
              <a:srgbClr val="12B5C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4677041" y="3273552"/>
            <a:ext cx="0" cy="384048"/>
          </a:xfrm>
          <a:prstGeom prst="line">
            <a:avLst/>
          </a:prstGeom>
          <a:ln w="19050">
            <a:solidFill>
              <a:srgbClr val="12B5C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6280213" y="3538728"/>
            <a:ext cx="2468880" cy="237744"/>
          </a:xfrm>
          <a:prstGeom prst="rect">
            <a:avLst/>
          </a:prstGeom>
          <a:solidFill>
            <a:srgbClr val="F6F8FC"/>
          </a:solidFill>
          <a:ln w="12700">
            <a:solidFill>
              <a:srgbClr val="F6F8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80213" y="3538728"/>
            <a:ext cx="246888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950" b="1">
                <a:solidFill>
                  <a:srgbClr val="12B5C4"/>
                </a:solidFill>
                <a:latin typeface="Segoe UI"/>
                <a:ea typeface="Microsoft YaHei"/>
              </a:rPr>
              <a:t>Refs go stale → snapshot again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99516" y="3986783"/>
            <a:ext cx="3442106" cy="2231136"/>
          </a:xfrm>
          <a:prstGeom prst="roundRect">
            <a:avLst/>
          </a:prstGeom>
          <a:solidFill>
            <a:srgbClr val="E2E8F3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58368" y="3931920"/>
            <a:ext cx="3442106" cy="22311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" y="4114800"/>
            <a:ext cx="293004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250" b="1">
                <a:solidFill>
                  <a:srgbClr val="0F2445"/>
                </a:solidFill>
                <a:latin typeface="Segoe UI"/>
                <a:ea typeface="Microsoft YaHei"/>
              </a:rPr>
              <a:t>Two modes, one set of tools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14400" y="4553712"/>
            <a:ext cx="54864" cy="640080"/>
          </a:xfrm>
          <a:prstGeom prst="rect">
            <a:avLst/>
          </a:prstGeom>
          <a:solidFill>
            <a:srgbClr val="12B5C4"/>
          </a:solidFill>
          <a:ln w="12700">
            <a:solidFill>
              <a:srgbClr val="12B5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97280" y="4517136"/>
            <a:ext cx="2655722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00" b="1">
                <a:solidFill>
                  <a:srgbClr val="0F2445"/>
                </a:solidFill>
                <a:latin typeface="Segoe UI"/>
                <a:ea typeface="Microsoft YaHei"/>
              </a:rPr>
              <a:t>Isolated mode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97280" y="4773168"/>
            <a:ext cx="265572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919" b="0">
                <a:solidFill>
                  <a:srgbClr val="5F708C"/>
                </a:solidFill>
                <a:latin typeface="Segoe UI"/>
                <a:ea typeface="Microsoft YaHei"/>
              </a:rPr>
              <a:t>A Chrome profile the agent owns. Zero config, right for local services and public sites.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14400" y="5376672"/>
            <a:ext cx="54864" cy="640080"/>
          </a:xfrm>
          <a:prstGeom prst="rect">
            <a:avLst/>
          </a:prstGeom>
          <a:solidFill>
            <a:srgbClr val="7A57DE"/>
          </a:solidFill>
          <a:ln w="12700">
            <a:solidFill>
              <a:srgbClr val="7A5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97280" y="5340096"/>
            <a:ext cx="2655722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00" b="1">
                <a:solidFill>
                  <a:srgbClr val="0F2445"/>
                </a:solidFill>
                <a:latin typeface="Segoe UI"/>
                <a:ea typeface="Microsoft YaHei"/>
              </a:rPr>
              <a:t>Extension mode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97280" y="5596128"/>
            <a:ext cx="265572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919" b="0">
                <a:solidFill>
                  <a:srgbClr val="5F708C"/>
                </a:solidFill>
                <a:latin typeface="Segoe UI"/>
                <a:ea typeface="Microsoft YaHei"/>
              </a:rPr>
              <a:t>Takes over your own Chrome through an extension, with existing cookies and signed-in sessions.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415942" y="3986783"/>
            <a:ext cx="3442106" cy="2231136"/>
          </a:xfrm>
          <a:prstGeom prst="roundRect">
            <a:avLst/>
          </a:prstGeom>
          <a:solidFill>
            <a:srgbClr val="E2E8F3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4374794" y="3931920"/>
            <a:ext cx="3442106" cy="22311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630826" y="4114800"/>
            <a:ext cx="293004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250" b="1">
                <a:solidFill>
                  <a:srgbClr val="0F2445"/>
                </a:solidFill>
                <a:latin typeface="Segoe UI"/>
                <a:ea typeface="Microsoft YaHei"/>
              </a:rPr>
              <a:t>Three possible outcomes</a:t>
            </a:r>
          </a:p>
        </p:txBody>
      </p:sp>
      <p:sp>
        <p:nvSpPr>
          <p:cNvPr id="48" name="Oval 47"/>
          <p:cNvSpPr/>
          <p:nvPr/>
        </p:nvSpPr>
        <p:spPr>
          <a:xfrm>
            <a:off x="4630826" y="4535423"/>
            <a:ext cx="219456" cy="219456"/>
          </a:xfrm>
          <a:prstGeom prst="ellipse">
            <a:avLst/>
          </a:prstGeom>
          <a:solidFill>
            <a:srgbClr val="17A673"/>
          </a:solidFill>
          <a:ln w="12700">
            <a:solidFill>
              <a:srgbClr val="17A6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630826" y="4535423"/>
            <a:ext cx="219456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Segoe UI"/>
                <a:ea typeface="Microsoft YaHei"/>
              </a:rPr>
              <a:t>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941722" y="4517136"/>
            <a:ext cx="258257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00" b="1">
                <a:solidFill>
                  <a:srgbClr val="17A673"/>
                </a:solidFill>
                <a:latin typeface="Segoe UI"/>
                <a:ea typeface="Microsoft YaHei"/>
              </a:rPr>
              <a:t>Success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941722" y="4736592"/>
            <a:ext cx="258257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880" b="0">
                <a:solidFill>
                  <a:srgbClr val="5F708C"/>
                </a:solidFill>
                <a:latin typeface="Segoe UI"/>
                <a:ea typeface="Microsoft YaHei"/>
              </a:rPr>
              <a:t>The new snapshot contains heading "Welcome back"</a:t>
            </a:r>
          </a:p>
        </p:txBody>
      </p:sp>
      <p:sp>
        <p:nvSpPr>
          <p:cNvPr id="52" name="Oval 51"/>
          <p:cNvSpPr/>
          <p:nvPr/>
        </p:nvSpPr>
        <p:spPr>
          <a:xfrm>
            <a:off x="4630826" y="5084063"/>
            <a:ext cx="219456" cy="219456"/>
          </a:xfrm>
          <a:prstGeom prst="ellipse">
            <a:avLst/>
          </a:prstGeom>
          <a:solidFill>
            <a:srgbClr val="D68A22"/>
          </a:solidFill>
          <a:ln w="12700">
            <a:solidFill>
              <a:srgbClr val="D68A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630826" y="5084063"/>
            <a:ext cx="219456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Segoe UI"/>
                <a:ea typeface="Microsoft YaHei"/>
              </a:rPr>
              <a:t>2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941722" y="5065775"/>
            <a:ext cx="258257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00" b="1">
                <a:solidFill>
                  <a:srgbClr val="D68A22"/>
                </a:solidFill>
                <a:latin typeface="Segoe UI"/>
                <a:ea typeface="Microsoft YaHei"/>
              </a:rPr>
              <a:t>Visible failure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941722" y="5285231"/>
            <a:ext cx="258257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880" b="0">
                <a:solidFill>
                  <a:srgbClr val="5F708C"/>
                </a:solidFill>
                <a:latin typeface="Segoe UI"/>
                <a:ea typeface="Microsoft YaHei"/>
              </a:rPr>
              <a:t>The snapshot shows an error message</a:t>
            </a:r>
          </a:p>
        </p:txBody>
      </p:sp>
      <p:sp>
        <p:nvSpPr>
          <p:cNvPr id="56" name="Oval 55"/>
          <p:cNvSpPr/>
          <p:nvPr/>
        </p:nvSpPr>
        <p:spPr>
          <a:xfrm>
            <a:off x="4630826" y="5632703"/>
            <a:ext cx="219456" cy="219456"/>
          </a:xfrm>
          <a:prstGeom prst="ellipse">
            <a:avLst/>
          </a:prstGeom>
          <a:solidFill>
            <a:srgbClr val="D64560"/>
          </a:solidFill>
          <a:ln w="12700">
            <a:solidFill>
              <a:srgbClr val="D645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630826" y="5632703"/>
            <a:ext cx="219456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Segoe UI"/>
                <a:ea typeface="Microsoft YaHei"/>
              </a:rPr>
              <a:t>3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941722" y="5614416"/>
            <a:ext cx="258257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00" b="1">
                <a:solidFill>
                  <a:srgbClr val="D64560"/>
                </a:solidFill>
                <a:latin typeface="Segoe UI"/>
                <a:ea typeface="Microsoft YaHei"/>
              </a:rPr>
              <a:t>Hidden failure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941722" y="5833872"/>
            <a:ext cx="258257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880" b="0">
                <a:solidFill>
                  <a:srgbClr val="5F708C"/>
                </a:solidFill>
                <a:latin typeface="Segoe UI"/>
                <a:ea typeface="Microsoft YaHei"/>
              </a:rPr>
              <a:t>The page looks fine, but browser_network shows POST /api/login failed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8091220" y="3931920"/>
            <a:ext cx="3442106" cy="1014984"/>
          </a:xfrm>
          <a:prstGeom prst="roundRect">
            <a:avLst/>
          </a:prstGeom>
          <a:solidFill>
            <a:srgbClr val="ECF1FA"/>
          </a:solidFill>
          <a:ln w="12700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8091220" y="4059935"/>
            <a:ext cx="54864" cy="758952"/>
          </a:xfrm>
          <a:prstGeom prst="rect">
            <a:avLst/>
          </a:prstGeom>
          <a:solidFill>
            <a:srgbClr val="17A673"/>
          </a:solidFill>
          <a:ln w="12700">
            <a:solidFill>
              <a:srgbClr val="17A6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328964" y="3931920"/>
            <a:ext cx="2984906" cy="10149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50" b="0">
                <a:solidFill>
                  <a:srgbClr val="0F2445"/>
                </a:solidFill>
                <a:latin typeface="Segoe UI"/>
                <a:ea typeface="Microsoft YaHei"/>
              </a:rPr>
              <a:t>browser_lock hands control back and forth explicitly: give the page to the user for a login or a captcha, then take it back and keep the same session going.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8091220" y="5148072"/>
            <a:ext cx="3442106" cy="1014984"/>
          </a:xfrm>
          <a:prstGeom prst="roundRect">
            <a:avLst/>
          </a:prstGeom>
          <a:solidFill>
            <a:srgbClr val="ECF1FA"/>
          </a:solidFill>
          <a:ln w="12700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8091220" y="5276088"/>
            <a:ext cx="54864" cy="758952"/>
          </a:xfrm>
          <a:prstGeom prst="rect">
            <a:avLst/>
          </a:prstGeom>
          <a:solidFill>
            <a:srgbClr val="D68A22"/>
          </a:solidFill>
          <a:ln w="12700">
            <a:solidFill>
              <a:srgbClr val="D68A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328964" y="5148072"/>
            <a:ext cx="2984906" cy="10149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50" b="0">
                <a:solidFill>
                  <a:srgbClr val="0F2445"/>
                </a:solidFill>
                <a:latin typeface="Segoe UI"/>
                <a:ea typeface="Microsoft YaHei"/>
              </a:rPr>
              <a:t>Snapshots give actionable elements; screenshots only give pixels. Oversized snapshots are stored as files behind a bounded preview, and raw browser_cdp is restricted.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58368" y="365760"/>
            <a:ext cx="329184" cy="329184"/>
          </a:xfrm>
          <a:prstGeom prst="ellipse">
            <a:avLst/>
          </a:prstGeom>
          <a:solidFill>
            <a:srgbClr val="2757E8"/>
          </a:solidFill>
          <a:ln w="12700">
            <a:solidFill>
              <a:srgbClr val="2757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65760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Segoe UI"/>
                <a:ea typeface="Microsoft YaHei"/>
              </a:rPr>
              <a:t>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74904"/>
            <a:ext cx="219456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1">
                <a:solidFill>
                  <a:srgbClr val="0F2445"/>
                </a:solidFill>
                <a:latin typeface="Segoe UI"/>
                <a:ea typeface="Microsoft YaHei"/>
              </a:rPr>
              <a:t>CODING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12687" y="374904"/>
            <a:ext cx="45720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2000"/>
              </a:lnSpc>
              <a:spcAft>
                <a:spcPts val="0"/>
              </a:spcAft>
            </a:pPr>
            <a:r>
              <a:rPr sz="1000" b="0">
                <a:solidFill>
                  <a:srgbClr val="5F708C"/>
                </a:solidFill>
                <a:latin typeface="Segoe UI"/>
                <a:ea typeface="Microsoft YaHei"/>
              </a:rPr>
              <a:t>SECTION 01 · CAPABILITIES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76127" y="374904"/>
            <a:ext cx="4572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2000"/>
              </a:lnSpc>
              <a:spcAft>
                <a:spcPts val="0"/>
              </a:spcAft>
            </a:pPr>
            <a:r>
              <a:rPr sz="1000" b="1">
                <a:solidFill>
                  <a:srgbClr val="92A0B8"/>
                </a:solidFill>
                <a:latin typeface="Segoe UI"/>
                <a:ea typeface="Microsoft YaHei"/>
              </a:rPr>
              <a:t>07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6382512"/>
            <a:ext cx="10874959" cy="10972"/>
          </a:xfrm>
          <a:prstGeom prst="rect">
            <a:avLst/>
          </a:prstGeom>
          <a:solidFill>
            <a:srgbClr val="D8E0EE"/>
          </a:solidFill>
          <a:ln w="12700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914400"/>
            <a:ext cx="10874959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1">
                <a:solidFill>
                  <a:srgbClr val="7A57DE"/>
                </a:solidFill>
                <a:latin typeface="Segoe UI"/>
                <a:ea typeface="Microsoft YaHei"/>
              </a:rPr>
              <a:t>EXTENSIONS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197864"/>
            <a:ext cx="402336" cy="41148"/>
          </a:xfrm>
          <a:prstGeom prst="rect">
            <a:avLst/>
          </a:prstGeom>
          <a:solidFill>
            <a:srgbClr val="7A57DE"/>
          </a:solidFill>
          <a:ln w="12700">
            <a:solidFill>
              <a:srgbClr val="7A5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1316736"/>
            <a:ext cx="1087495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2500" b="1">
                <a:solidFill>
                  <a:srgbClr val="0F2445"/>
                </a:solidFill>
                <a:latin typeface="Segoe UI"/>
                <a:ea typeface="Microsoft YaHei"/>
              </a:rPr>
              <a:t>Five ways to extend, none of them touch the core loop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819656"/>
            <a:ext cx="10874959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200" b="0">
                <a:solidFill>
                  <a:srgbClr val="5F708C"/>
                </a:solidFill>
                <a:latin typeface="Segoe UI"/>
                <a:ea typeface="Microsoft YaHei"/>
              </a:rPr>
              <a:t>Most extensions are rebuilt for every user turn, so edits take effect immediately.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9516" y="2304288"/>
            <a:ext cx="3454298" cy="1975104"/>
          </a:xfrm>
          <a:prstGeom prst="roundRect">
            <a:avLst/>
          </a:prstGeom>
          <a:solidFill>
            <a:srgbClr val="E2E8F3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58368" y="2249424"/>
            <a:ext cx="3454298" cy="19751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" y="2432304"/>
            <a:ext cx="64008" cy="1609344"/>
          </a:xfrm>
          <a:prstGeom prst="rect">
            <a:avLst/>
          </a:prstGeom>
          <a:solidFill>
            <a:srgbClr val="7A57DE"/>
          </a:solidFill>
          <a:ln w="12700">
            <a:solidFill>
              <a:srgbClr val="7A5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2395728"/>
            <a:ext cx="2942234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950" b="1">
                <a:solidFill>
                  <a:srgbClr val="7A57DE"/>
                </a:solidFill>
                <a:latin typeface="Segoe UI"/>
                <a:ea typeface="Microsoft YaHei"/>
              </a:rPr>
              <a:t>Extra context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2633472"/>
            <a:ext cx="2942234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450" b="1">
                <a:solidFill>
                  <a:srgbClr val="0F2445"/>
                </a:solidFill>
                <a:latin typeface="Segoe UI"/>
                <a:ea typeface="Microsoft YaHei"/>
              </a:rPr>
              <a:t>Subagents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" y="2999232"/>
            <a:ext cx="2942234" cy="1078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350"/>
              </a:spcAft>
            </a:pPr>
            <a:r>
              <a:rPr sz="950" b="0">
                <a:solidFill>
                  <a:srgbClr val="5F708C"/>
                </a:solidFill>
                <a:latin typeface="Segoe UI"/>
                <a:ea typeface="Microsoft YaHei"/>
              </a:rPr>
              <a:t>· Their own prompt, model tier, and tool set</a:t>
            </a:r>
          </a:p>
          <a:p>
            <a:pPr algn="l">
              <a:lnSpc>
                <a:spcPct val="130000"/>
              </a:lnSpc>
              <a:spcAft>
                <a:spcPts val="350"/>
              </a:spcAft>
            </a:pPr>
            <a:r>
              <a:rPr sz="950" b="0">
                <a:solidFill>
                  <a:srgbClr val="5F708C"/>
                </a:solidFill>
                <a:latin typeface="Segoe UI"/>
                <a:ea typeface="Microsoft YaHei"/>
              </a:rPr>
              <a:t>· No parent transcript, so the dispatch prompt must be self-contained</a:t>
            </a:r>
          </a:p>
          <a:p>
            <a:pPr algn="l">
              <a:lnSpc>
                <a:spcPct val="130000"/>
              </a:lnSpc>
              <a:spcAft>
                <a:spcPts val="350"/>
              </a:spcAft>
            </a:pPr>
            <a:r>
              <a:rPr sz="950" b="0">
                <a:solidFill>
                  <a:srgbClr val="5F708C"/>
                </a:solidFill>
                <a:latin typeface="Segoe UI"/>
                <a:ea typeface="Microsoft YaHei"/>
              </a:rPr>
              <a:t>· Results project back into that one parent tool call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09846" y="2304288"/>
            <a:ext cx="3454298" cy="1975104"/>
          </a:xfrm>
          <a:prstGeom prst="roundRect">
            <a:avLst/>
          </a:prstGeom>
          <a:solidFill>
            <a:srgbClr val="E2E8F3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368698" y="2249424"/>
            <a:ext cx="3454298" cy="19751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68698" y="2432304"/>
            <a:ext cx="64008" cy="1609344"/>
          </a:xfrm>
          <a:prstGeom prst="rect">
            <a:avLst/>
          </a:prstGeom>
          <a:solidFill>
            <a:srgbClr val="2757E8"/>
          </a:solidFill>
          <a:ln w="12700">
            <a:solidFill>
              <a:srgbClr val="2757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43018" y="2395728"/>
            <a:ext cx="2942234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950" b="1">
                <a:solidFill>
                  <a:srgbClr val="2757E8"/>
                </a:solidFill>
                <a:latin typeface="Segoe UI"/>
                <a:ea typeface="Microsoft YaHei"/>
              </a:rPr>
              <a:t>Reusable instructions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43018" y="2633472"/>
            <a:ext cx="2942234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450" b="1">
                <a:solidFill>
                  <a:srgbClr val="0F2445"/>
                </a:solidFill>
                <a:latin typeface="Segoe UI"/>
                <a:ea typeface="Microsoft YaHei"/>
              </a:rPr>
              <a:t>Skills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43018" y="2999232"/>
            <a:ext cx="2942234" cy="1078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350"/>
              </a:spcAft>
            </a:pPr>
            <a:r>
              <a:rPr sz="950" b="0">
                <a:solidFill>
                  <a:srgbClr val="5F708C"/>
                </a:solidFill>
                <a:latin typeface="Segoe UI"/>
                <a:ea typeface="Microsoft YaHei"/>
              </a:rPr>
              <a:t>· Defined in Markdown; SKILL.md is read lazily</a:t>
            </a:r>
          </a:p>
          <a:p>
            <a:pPr algn="l">
              <a:lnSpc>
                <a:spcPct val="130000"/>
              </a:lnSpc>
              <a:spcAft>
                <a:spcPts val="350"/>
              </a:spcAft>
            </a:pPr>
            <a:r>
              <a:rPr sz="950" b="0">
                <a:solidFill>
                  <a:srgbClr val="5F708C"/>
                </a:solidFill>
                <a:latin typeface="Segoe UI"/>
                <a:ea typeface="Microsoft YaHei"/>
              </a:rPr>
              <a:t>· Expand inline into the chat, or fork into a separate run</a:t>
            </a:r>
          </a:p>
          <a:p>
            <a:pPr algn="l">
              <a:lnSpc>
                <a:spcPct val="130000"/>
              </a:lnSpc>
              <a:spcAft>
                <a:spcPts val="350"/>
              </a:spcAft>
            </a:pPr>
            <a:r>
              <a:rPr sz="950" b="0">
                <a:solidFill>
                  <a:srgbClr val="5F708C"/>
                </a:solidFill>
                <a:latin typeface="Segoe UI"/>
                <a:ea typeface="Microsoft YaHei"/>
              </a:rPr>
              <a:t>· Raw arguments are appended so the request can't be dropped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20176" y="2304288"/>
            <a:ext cx="3454298" cy="1975104"/>
          </a:xfrm>
          <a:prstGeom prst="roundRect">
            <a:avLst/>
          </a:prstGeom>
          <a:solidFill>
            <a:srgbClr val="E2E8F3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079028" y="2249424"/>
            <a:ext cx="3454298" cy="19751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79028" y="2432304"/>
            <a:ext cx="64008" cy="1609344"/>
          </a:xfrm>
          <a:prstGeom prst="rect">
            <a:avLst/>
          </a:prstGeom>
          <a:solidFill>
            <a:srgbClr val="12B5C4"/>
          </a:solidFill>
          <a:ln w="12700">
            <a:solidFill>
              <a:srgbClr val="12B5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53348" y="2395728"/>
            <a:ext cx="2942234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950" b="1">
                <a:solidFill>
                  <a:srgbClr val="12B5C4"/>
                </a:solidFill>
                <a:latin typeface="Segoe UI"/>
                <a:ea typeface="Microsoft YaHei"/>
              </a:rPr>
              <a:t>One entry point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53348" y="2633472"/>
            <a:ext cx="2942234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450" b="1">
                <a:solidFill>
                  <a:srgbClr val="0F2445"/>
                </a:solidFill>
                <a:latin typeface="Segoe UI"/>
                <a:ea typeface="Microsoft YaHei"/>
              </a:rPr>
              <a:t>Slash commands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53348" y="2999232"/>
            <a:ext cx="2942234" cy="1078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350"/>
              </a:spcAft>
            </a:pPr>
            <a:r>
              <a:rPr sz="950" b="0">
                <a:solidFill>
                  <a:srgbClr val="5F708C"/>
                </a:solidFill>
                <a:latin typeface="Segoe UI"/>
                <a:ea typeface="Microsoft YaHei"/>
              </a:rPr>
              <a:t>· Built-ins, Markdown templates, and skills share one registry</a:t>
            </a:r>
          </a:p>
          <a:p>
            <a:pPr algn="l">
              <a:lnSpc>
                <a:spcPct val="130000"/>
              </a:lnSpc>
              <a:spcAft>
                <a:spcPts val="350"/>
              </a:spcAft>
            </a:pPr>
            <a:r>
              <a:rPr sz="950" b="0">
                <a:solidFill>
                  <a:srgbClr val="5F708C"/>
                </a:solidFill>
                <a:latin typeface="Segoe UI"/>
                <a:ea typeface="Microsoft YaHei"/>
              </a:rPr>
              <a:t>· Supports $ARGUMENTS plus positional and named arguments</a:t>
            </a:r>
          </a:p>
          <a:p>
            <a:pPr algn="l">
              <a:lnSpc>
                <a:spcPct val="130000"/>
              </a:lnSpc>
              <a:spcAft>
                <a:spcPts val="350"/>
              </a:spcAft>
            </a:pPr>
            <a:r>
              <a:rPr sz="950" b="0">
                <a:solidFill>
                  <a:srgbClr val="5F708C"/>
                </a:solidFill>
                <a:latin typeface="Segoe UI"/>
                <a:ea typeface="Microsoft YaHei"/>
              </a:rPr>
              <a:t>· ! runs shell and @ pulls in files during expansion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99516" y="4535424"/>
            <a:ext cx="5309463" cy="1225296"/>
          </a:xfrm>
          <a:prstGeom prst="roundRect">
            <a:avLst/>
          </a:prstGeom>
          <a:solidFill>
            <a:srgbClr val="E2E8F3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58368" y="4480560"/>
            <a:ext cx="5309463" cy="12252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58368" y="4663440"/>
            <a:ext cx="64008" cy="859536"/>
          </a:xfrm>
          <a:prstGeom prst="rect">
            <a:avLst/>
          </a:prstGeom>
          <a:solidFill>
            <a:srgbClr val="17A673"/>
          </a:solidFill>
          <a:ln w="12700">
            <a:solidFill>
              <a:srgbClr val="17A6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32688" y="4626864"/>
            <a:ext cx="4797399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950" b="1">
                <a:solidFill>
                  <a:srgbClr val="17A673"/>
                </a:solidFill>
                <a:latin typeface="Segoe UI"/>
                <a:ea typeface="Microsoft YaHei"/>
              </a:rPr>
              <a:t>External capability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2688" y="4864608"/>
            <a:ext cx="4797399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350" b="1">
                <a:solidFill>
                  <a:srgbClr val="0F2445"/>
                </a:solidFill>
                <a:latin typeface="Segoe UI"/>
                <a:ea typeface="Microsoft YaHei"/>
              </a:rPr>
              <a:t>MCP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2688" y="5230368"/>
            <a:ext cx="479739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350"/>
              </a:spcAft>
            </a:pPr>
            <a:r>
              <a:rPr sz="950" b="0">
                <a:solidFill>
                  <a:srgbClr val="5F708C"/>
                </a:solidFill>
                <a:latin typeface="Segoe UI"/>
                <a:ea typeface="Microsoft YaHei"/>
              </a:rPr>
              <a:t>· External server tools join the same registry, deferred by default</a:t>
            </a:r>
          </a:p>
          <a:p>
            <a:pPr algn="l">
              <a:lnSpc>
                <a:spcPct val="130000"/>
              </a:lnSpc>
              <a:spcAft>
                <a:spcPts val="350"/>
              </a:spcAft>
            </a:pPr>
            <a:r>
              <a:rPr sz="950" b="0">
                <a:solidFill>
                  <a:srgbClr val="5F708C"/>
                </a:solidFill>
                <a:latin typeface="Segoe UI"/>
                <a:ea typeface="Microsoft YaHei"/>
              </a:rPr>
              <a:t>· Pooled by working directory plus config hash, closed after 30 idle minutes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65011" y="4535424"/>
            <a:ext cx="5309463" cy="1225296"/>
          </a:xfrm>
          <a:prstGeom prst="roundRect">
            <a:avLst/>
          </a:prstGeom>
          <a:solidFill>
            <a:srgbClr val="E2E8F3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223863" y="4480560"/>
            <a:ext cx="5309463" cy="12252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223863" y="4663440"/>
            <a:ext cx="64008" cy="859536"/>
          </a:xfrm>
          <a:prstGeom prst="rect">
            <a:avLst/>
          </a:prstGeom>
          <a:solidFill>
            <a:srgbClr val="D68A22"/>
          </a:solidFill>
          <a:ln w="12700">
            <a:solidFill>
              <a:srgbClr val="D68A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98183" y="4626864"/>
            <a:ext cx="4797399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950" b="1">
                <a:solidFill>
                  <a:srgbClr val="D68A22"/>
                </a:solidFill>
                <a:latin typeface="Segoe UI"/>
                <a:ea typeface="Microsoft YaHei"/>
              </a:rPr>
              <a:t>Packaging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98183" y="4864608"/>
            <a:ext cx="4797399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350" b="1">
                <a:solidFill>
                  <a:srgbClr val="0F2445"/>
                </a:solidFill>
                <a:latin typeface="Segoe UI"/>
                <a:ea typeface="Microsoft YaHei"/>
              </a:rPr>
              <a:t>Plugins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98183" y="5230368"/>
            <a:ext cx="479739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350"/>
              </a:spcAft>
            </a:pPr>
            <a:r>
              <a:rPr sz="950" b="0">
                <a:solidFill>
                  <a:srgbClr val="5F708C"/>
                </a:solidFill>
                <a:latin typeface="Segoe UI"/>
                <a:ea typeface="Microsoft YaHei"/>
              </a:rPr>
              <a:t>· Declarative: one folder bundles agents, commands, skills, and MCP config</a:t>
            </a:r>
          </a:p>
          <a:p>
            <a:pPr algn="l">
              <a:lnSpc>
                <a:spcPct val="130000"/>
              </a:lnSpc>
              <a:spcAft>
                <a:spcPts val="350"/>
              </a:spcAft>
            </a:pPr>
            <a:r>
              <a:rPr sz="950" b="0">
                <a:solidFill>
                  <a:srgbClr val="5F708C"/>
                </a:solidFill>
                <a:latin typeface="Segoe UI"/>
                <a:ea typeface="Microsoft YaHei"/>
              </a:rPr>
              <a:t>· Code plugins register tools, middleware, and listeners at boot; changes need a restart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58368" y="5925312"/>
            <a:ext cx="10874959" cy="566928"/>
          </a:xfrm>
          <a:prstGeom prst="roundRect">
            <a:avLst/>
          </a:prstGeom>
          <a:solidFill>
            <a:srgbClr val="ECF1FA"/>
          </a:solidFill>
          <a:ln w="12700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58368" y="6053328"/>
            <a:ext cx="54864" cy="310896"/>
          </a:xfrm>
          <a:prstGeom prst="rect">
            <a:avLst/>
          </a:prstGeom>
          <a:solidFill>
            <a:srgbClr val="D64560"/>
          </a:solidFill>
          <a:ln w="12700">
            <a:solidFill>
              <a:srgbClr val="D645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96112" y="5925312"/>
            <a:ext cx="10417759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>
                <a:solidFill>
                  <a:srgbClr val="0F2445"/>
                </a:solidFill>
                <a:latin typeface="Segoe UI"/>
                <a:ea typeface="Microsoft YaHei"/>
              </a:rPr>
              <a:t>Naming and precedence: plugin &lt; user &lt; project &lt; managed. Built-in command names cannot be shadowed, skills win over commands on a collision, and duplicate subagent types fail outright.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58368" y="365760"/>
            <a:ext cx="329184" cy="329184"/>
          </a:xfrm>
          <a:prstGeom prst="ellipse">
            <a:avLst/>
          </a:prstGeom>
          <a:solidFill>
            <a:srgbClr val="2757E8"/>
          </a:solidFill>
          <a:ln w="12700">
            <a:solidFill>
              <a:srgbClr val="2757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65760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Segoe UI"/>
                <a:ea typeface="Microsoft YaHei"/>
              </a:rPr>
              <a:t>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74904"/>
            <a:ext cx="219456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1">
                <a:solidFill>
                  <a:srgbClr val="0F2445"/>
                </a:solidFill>
                <a:latin typeface="Segoe UI"/>
                <a:ea typeface="Microsoft YaHei"/>
              </a:rPr>
              <a:t>CODING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12687" y="374904"/>
            <a:ext cx="45720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2000"/>
              </a:lnSpc>
              <a:spcAft>
                <a:spcPts val="0"/>
              </a:spcAft>
            </a:pPr>
            <a:r>
              <a:rPr sz="1000" b="0">
                <a:solidFill>
                  <a:srgbClr val="5F708C"/>
                </a:solidFill>
                <a:latin typeface="Segoe UI"/>
                <a:ea typeface="Microsoft YaHei"/>
              </a:rPr>
              <a:t>SECTION 01 · CAPABILITIES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76127" y="374904"/>
            <a:ext cx="4572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2000"/>
              </a:lnSpc>
              <a:spcAft>
                <a:spcPts val="0"/>
              </a:spcAft>
            </a:pPr>
            <a:r>
              <a:rPr sz="1000" b="1">
                <a:solidFill>
                  <a:srgbClr val="92A0B8"/>
                </a:solidFill>
                <a:latin typeface="Segoe UI"/>
                <a:ea typeface="Microsoft YaHei"/>
              </a:rPr>
              <a:t>08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6382512"/>
            <a:ext cx="10874959" cy="10972"/>
          </a:xfrm>
          <a:prstGeom prst="rect">
            <a:avLst/>
          </a:prstGeom>
          <a:solidFill>
            <a:srgbClr val="D8E0EE"/>
          </a:solidFill>
          <a:ln w="12700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914400"/>
            <a:ext cx="10874959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1">
                <a:solidFill>
                  <a:srgbClr val="D68A22"/>
                </a:solidFill>
                <a:latin typeface="Segoe UI"/>
                <a:ea typeface="Microsoft YaHei"/>
              </a:rPr>
              <a:t>MEMORY AND CONTEXT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197864"/>
            <a:ext cx="402336" cy="41148"/>
          </a:xfrm>
          <a:prstGeom prst="rect">
            <a:avLst/>
          </a:prstGeom>
          <a:solidFill>
            <a:srgbClr val="D68A22"/>
          </a:solidFill>
          <a:ln w="12700">
            <a:solidFill>
              <a:srgbClr val="D68A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1316736"/>
            <a:ext cx="1087495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2500" b="1">
                <a:solidFill>
                  <a:srgbClr val="0F2445"/>
                </a:solidFill>
                <a:latin typeface="Segoe UI"/>
                <a:ea typeface="Microsoft YaHei"/>
              </a:rPr>
              <a:t>Four mechanisms, four lifetimes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819656"/>
            <a:ext cx="10874959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200" b="0">
                <a:solidFill>
                  <a:srgbClr val="5F708C"/>
                </a:solidFill>
                <a:latin typeface="Segoe UI"/>
                <a:ea typeface="Microsoft YaHei"/>
              </a:rPr>
              <a:t>They solve different problems and cannot substitute for each other.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59736" y="2267712"/>
            <a:ext cx="180746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950" b="1">
                <a:solidFill>
                  <a:srgbClr val="92A0B8"/>
                </a:solidFill>
                <a:latin typeface="Segoe UI"/>
                <a:ea typeface="Microsoft YaHei"/>
              </a:rPr>
              <a:t>Session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67200" y="2267712"/>
            <a:ext cx="180746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950" b="1">
                <a:solidFill>
                  <a:srgbClr val="92A0B8"/>
                </a:solidFill>
                <a:latin typeface="Segoe UI"/>
                <a:ea typeface="Microsoft YaHei"/>
              </a:rPr>
              <a:t>Session 2 (current)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67200" y="2578608"/>
            <a:ext cx="9144" cy="2596896"/>
          </a:xfrm>
          <a:prstGeom prst="rect">
            <a:avLst/>
          </a:prstGeom>
          <a:solidFill>
            <a:srgbClr val="D8E0EE"/>
          </a:solidFill>
          <a:ln w="12700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74664" y="2267712"/>
            <a:ext cx="180746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950" b="1">
                <a:solidFill>
                  <a:srgbClr val="92A0B8"/>
                </a:solidFill>
                <a:latin typeface="Segoe UI"/>
                <a:ea typeface="Microsoft YaHei"/>
              </a:rPr>
              <a:t>Session 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74664" y="2578608"/>
            <a:ext cx="9144" cy="2596896"/>
          </a:xfrm>
          <a:prstGeom prst="rect">
            <a:avLst/>
          </a:prstGeom>
          <a:solidFill>
            <a:srgbClr val="D8E0EE"/>
          </a:solidFill>
          <a:ln w="12700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2688336"/>
            <a:ext cx="169164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1">
                <a:solidFill>
                  <a:srgbClr val="0F2445"/>
                </a:solidFill>
                <a:latin typeface="Segoe UI"/>
                <a:ea typeface="Microsoft YaHei"/>
              </a:rPr>
              <a:t>Project rules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505456" y="2779776"/>
            <a:ext cx="5330952" cy="329184"/>
          </a:xfrm>
          <a:prstGeom prst="roundRect">
            <a:avLst/>
          </a:prstGeom>
          <a:solidFill>
            <a:srgbClr val="2757E8"/>
          </a:solidFill>
          <a:ln w="12700">
            <a:solidFill>
              <a:srgbClr val="A9B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615184" y="2779776"/>
            <a:ext cx="5111496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Segoe UI"/>
                <a:ea typeface="Microsoft YaHei"/>
              </a:rPr>
              <a:t>Resident in the system prompt, every session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3310128"/>
            <a:ext cx="169164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1">
                <a:solidFill>
                  <a:srgbClr val="0F2445"/>
                </a:solidFill>
                <a:latin typeface="Segoe UI"/>
                <a:ea typeface="Microsoft YaHei"/>
              </a:rPr>
              <a:t>Auto memory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505456" y="3401568"/>
            <a:ext cx="5330952" cy="329184"/>
          </a:xfrm>
          <a:prstGeom prst="roundRect">
            <a:avLst/>
          </a:prstGeom>
          <a:solidFill>
            <a:srgbClr val="E2DAF8"/>
          </a:solidFill>
          <a:ln w="12700">
            <a:solidFill>
              <a:srgbClr val="CABC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615184" y="3401568"/>
            <a:ext cx="5111496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919" b="1">
                <a:solidFill>
                  <a:srgbClr val="0F2445"/>
                </a:solidFill>
                <a:latin typeface="Segoe UI"/>
                <a:ea typeface="Microsoft YaHei"/>
              </a:rPr>
              <a:t>Project-wide topic files, recalled on demand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3931920"/>
            <a:ext cx="169164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1">
                <a:solidFill>
                  <a:srgbClr val="0F2445"/>
                </a:solidFill>
                <a:latin typeface="Segoe UI"/>
                <a:ea typeface="Microsoft YaHei"/>
              </a:rPr>
              <a:t>Session memory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12920" y="4023359"/>
            <a:ext cx="1716024" cy="329184"/>
          </a:xfrm>
          <a:prstGeom prst="roundRect">
            <a:avLst/>
          </a:prstGeom>
          <a:solidFill>
            <a:srgbClr val="12B5C4"/>
          </a:solidFill>
          <a:ln w="12700">
            <a:solidFill>
              <a:srgbClr val="A0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22648" y="4023359"/>
            <a:ext cx="1496568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Segoe UI"/>
                <a:ea typeface="Microsoft YaHei"/>
              </a:rPr>
              <a:t>This chat only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4553712"/>
            <a:ext cx="169164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1">
                <a:solidFill>
                  <a:srgbClr val="0F2445"/>
                </a:solidFill>
                <a:latin typeface="Segoe UI"/>
                <a:ea typeface="Microsoft YaHei"/>
              </a:rPr>
              <a:t>Compaction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12920" y="4645152"/>
            <a:ext cx="1716024" cy="329184"/>
          </a:xfrm>
          <a:prstGeom prst="roundRect">
            <a:avLst/>
          </a:prstGeom>
          <a:solidFill>
            <a:srgbClr val="CCEBE0"/>
          </a:solidFill>
          <a:ln w="12700">
            <a:solidFill>
              <a:srgbClr val="A2DB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22648" y="4645152"/>
            <a:ext cx="1496568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919" b="1">
                <a:solidFill>
                  <a:srgbClr val="0F2445"/>
                </a:solidFill>
                <a:latin typeface="Segoe UI"/>
                <a:ea typeface="Microsoft YaHei"/>
              </a:rPr>
              <a:t>This turn's context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56448" y="2249424"/>
            <a:ext cx="3376879" cy="6355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156448" y="2359152"/>
            <a:ext cx="54864" cy="416052"/>
          </a:xfrm>
          <a:prstGeom prst="rect">
            <a:avLst/>
          </a:prstGeom>
          <a:solidFill>
            <a:srgbClr val="2757E8"/>
          </a:solidFill>
          <a:ln w="12700">
            <a:solidFill>
              <a:srgbClr val="2757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94192" y="2322576"/>
            <a:ext cx="2937967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1">
                <a:solidFill>
                  <a:srgbClr val="0F2445"/>
                </a:solidFill>
                <a:latin typeface="Segoe UI"/>
                <a:ea typeface="Microsoft YaHei"/>
              </a:rPr>
              <a:t>Project rules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94192" y="2560320"/>
            <a:ext cx="2937967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900" b="0">
                <a:solidFill>
                  <a:srgbClr val="5F708C"/>
                </a:solidFill>
                <a:latin typeface="Segoe UI"/>
                <a:ea typeface="Microsoft YaHei"/>
              </a:rPr>
              <a:t>Hand-maintained; paths: rules attach once a path is touched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156448" y="3012948"/>
            <a:ext cx="3376879" cy="6355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156448" y="3122676"/>
            <a:ext cx="54864" cy="416052"/>
          </a:xfrm>
          <a:prstGeom prst="rect">
            <a:avLst/>
          </a:prstGeom>
          <a:solidFill>
            <a:srgbClr val="7A57DE"/>
          </a:solidFill>
          <a:ln w="12700">
            <a:solidFill>
              <a:srgbClr val="7A5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94192" y="3086100"/>
            <a:ext cx="2937967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1">
                <a:solidFill>
                  <a:srgbClr val="0F2445"/>
                </a:solidFill>
                <a:latin typeface="Segoe UI"/>
                <a:ea typeface="Microsoft YaHei"/>
              </a:rPr>
              <a:t>Auto memory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94192" y="3323844"/>
            <a:ext cx="2937967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900" b="0">
                <a:solidFill>
                  <a:srgbClr val="5F708C"/>
                </a:solidFill>
                <a:latin typeface="Segoe UI"/>
                <a:ea typeface="Microsoft YaHei"/>
              </a:rPr>
              <a:t>Preferences and non-code facts, not what the source says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156448" y="3776472"/>
            <a:ext cx="3376879" cy="6355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156448" y="3886200"/>
            <a:ext cx="54864" cy="416052"/>
          </a:xfrm>
          <a:prstGeom prst="rect">
            <a:avLst/>
          </a:prstGeom>
          <a:solidFill>
            <a:srgbClr val="12B5C4"/>
          </a:solidFill>
          <a:ln w="12700">
            <a:solidFill>
              <a:srgbClr val="12B5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394192" y="3849624"/>
            <a:ext cx="2937967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1">
                <a:solidFill>
                  <a:srgbClr val="0F2445"/>
                </a:solidFill>
                <a:latin typeface="Segoe UI"/>
                <a:ea typeface="Microsoft YaHei"/>
              </a:rPr>
              <a:t>Session memory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94192" y="4087368"/>
            <a:ext cx="2937967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900" b="0">
                <a:solidFill>
                  <a:srgbClr val="5F708C"/>
                </a:solidFill>
                <a:latin typeface="Segoe UI"/>
                <a:ea typeface="Microsoft YaHei"/>
              </a:rPr>
              <a:t>summary.md progress ledger; compaction reads it, not retrieval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156448" y="4539996"/>
            <a:ext cx="3376879" cy="6355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156448" y="4649724"/>
            <a:ext cx="54864" cy="416052"/>
          </a:xfrm>
          <a:prstGeom prst="rect">
            <a:avLst/>
          </a:prstGeom>
          <a:solidFill>
            <a:srgbClr val="17A673"/>
          </a:solidFill>
          <a:ln w="12700">
            <a:solidFill>
              <a:srgbClr val="17A6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394192" y="4613148"/>
            <a:ext cx="2937967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1">
                <a:solidFill>
                  <a:srgbClr val="0F2445"/>
                </a:solidFill>
                <a:latin typeface="Segoe UI"/>
                <a:ea typeface="Microsoft YaHei"/>
              </a:rPr>
              <a:t>Compaction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94192" y="4850892"/>
            <a:ext cx="2937967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900" b="0">
                <a:solidFill>
                  <a:srgbClr val="5F708C"/>
                </a:solidFill>
                <a:latin typeface="Segoe UI"/>
                <a:ea typeface="Microsoft YaHei"/>
              </a:rPr>
              <a:t>Trims the model's projection; never uses auto memory as a summary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749808" y="5468112"/>
            <a:ext cx="10692079" cy="0"/>
          </a:xfrm>
          <a:prstGeom prst="line">
            <a:avLst/>
          </a:prstGeom>
          <a:ln w="25400">
            <a:solidFill>
              <a:srgbClr val="D8E0E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Oval 45"/>
          <p:cNvSpPr/>
          <p:nvPr/>
        </p:nvSpPr>
        <p:spPr>
          <a:xfrm>
            <a:off x="1949157" y="5399532"/>
            <a:ext cx="137160" cy="137160"/>
          </a:xfrm>
          <a:prstGeom prst="ellipse">
            <a:avLst/>
          </a:prstGeom>
          <a:solidFill>
            <a:srgbClr val="D68A22"/>
          </a:solidFill>
          <a:ln w="12700">
            <a:solidFill>
              <a:srgbClr val="D68A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19289" y="5614416"/>
            <a:ext cx="2596896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950" b="1">
                <a:solidFill>
                  <a:srgbClr val="0F2445"/>
                </a:solidFill>
                <a:latin typeface="Segoe UI"/>
                <a:ea typeface="Microsoft YaHei"/>
              </a:rPr>
              <a:t>Entering a turn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19289" y="5852160"/>
            <a:ext cx="25968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880" b="0">
                <a:solidFill>
                  <a:srgbClr val="5F708C"/>
                </a:solidFill>
                <a:latin typeface="Segoe UI"/>
                <a:ea typeface="Microsoft YaHei"/>
              </a:rPr>
              <a:t>Rules shape behavior; auto memory attaches topic files</a:t>
            </a:r>
          </a:p>
        </p:txBody>
      </p:sp>
      <p:sp>
        <p:nvSpPr>
          <p:cNvPr id="49" name="Oval 48"/>
          <p:cNvSpPr/>
          <p:nvPr/>
        </p:nvSpPr>
        <p:spPr>
          <a:xfrm>
            <a:off x="4667897" y="5399532"/>
            <a:ext cx="137160" cy="137160"/>
          </a:xfrm>
          <a:prstGeom prst="ellipse">
            <a:avLst/>
          </a:prstGeom>
          <a:solidFill>
            <a:srgbClr val="D68A22"/>
          </a:solidFill>
          <a:ln w="12700">
            <a:solidFill>
              <a:srgbClr val="D68A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438029" y="5614416"/>
            <a:ext cx="2596896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950" b="1">
                <a:solidFill>
                  <a:srgbClr val="0F2445"/>
                </a:solidFill>
                <a:latin typeface="Segoe UI"/>
                <a:ea typeface="Microsoft YaHei"/>
              </a:rPr>
              <a:t>During the chat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438029" y="5852160"/>
            <a:ext cx="25968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880" b="0">
                <a:solidFill>
                  <a:srgbClr val="5F708C"/>
                </a:solidFill>
                <a:latin typeface="Segoe UI"/>
                <a:ea typeface="Microsoft YaHei"/>
              </a:rPr>
              <a:t>Session memory records current progress</a:t>
            </a:r>
          </a:p>
        </p:txBody>
      </p:sp>
      <p:sp>
        <p:nvSpPr>
          <p:cNvPr id="52" name="Oval 51"/>
          <p:cNvSpPr/>
          <p:nvPr/>
        </p:nvSpPr>
        <p:spPr>
          <a:xfrm>
            <a:off x="7386637" y="5399532"/>
            <a:ext cx="137160" cy="137160"/>
          </a:xfrm>
          <a:prstGeom prst="ellipse">
            <a:avLst/>
          </a:prstGeom>
          <a:solidFill>
            <a:srgbClr val="D68A22"/>
          </a:solidFill>
          <a:ln w="12700">
            <a:solidFill>
              <a:srgbClr val="D68A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56769" y="5614416"/>
            <a:ext cx="2596896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950" b="1">
                <a:solidFill>
                  <a:srgbClr val="0F2445"/>
                </a:solidFill>
                <a:latin typeface="Segoe UI"/>
                <a:ea typeface="Microsoft YaHei"/>
              </a:rPr>
              <a:t>Before each model step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156769" y="5852160"/>
            <a:ext cx="25968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880" b="0">
                <a:solidFill>
                  <a:srgbClr val="5F708C"/>
                </a:solidFill>
                <a:latin typeface="Segoe UI"/>
                <a:ea typeface="Microsoft YaHei"/>
              </a:rPr>
              <a:t>Compact if the active context no longer fits</a:t>
            </a:r>
          </a:p>
        </p:txBody>
      </p:sp>
      <p:sp>
        <p:nvSpPr>
          <p:cNvPr id="55" name="Oval 54"/>
          <p:cNvSpPr/>
          <p:nvPr/>
        </p:nvSpPr>
        <p:spPr>
          <a:xfrm>
            <a:off x="10105377" y="5399532"/>
            <a:ext cx="137160" cy="137160"/>
          </a:xfrm>
          <a:prstGeom prst="ellipse">
            <a:avLst/>
          </a:prstGeom>
          <a:solidFill>
            <a:srgbClr val="D68A22"/>
          </a:solidFill>
          <a:ln w="12700">
            <a:solidFill>
              <a:srgbClr val="D68A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875509" y="5614416"/>
            <a:ext cx="2596896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950" b="1">
                <a:solidFill>
                  <a:srgbClr val="0F2445"/>
                </a:solidFill>
                <a:latin typeface="Segoe UI"/>
                <a:ea typeface="Microsoft YaHei"/>
              </a:rPr>
              <a:t>After a successful turn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875509" y="5852160"/>
            <a:ext cx="25968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880" b="0">
                <a:solidFill>
                  <a:srgbClr val="5F708C"/>
                </a:solidFill>
                <a:latin typeface="Segoe UI"/>
                <a:ea typeface="Microsoft YaHei"/>
              </a:rPr>
              <a:t>Durable knowledge goes back to auto memory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58368" y="365760"/>
            <a:ext cx="329184" cy="329184"/>
          </a:xfrm>
          <a:prstGeom prst="ellipse">
            <a:avLst/>
          </a:prstGeom>
          <a:solidFill>
            <a:srgbClr val="2757E8"/>
          </a:solidFill>
          <a:ln w="12700">
            <a:solidFill>
              <a:srgbClr val="2757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65760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Segoe UI"/>
                <a:ea typeface="Microsoft YaHei"/>
              </a:rPr>
              <a:t>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74904"/>
            <a:ext cx="219456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1">
                <a:solidFill>
                  <a:srgbClr val="0F2445"/>
                </a:solidFill>
                <a:latin typeface="Segoe UI"/>
                <a:ea typeface="Microsoft YaHei"/>
              </a:rPr>
              <a:t>CODING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12687" y="374904"/>
            <a:ext cx="45720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2000"/>
              </a:lnSpc>
              <a:spcAft>
                <a:spcPts val="0"/>
              </a:spcAft>
            </a:pPr>
            <a:r>
              <a:rPr sz="1000" b="0">
                <a:solidFill>
                  <a:srgbClr val="5F708C"/>
                </a:solidFill>
                <a:latin typeface="Segoe UI"/>
                <a:ea typeface="Microsoft YaHei"/>
              </a:rPr>
              <a:t>SECTION 01 · CAPABILITIES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76127" y="374904"/>
            <a:ext cx="4572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2000"/>
              </a:lnSpc>
              <a:spcAft>
                <a:spcPts val="0"/>
              </a:spcAft>
            </a:pPr>
            <a:r>
              <a:rPr sz="1000" b="1">
                <a:solidFill>
                  <a:srgbClr val="92A0B8"/>
                </a:solidFill>
                <a:latin typeface="Segoe UI"/>
                <a:ea typeface="Microsoft YaHei"/>
              </a:rPr>
              <a:t>09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6382512"/>
            <a:ext cx="10874959" cy="10972"/>
          </a:xfrm>
          <a:prstGeom prst="rect">
            <a:avLst/>
          </a:prstGeom>
          <a:solidFill>
            <a:srgbClr val="D8E0EE"/>
          </a:solidFill>
          <a:ln w="12700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914400"/>
            <a:ext cx="10874959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1">
                <a:solidFill>
                  <a:srgbClr val="17A673"/>
                </a:solidFill>
                <a:latin typeface="Segoe UI"/>
                <a:ea typeface="Microsoft YaHei"/>
              </a:rPr>
              <a:t>CLIENTS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197864"/>
            <a:ext cx="402336" cy="41148"/>
          </a:xfrm>
          <a:prstGeom prst="rect">
            <a:avLst/>
          </a:prstGeom>
          <a:solidFill>
            <a:srgbClr val="17A673"/>
          </a:solidFill>
          <a:ln w="12700">
            <a:solidFill>
              <a:srgbClr val="17A6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1316736"/>
            <a:ext cx="1087495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2500" b="1">
                <a:solidFill>
                  <a:srgbClr val="0F2445"/>
                </a:solidFill>
                <a:latin typeface="Segoe UI"/>
                <a:ea typeface="Microsoft YaHei"/>
              </a:rPr>
              <a:t>Four entry points, one runChatTurn()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819656"/>
            <a:ext cx="10874959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200" b="0">
                <a:solidFill>
                  <a:srgbClr val="5F708C"/>
                </a:solidFill>
                <a:latin typeface="Segoe UI"/>
                <a:ea typeface="Microsoft YaHei"/>
              </a:rPr>
              <a:t>Changing the entry point does not change behavior: sessions, tools, and protocol types stay identical.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9516" y="2304288"/>
            <a:ext cx="1999427" cy="1024128"/>
          </a:xfrm>
          <a:prstGeom prst="roundRect">
            <a:avLst/>
          </a:prstGeom>
          <a:solidFill>
            <a:srgbClr val="E2E8F3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58368" y="2249424"/>
            <a:ext cx="1999427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" y="2249424"/>
            <a:ext cx="1999427" cy="54864"/>
          </a:xfrm>
          <a:prstGeom prst="rect">
            <a:avLst/>
          </a:prstGeom>
          <a:solidFill>
            <a:srgbClr val="2757E8"/>
          </a:solidFill>
          <a:ln w="12700">
            <a:solidFill>
              <a:srgbClr val="2757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2414016"/>
            <a:ext cx="1706819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900" b="1">
                <a:solidFill>
                  <a:srgbClr val="2757E8"/>
                </a:solidFill>
                <a:latin typeface="Segoe UI"/>
                <a:ea typeface="Microsoft YaHei"/>
              </a:rPr>
              <a:t>Desktop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" y="2651760"/>
            <a:ext cx="1743395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1450" b="1">
                <a:solidFill>
                  <a:srgbClr val="0F2445"/>
                </a:solidFill>
                <a:latin typeface="Segoe UI"/>
                <a:ea typeface="Microsoft YaHei"/>
              </a:rPr>
              <a:t>Electron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" y="2944368"/>
            <a:ext cx="174339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880" b="0">
                <a:solidFill>
                  <a:srgbClr val="5F708C"/>
                </a:solidFill>
                <a:latin typeface="Segoe UI"/>
                <a:ea typeface="Microsoft YaHei"/>
              </a:rPr>
              <a:t>Local app; home for browser work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918399" y="2304288"/>
            <a:ext cx="1999427" cy="1024128"/>
          </a:xfrm>
          <a:prstGeom prst="roundRect">
            <a:avLst/>
          </a:prstGeom>
          <a:solidFill>
            <a:srgbClr val="E2E8F3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2877251" y="2249424"/>
            <a:ext cx="1999427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877251" y="2249424"/>
            <a:ext cx="1999427" cy="54864"/>
          </a:xfrm>
          <a:prstGeom prst="rect">
            <a:avLst/>
          </a:prstGeom>
          <a:solidFill>
            <a:srgbClr val="12B5C4"/>
          </a:solidFill>
          <a:ln w="12700">
            <a:solidFill>
              <a:srgbClr val="12B5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23555" y="2414016"/>
            <a:ext cx="1706819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900" b="1">
                <a:solidFill>
                  <a:srgbClr val="12B5C4"/>
                </a:solidFill>
                <a:latin typeface="Segoe UI"/>
                <a:ea typeface="Microsoft YaHei"/>
              </a:rPr>
              <a:t>Browser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05267" y="2651760"/>
            <a:ext cx="1743395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1450" b="1">
                <a:solidFill>
                  <a:srgbClr val="0F2445"/>
                </a:solidFill>
                <a:latin typeface="Segoe UI"/>
                <a:ea typeface="Microsoft YaHei"/>
              </a:rPr>
              <a:t>Web UI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05267" y="2944368"/>
            <a:ext cx="174339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880" b="0">
                <a:solidFill>
                  <a:srgbClr val="5F708C"/>
                </a:solidFill>
                <a:latin typeface="Segoe UI"/>
                <a:ea typeface="Microsoft YaHei"/>
              </a:rPr>
              <a:t>SSE streaming, private Docker deploy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137282" y="2304288"/>
            <a:ext cx="1999427" cy="1024128"/>
          </a:xfrm>
          <a:prstGeom prst="roundRect">
            <a:avLst/>
          </a:prstGeom>
          <a:solidFill>
            <a:srgbClr val="E2E8F3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096134" y="2249424"/>
            <a:ext cx="1999427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096134" y="2249424"/>
            <a:ext cx="1999427" cy="54864"/>
          </a:xfrm>
          <a:prstGeom prst="rect">
            <a:avLst/>
          </a:prstGeom>
          <a:solidFill>
            <a:srgbClr val="7A57DE"/>
          </a:solidFill>
          <a:ln w="12700">
            <a:solidFill>
              <a:srgbClr val="7A5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42438" y="2414016"/>
            <a:ext cx="1706819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900" b="1">
                <a:solidFill>
                  <a:srgbClr val="7A57DE"/>
                </a:solidFill>
                <a:latin typeface="Segoe UI"/>
                <a:ea typeface="Microsoft YaHei"/>
              </a:rPr>
              <a:t>IDE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24150" y="2651760"/>
            <a:ext cx="1743395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1450" b="1">
                <a:solidFill>
                  <a:srgbClr val="0F2445"/>
                </a:solidFill>
                <a:latin typeface="Segoe UI"/>
                <a:ea typeface="Microsoft YaHei"/>
              </a:rPr>
              <a:t>ACP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24150" y="2944368"/>
            <a:ext cx="174339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880" b="0">
                <a:solidFill>
                  <a:srgbClr val="5F708C"/>
                </a:solidFill>
                <a:latin typeface="Segoe UI"/>
                <a:ea typeface="Microsoft YaHei"/>
              </a:rPr>
              <a:t>Native sidebar in VS Code and IntelliJ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56165" y="2304288"/>
            <a:ext cx="1999427" cy="1024128"/>
          </a:xfrm>
          <a:prstGeom prst="roundRect">
            <a:avLst/>
          </a:prstGeom>
          <a:solidFill>
            <a:srgbClr val="E2E8F3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315017" y="2249424"/>
            <a:ext cx="1999427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15017" y="2249424"/>
            <a:ext cx="1999427" cy="54864"/>
          </a:xfrm>
          <a:prstGeom prst="rect">
            <a:avLst/>
          </a:prstGeom>
          <a:solidFill>
            <a:srgbClr val="17A673"/>
          </a:solidFill>
          <a:ln w="12700">
            <a:solidFill>
              <a:srgbClr val="17A6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61321" y="2414016"/>
            <a:ext cx="1706819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900" b="1">
                <a:solidFill>
                  <a:srgbClr val="17A673"/>
                </a:solidFill>
                <a:latin typeface="Segoe UI"/>
                <a:ea typeface="Microsoft YaHei"/>
              </a:rPr>
              <a:t>Automation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43033" y="2651760"/>
            <a:ext cx="1743395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1450" b="1">
                <a:solidFill>
                  <a:srgbClr val="0F2445"/>
                </a:solidFill>
                <a:latin typeface="Segoe UI"/>
                <a:ea typeface="Microsoft YaHei"/>
              </a:rPr>
              <a:t>HTTP API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43033" y="2944368"/>
            <a:ext cx="174339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880" b="0">
                <a:solidFill>
                  <a:srgbClr val="5F708C"/>
                </a:solidFill>
                <a:latin typeface="Segoe UI"/>
                <a:ea typeface="Microsoft YaHei"/>
              </a:rPr>
              <a:t>REST + SSE, TypeScript and Python SDKs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575048" y="2304288"/>
            <a:ext cx="1999427" cy="1024128"/>
          </a:xfrm>
          <a:prstGeom prst="roundRect">
            <a:avLst/>
          </a:prstGeom>
          <a:solidFill>
            <a:srgbClr val="E2E8F3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9533900" y="2249424"/>
            <a:ext cx="1999427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533900" y="2249424"/>
            <a:ext cx="1999427" cy="54864"/>
          </a:xfrm>
          <a:prstGeom prst="rect">
            <a:avLst/>
          </a:prstGeom>
          <a:solidFill>
            <a:srgbClr val="D68A22"/>
          </a:solidFill>
          <a:ln w="12700">
            <a:solidFill>
              <a:srgbClr val="D68A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680204" y="2414016"/>
            <a:ext cx="1706819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900" b="1">
                <a:solidFill>
                  <a:srgbClr val="D68A22"/>
                </a:solidFill>
                <a:latin typeface="Segoe UI"/>
                <a:ea typeface="Microsoft YaHei"/>
              </a:rPr>
              <a:t>Scripting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61916" y="2651760"/>
            <a:ext cx="1743395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1450" b="1">
                <a:solidFill>
                  <a:srgbClr val="0F2445"/>
                </a:solidFill>
                <a:latin typeface="Segoe UI"/>
                <a:ea typeface="Microsoft YaHei"/>
              </a:rPr>
              <a:t>CLI stdio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61916" y="2944368"/>
            <a:ext cx="174339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880" b="0">
                <a:solidFill>
                  <a:srgbClr val="5F708C"/>
                </a:solidFill>
                <a:latin typeface="Segoe UI"/>
                <a:ea typeface="Microsoft YaHei"/>
              </a:rPr>
              <a:t>One NDJSON line per message; CI friendly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1658081" y="3273552"/>
            <a:ext cx="0" cy="347472"/>
          </a:xfrm>
          <a:prstGeom prst="line">
            <a:avLst/>
          </a:prstGeom>
          <a:ln w="15875">
            <a:solidFill>
              <a:srgbClr val="D8E0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3876964" y="3273552"/>
            <a:ext cx="0" cy="347472"/>
          </a:xfrm>
          <a:prstGeom prst="line">
            <a:avLst/>
          </a:prstGeom>
          <a:ln w="15875">
            <a:solidFill>
              <a:srgbClr val="D8E0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6095847" y="3273552"/>
            <a:ext cx="0" cy="347472"/>
          </a:xfrm>
          <a:prstGeom prst="line">
            <a:avLst/>
          </a:prstGeom>
          <a:ln w="15875">
            <a:solidFill>
              <a:srgbClr val="D8E0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8314730" y="3273552"/>
            <a:ext cx="0" cy="347472"/>
          </a:xfrm>
          <a:prstGeom prst="line">
            <a:avLst/>
          </a:prstGeom>
          <a:ln w="15875">
            <a:solidFill>
              <a:srgbClr val="D8E0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10533613" y="3273552"/>
            <a:ext cx="0" cy="347472"/>
          </a:xfrm>
          <a:prstGeom prst="line">
            <a:avLst/>
          </a:prstGeom>
          <a:ln w="15875">
            <a:solidFill>
              <a:srgbClr val="D8E0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1658081" y="3621024"/>
            <a:ext cx="8875532" cy="0"/>
          </a:xfrm>
          <a:prstGeom prst="line">
            <a:avLst/>
          </a:prstGeom>
          <a:ln w="15875">
            <a:solidFill>
              <a:srgbClr val="D8E0E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6095847" y="3621024"/>
            <a:ext cx="0" cy="310896"/>
          </a:xfrm>
          <a:prstGeom prst="line">
            <a:avLst/>
          </a:prstGeom>
          <a:ln w="22225">
            <a:solidFill>
              <a:srgbClr val="17A67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ounded Rectangle 48"/>
          <p:cNvSpPr/>
          <p:nvPr/>
        </p:nvSpPr>
        <p:spPr>
          <a:xfrm>
            <a:off x="3210915" y="3986783"/>
            <a:ext cx="5852160" cy="859536"/>
          </a:xfrm>
          <a:prstGeom prst="roundRect">
            <a:avLst/>
          </a:prstGeom>
          <a:solidFill>
            <a:srgbClr val="E2E8F3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3169767" y="3931920"/>
            <a:ext cx="5852160" cy="859536"/>
          </a:xfrm>
          <a:prstGeom prst="roundRect">
            <a:avLst/>
          </a:prstGeom>
          <a:solidFill>
            <a:srgbClr val="0F2445"/>
          </a:solidFill>
          <a:ln w="12700">
            <a:solidFill>
              <a:srgbClr val="0F24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352647" y="4078224"/>
            <a:ext cx="54864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1550" b="1">
                <a:solidFill>
                  <a:srgbClr val="FFFFFF"/>
                </a:solidFill>
                <a:latin typeface="Segoe UI"/>
                <a:ea typeface="Microsoft YaHei"/>
              </a:rPr>
              <a:t>runChatTurn()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444087" y="4425696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950" b="0">
                <a:solidFill>
                  <a:srgbClr val="B0C4E6"/>
                </a:solidFill>
                <a:latin typeface="Segoe UI"/>
                <a:ea typeface="Microsoft YaHei"/>
              </a:rPr>
              <a:t>One agent engine: the same sessions, tools, and protocol types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58368" y="5065776"/>
            <a:ext cx="3442106" cy="1097280"/>
          </a:xfrm>
          <a:prstGeom prst="roundRect">
            <a:avLst/>
          </a:prstGeom>
          <a:solidFill>
            <a:srgbClr val="ECF1FA"/>
          </a:solidFill>
          <a:ln w="12700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96112" y="5212080"/>
            <a:ext cx="2966618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00" b="1">
                <a:solidFill>
                  <a:srgbClr val="0F2445"/>
                </a:solidFill>
                <a:latin typeface="Segoe UI"/>
                <a:ea typeface="Microsoft YaHei"/>
              </a:rPr>
              <a:t>One session model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96112" y="5504688"/>
            <a:ext cx="296661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Aft>
                <a:spcPts val="300"/>
              </a:spcAft>
            </a:pPr>
            <a:r>
              <a:rPr sz="919" b="0">
                <a:solidFill>
                  <a:srgbClr val="5F708C"/>
                </a:solidFill>
                <a:latin typeface="Segoe UI"/>
                <a:ea typeface="Microsoft YaHei"/>
              </a:rPr>
              <a:t>· Sessions, tools, and wire types share definitions</a:t>
            </a:r>
          </a:p>
          <a:p>
            <a:pPr algn="l">
              <a:lnSpc>
                <a:spcPct val="126000"/>
              </a:lnSpc>
              <a:spcAft>
                <a:spcPts val="300"/>
              </a:spcAft>
            </a:pPr>
            <a:r>
              <a:rPr sz="919" b="0">
                <a:solidFill>
                  <a:srgbClr val="5F708C"/>
                </a:solidFill>
                <a:latin typeface="Segoe UI"/>
                <a:ea typeface="Microsoft YaHei"/>
              </a:rPr>
              <a:t>· A session from any client resumes in another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4374794" y="5065776"/>
            <a:ext cx="3442106" cy="1097280"/>
          </a:xfrm>
          <a:prstGeom prst="roundRect">
            <a:avLst/>
          </a:prstGeom>
          <a:solidFill>
            <a:srgbClr val="ECF1FA"/>
          </a:solidFill>
          <a:ln w="12700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612538" y="5212080"/>
            <a:ext cx="2966618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00" b="1">
                <a:solidFill>
                  <a:srgbClr val="0F2445"/>
                </a:solidFill>
                <a:latin typeface="Segoe UI"/>
                <a:ea typeface="Microsoft YaHei"/>
              </a:rPr>
              <a:t>Config resolved per workspace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612538" y="5504688"/>
            <a:ext cx="296661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Aft>
                <a:spcPts val="300"/>
              </a:spcAft>
            </a:pPr>
            <a:r>
              <a:rPr sz="919" b="0">
                <a:solidFill>
                  <a:srgbClr val="5F708C"/>
                </a:solidFill>
                <a:latin typeface="Segoe UI"/>
                <a:ea typeface="Microsoft YaHei"/>
              </a:rPr>
              <a:t>· Settings resolve against the current cwd</a:t>
            </a:r>
          </a:p>
          <a:p>
            <a:pPr algn="l">
              <a:lnSpc>
                <a:spcPct val="126000"/>
              </a:lnSpc>
              <a:spcAft>
                <a:spcPts val="300"/>
              </a:spcAft>
            </a:pPr>
            <a:r>
              <a:rPr sz="919" b="0">
                <a:solidFill>
                  <a:srgbClr val="5F708C"/>
                </a:solidFill>
                <a:latin typeface="Segoe UI"/>
                <a:ea typeface="Microsoft YaHei"/>
              </a:rPr>
              <a:t>· User and project settings merge, project wins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8091220" y="5065776"/>
            <a:ext cx="3442106" cy="1097280"/>
          </a:xfrm>
          <a:prstGeom prst="roundRect">
            <a:avLst/>
          </a:prstGeom>
          <a:solidFill>
            <a:srgbClr val="ECF1FA"/>
          </a:solidFill>
          <a:ln w="12700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328964" y="5212080"/>
            <a:ext cx="2966618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00" b="1">
                <a:solidFill>
                  <a:srgbClr val="0F2445"/>
                </a:solidFill>
                <a:latin typeface="Segoe UI"/>
                <a:ea typeface="Microsoft YaHei"/>
              </a:rPr>
              <a:t>Adapters only translate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328964" y="5504688"/>
            <a:ext cx="296661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Aft>
                <a:spcPts val="300"/>
              </a:spcAft>
            </a:pPr>
            <a:r>
              <a:rPr sz="919" b="0">
                <a:solidFill>
                  <a:srgbClr val="5F708C"/>
                </a:solidFill>
                <a:latin typeface="Segoe UI"/>
                <a:ea typeface="Microsoft YaHei"/>
              </a:rPr>
              <a:t>· HTTP, stdio, and ACP hold no agent logic</a:t>
            </a:r>
          </a:p>
          <a:p>
            <a:pPr algn="l">
              <a:lnSpc>
                <a:spcPct val="126000"/>
              </a:lnSpc>
              <a:spcAft>
                <a:spcPts val="300"/>
              </a:spcAft>
            </a:pPr>
            <a:r>
              <a:rPr sz="919" b="0">
                <a:solidFill>
                  <a:srgbClr val="5F708C"/>
                </a:solidFill>
                <a:latin typeface="Segoe UI"/>
                <a:ea typeface="Microsoft YaHei"/>
              </a:rPr>
              <a:t>· A new client means a new adapter, nothing more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58368" y="365760"/>
            <a:ext cx="329184" cy="329184"/>
          </a:xfrm>
          <a:prstGeom prst="ellipse">
            <a:avLst/>
          </a:prstGeom>
          <a:solidFill>
            <a:srgbClr val="2757E8"/>
          </a:solidFill>
          <a:ln w="12700">
            <a:solidFill>
              <a:srgbClr val="2757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65760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Segoe UI"/>
                <a:ea typeface="Microsoft YaHei"/>
              </a:rPr>
              <a:t>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74904"/>
            <a:ext cx="219456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1">
                <a:solidFill>
                  <a:srgbClr val="0F2445"/>
                </a:solidFill>
                <a:latin typeface="Segoe UI"/>
                <a:ea typeface="Microsoft YaHei"/>
              </a:rPr>
              <a:t>CODING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12687" y="374904"/>
            <a:ext cx="45720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2000"/>
              </a:lnSpc>
              <a:spcAft>
                <a:spcPts val="0"/>
              </a:spcAft>
            </a:pPr>
            <a:r>
              <a:rPr sz="1000" b="0">
                <a:solidFill>
                  <a:srgbClr val="5F708C"/>
                </a:solidFill>
                <a:latin typeface="Segoe UI"/>
                <a:ea typeface="Microsoft YaHei"/>
              </a:rPr>
              <a:t>SECTION 01 · CAPABILITIES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76127" y="374904"/>
            <a:ext cx="4572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2000"/>
              </a:lnSpc>
              <a:spcAft>
                <a:spcPts val="0"/>
              </a:spcAft>
            </a:pPr>
            <a:r>
              <a:rPr sz="1000" b="1">
                <a:solidFill>
                  <a:srgbClr val="92A0B8"/>
                </a:solidFill>
                <a:latin typeface="Segoe UI"/>
                <a:ea typeface="Microsoft YaHei"/>
              </a:rPr>
              <a:t>10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6382512"/>
            <a:ext cx="10874959" cy="10972"/>
          </a:xfrm>
          <a:prstGeom prst="rect">
            <a:avLst/>
          </a:prstGeom>
          <a:solidFill>
            <a:srgbClr val="D8E0EE"/>
          </a:solidFill>
          <a:ln w="12700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914400"/>
            <a:ext cx="10874959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1">
                <a:solidFill>
                  <a:srgbClr val="7A57DE"/>
                </a:solidFill>
                <a:latin typeface="Segoe UI"/>
                <a:ea typeface="Microsoft YaHei"/>
              </a:rPr>
              <a:t>ACP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197864"/>
            <a:ext cx="402336" cy="41148"/>
          </a:xfrm>
          <a:prstGeom prst="rect">
            <a:avLst/>
          </a:prstGeom>
          <a:solidFill>
            <a:srgbClr val="7A57DE"/>
          </a:solidFill>
          <a:ln w="12700">
            <a:solidFill>
              <a:srgbClr val="7A5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1316736"/>
            <a:ext cx="1087495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2500" b="1">
                <a:solidFill>
                  <a:srgbClr val="0F2445"/>
                </a:solidFill>
                <a:latin typeface="Segoe UI"/>
                <a:ea typeface="Microsoft YaHei"/>
              </a:rPr>
              <a:t>Use it straight from VS Code, Cursor, or IntelliJ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819656"/>
            <a:ext cx="10874959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200" b="0">
                <a:solidFill>
                  <a:srgbClr val="5F708C"/>
                </a:solidFill>
                <a:latin typeface="Segoe UI"/>
                <a:ea typeface="Microsoft YaHei"/>
              </a:rPr>
              <a:t>Agent Client Protocol: write the adapter once, plug into every ACP-capable editor.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9516" y="2304288"/>
            <a:ext cx="4663440" cy="1920240"/>
          </a:xfrm>
          <a:prstGeom prst="roundRect">
            <a:avLst/>
          </a:prstGeom>
          <a:solidFill>
            <a:srgbClr val="E2E8F3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58368" y="2249424"/>
            <a:ext cx="4663440" cy="1920240"/>
          </a:xfrm>
          <a:prstGeom prst="roundRect">
            <a:avLst/>
          </a:prstGeom>
          <a:solidFill>
            <a:srgbClr val="0F2445"/>
          </a:solidFill>
          <a:ln w="12700">
            <a:solidFill>
              <a:srgbClr val="0F24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" y="2432304"/>
            <a:ext cx="41148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950" b="1">
                <a:solidFill>
                  <a:srgbClr val="12B5C4"/>
                </a:solidFill>
                <a:latin typeface="Segoe UI"/>
                <a:ea typeface="Microsoft YaHei"/>
              </a:rPr>
              <a:t>VS Code / Cursor user settings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2743200"/>
            <a:ext cx="4114800" cy="12435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950" b="0">
                <a:solidFill>
                  <a:srgbClr val="D6E1F5"/>
                </a:solidFill>
                <a:latin typeface="Consolas"/>
                <a:ea typeface="Consolas"/>
              </a:rPr>
              <a:t>"acp.agents": {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950" b="0">
                <a:solidFill>
                  <a:srgbClr val="D6E1F5"/>
                </a:solidFill>
                <a:latin typeface="Consolas"/>
                <a:ea typeface="Consolas"/>
              </a:rPr>
              <a:t>  "Coding Agent": {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950" b="0">
                <a:solidFill>
                  <a:srgbClr val="D6E1F5"/>
                </a:solidFill>
                <a:latin typeface="Consolas"/>
                <a:ea typeface="Consolas"/>
              </a:rPr>
              <a:t>    "command": "npx",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950" b="0">
                <a:solidFill>
                  <a:srgbClr val="D6E1F5"/>
                </a:solidFill>
                <a:latin typeface="Consolas"/>
                <a:ea typeface="Consolas"/>
              </a:rPr>
              <a:t>    "args": ["tsx", "&lt;repo&gt;/start.js", "--acp"],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950" b="0">
                <a:solidFill>
                  <a:srgbClr val="D6E1F5"/>
                </a:solidFill>
                <a:latin typeface="Consolas"/>
                <a:ea typeface="Consolas"/>
              </a:rPr>
              <a:t>    "env": {}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950" b="0">
                <a:solidFill>
                  <a:srgbClr val="D6E1F5"/>
                </a:solidFill>
                <a:latin typeface="Consolas"/>
                <a:ea typeface="Consolas"/>
              </a:rPr>
              <a:t>  }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950" b="0">
                <a:solidFill>
                  <a:srgbClr val="D6E1F5"/>
                </a:solidFill>
                <a:latin typeface="Consolas"/>
                <a:ea typeface="Consolas"/>
              </a:rPr>
              <a:t>}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" y="4389120"/>
            <a:ext cx="4590288" cy="17739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050" b="0">
                <a:solidFill>
                  <a:srgbClr val="5F708C"/>
                </a:solidFill>
                <a:latin typeface="Segoe UI"/>
                <a:ea typeface="Microsoft YaHei"/>
              </a:rPr>
              <a:t>· args must start with tsx, then the absolute path to start.js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050" b="0">
                <a:solidFill>
                  <a:srgbClr val="5F708C"/>
                </a:solidFill>
                <a:latin typeface="Segoe UI"/>
                <a:ea typeface="Microsoft YaHei"/>
              </a:rPr>
              <a:t>· Without tsx the sidebar shows Failed to load sessions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050" b="0">
                <a:solidFill>
                  <a:srgbClr val="5F708C"/>
                </a:solidFill>
                <a:latin typeface="Segoe UI"/>
                <a:ea typeface="Microsoft YaHei"/>
              </a:rPr>
              <a:t>· Append "--workspace", "&lt;path&gt;" to pin a default workspace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050" b="0">
                <a:solidFill>
                  <a:srgbClr val="5F708C"/>
                </a:solidFill>
                <a:latin typeface="Segoe UI"/>
                <a:ea typeface="Microsoft YaHei"/>
              </a:rPr>
              <a:t>· Terminal check: npm run acp -- --workspace &lt;path&gt;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050" b="0">
                <a:solidFill>
                  <a:srgbClr val="5F708C"/>
                </a:solidFill>
                <a:latin typeface="Segoe UI"/>
                <a:ea typeface="Microsoft YaHei"/>
              </a:rPr>
              <a:t>· IntelliJ uses ACP too, with the same configuration shape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50992" y="2231136"/>
            <a:ext cx="5882335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300" b="1">
                <a:solidFill>
                  <a:srgbClr val="0F2445"/>
                </a:solidFill>
                <a:latin typeface="Segoe UI"/>
                <a:ea typeface="Microsoft YaHei"/>
              </a:rPr>
              <a:t>What you get in the sidebar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50992" y="2578608"/>
            <a:ext cx="5882335" cy="374904"/>
          </a:xfrm>
          <a:prstGeom prst="rect">
            <a:avLst/>
          </a:prstGeom>
          <a:solidFill>
            <a:srgbClr val="ECF1FA"/>
          </a:solidFill>
          <a:ln w="12700">
            <a:solidFill>
              <a:srgbClr val="ECF1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650992" y="2660903"/>
            <a:ext cx="45720" cy="210312"/>
          </a:xfrm>
          <a:prstGeom prst="rect">
            <a:avLst/>
          </a:prstGeom>
          <a:solidFill>
            <a:srgbClr val="7A57DE"/>
          </a:solidFill>
          <a:ln w="12700">
            <a:solidFill>
              <a:srgbClr val="7A5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833872" y="2578608"/>
            <a:ext cx="1691640" cy="3749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00" b="1">
                <a:solidFill>
                  <a:srgbClr val="0F2445"/>
                </a:solidFill>
                <a:latin typeface="Segoe UI"/>
                <a:ea typeface="Microsoft YaHei"/>
              </a:rPr>
              <a:t>Streaming answers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62088" y="2578608"/>
            <a:ext cx="3788359" cy="3749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0">
                <a:solidFill>
                  <a:srgbClr val="5F708C"/>
                </a:solidFill>
                <a:latin typeface="Segoe UI"/>
                <a:ea typeface="Microsoft YaHei"/>
              </a:rPr>
              <a:t>Text arrives incrementally; no waiting for the full response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50992" y="3081527"/>
            <a:ext cx="45720" cy="210312"/>
          </a:xfrm>
          <a:prstGeom prst="rect">
            <a:avLst/>
          </a:prstGeom>
          <a:solidFill>
            <a:srgbClr val="7A57DE"/>
          </a:solidFill>
          <a:ln w="12700">
            <a:solidFill>
              <a:srgbClr val="7A5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833872" y="2999232"/>
            <a:ext cx="1691640" cy="3749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00" b="1">
                <a:solidFill>
                  <a:srgbClr val="0F2445"/>
                </a:solidFill>
                <a:latin typeface="Segoe UI"/>
                <a:ea typeface="Microsoft YaHei"/>
              </a:rPr>
              <a:t>Thinking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62088" y="2999232"/>
            <a:ext cx="3788359" cy="3749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0">
                <a:solidFill>
                  <a:srgbClr val="5F708C"/>
                </a:solidFill>
                <a:latin typeface="Segoe UI"/>
                <a:ea typeface="Microsoft YaHei"/>
              </a:rPr>
              <a:t>Reasoning streams separately from the final answer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50992" y="3419856"/>
            <a:ext cx="5882335" cy="374904"/>
          </a:xfrm>
          <a:prstGeom prst="rect">
            <a:avLst/>
          </a:prstGeom>
          <a:solidFill>
            <a:srgbClr val="ECF1FA"/>
          </a:solidFill>
          <a:ln w="12700">
            <a:solidFill>
              <a:srgbClr val="ECF1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650992" y="3502151"/>
            <a:ext cx="45720" cy="210312"/>
          </a:xfrm>
          <a:prstGeom prst="rect">
            <a:avLst/>
          </a:prstGeom>
          <a:solidFill>
            <a:srgbClr val="7A57DE"/>
          </a:solidFill>
          <a:ln w="12700">
            <a:solidFill>
              <a:srgbClr val="7A5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833872" y="3419856"/>
            <a:ext cx="1691640" cy="3749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00" b="1">
                <a:solidFill>
                  <a:srgbClr val="0F2445"/>
                </a:solidFill>
                <a:latin typeface="Segoe UI"/>
                <a:ea typeface="Microsoft YaHei"/>
              </a:rPr>
              <a:t>Tool cards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62088" y="3419856"/>
            <a:ext cx="3788359" cy="3749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0">
                <a:solidFill>
                  <a:srgbClr val="5F708C"/>
                </a:solidFill>
                <a:latin typeface="Segoe UI"/>
                <a:ea typeface="Microsoft YaHei"/>
              </a:rPr>
              <a:t>Pending, running, completed or failed, with args and file locations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50992" y="3922776"/>
            <a:ext cx="45720" cy="210312"/>
          </a:xfrm>
          <a:prstGeom prst="rect">
            <a:avLst/>
          </a:prstGeom>
          <a:solidFill>
            <a:srgbClr val="7A57DE"/>
          </a:solidFill>
          <a:ln w="12700">
            <a:solidFill>
              <a:srgbClr val="7A5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833872" y="3840480"/>
            <a:ext cx="1691640" cy="3749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00" b="1">
                <a:solidFill>
                  <a:srgbClr val="0F2445"/>
                </a:solidFill>
                <a:latin typeface="Segoe UI"/>
                <a:ea typeface="Microsoft YaHei"/>
              </a:rPr>
              <a:t>Task plans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62088" y="3840480"/>
            <a:ext cx="3788359" cy="3749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0">
                <a:solidFill>
                  <a:srgbClr val="5F708C"/>
                </a:solidFill>
                <a:latin typeface="Segoe UI"/>
                <a:ea typeface="Microsoft YaHei"/>
              </a:rPr>
              <a:t>TodoWrite maps straight onto the editor's plan panel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50992" y="4261104"/>
            <a:ext cx="5882335" cy="374904"/>
          </a:xfrm>
          <a:prstGeom prst="rect">
            <a:avLst/>
          </a:prstGeom>
          <a:solidFill>
            <a:srgbClr val="ECF1FA"/>
          </a:solidFill>
          <a:ln w="12700">
            <a:solidFill>
              <a:srgbClr val="ECF1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650992" y="4343400"/>
            <a:ext cx="45720" cy="210312"/>
          </a:xfrm>
          <a:prstGeom prst="rect">
            <a:avLst/>
          </a:prstGeom>
          <a:solidFill>
            <a:srgbClr val="7A57DE"/>
          </a:solidFill>
          <a:ln w="12700">
            <a:solidFill>
              <a:srgbClr val="7A5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833872" y="4261104"/>
            <a:ext cx="1691640" cy="3749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00" b="1">
                <a:solidFill>
                  <a:srgbClr val="0F2445"/>
                </a:solidFill>
                <a:latin typeface="Segoe UI"/>
                <a:ea typeface="Microsoft YaHei"/>
              </a:rPr>
              <a:t>Permission prompts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62088" y="4261104"/>
            <a:ext cx="3788359" cy="3749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0">
                <a:solidFill>
                  <a:srgbClr val="5F708C"/>
                </a:solidFill>
                <a:latin typeface="Segoe UI"/>
                <a:ea typeface="Microsoft YaHei"/>
              </a:rPr>
              <a:t>Out-of-bounds actions ask first and run only after you answer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50992" y="4764024"/>
            <a:ext cx="45720" cy="210312"/>
          </a:xfrm>
          <a:prstGeom prst="rect">
            <a:avLst/>
          </a:prstGeom>
          <a:solidFill>
            <a:srgbClr val="7A57DE"/>
          </a:solidFill>
          <a:ln w="12700">
            <a:solidFill>
              <a:srgbClr val="7A5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833872" y="4681728"/>
            <a:ext cx="1691640" cy="3749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00" b="1">
                <a:solidFill>
                  <a:srgbClr val="0F2445"/>
                </a:solidFill>
                <a:latin typeface="Segoe UI"/>
                <a:ea typeface="Microsoft YaHei"/>
              </a:rPr>
              <a:t>Mode switching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562088" y="4681728"/>
            <a:ext cx="3788359" cy="3749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0">
                <a:solidFill>
                  <a:srgbClr val="5F708C"/>
                </a:solidFill>
                <a:latin typeface="Segoe UI"/>
                <a:ea typeface="Microsoft YaHei"/>
              </a:rPr>
              <a:t>Agent, Ask, and Plan are switchable in the sidebar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650992" y="5102352"/>
            <a:ext cx="5882335" cy="374904"/>
          </a:xfrm>
          <a:prstGeom prst="rect">
            <a:avLst/>
          </a:prstGeom>
          <a:solidFill>
            <a:srgbClr val="ECF1FA"/>
          </a:solidFill>
          <a:ln w="12700">
            <a:solidFill>
              <a:srgbClr val="ECF1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650992" y="5184648"/>
            <a:ext cx="45720" cy="210312"/>
          </a:xfrm>
          <a:prstGeom prst="rect">
            <a:avLst/>
          </a:prstGeom>
          <a:solidFill>
            <a:srgbClr val="7A57DE"/>
          </a:solidFill>
          <a:ln w="12700">
            <a:solidFill>
              <a:srgbClr val="7A5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833872" y="5102352"/>
            <a:ext cx="1691640" cy="3749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00" b="1">
                <a:solidFill>
                  <a:srgbClr val="0F2445"/>
                </a:solidFill>
                <a:latin typeface="Segoe UI"/>
                <a:ea typeface="Microsoft YaHei"/>
              </a:rPr>
              <a:t>Image input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562088" y="5102352"/>
            <a:ext cx="3788359" cy="3749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0">
                <a:solidFill>
                  <a:srgbClr val="5F708C"/>
                </a:solidFill>
                <a:latin typeface="Segoe UI"/>
                <a:ea typeface="Microsoft YaHei"/>
              </a:rPr>
              <a:t>Images and embedded context blocks are supported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650992" y="5650992"/>
            <a:ext cx="5882335" cy="512064"/>
          </a:xfrm>
          <a:prstGeom prst="roundRect">
            <a:avLst/>
          </a:prstGeom>
          <a:solidFill>
            <a:srgbClr val="ECF1FA"/>
          </a:solidFill>
          <a:ln w="12700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650992" y="5779007"/>
            <a:ext cx="54864" cy="256032"/>
          </a:xfrm>
          <a:prstGeom prst="rect">
            <a:avLst/>
          </a:prstGeom>
          <a:solidFill>
            <a:srgbClr val="7A57DE"/>
          </a:solidFill>
          <a:ln w="12700">
            <a:solidFill>
              <a:srgbClr val="7A5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888736" y="5650992"/>
            <a:ext cx="5425135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>
                <a:solidFill>
                  <a:srgbClr val="0F2445"/>
                </a:solidFill>
                <a:latin typeface="Segoe UI"/>
                <a:ea typeface="Microsoft YaHei"/>
              </a:rPr>
              <a:t>The ACP adapter does more than reframe messages — it translates engine internals into session updates the editor can render directly.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58368" y="365760"/>
            <a:ext cx="329184" cy="329184"/>
          </a:xfrm>
          <a:prstGeom prst="ellipse">
            <a:avLst/>
          </a:prstGeom>
          <a:solidFill>
            <a:srgbClr val="2757E8"/>
          </a:solidFill>
          <a:ln w="12700">
            <a:solidFill>
              <a:srgbClr val="2757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65760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Segoe UI"/>
                <a:ea typeface="Microsoft YaHei"/>
              </a:rPr>
              <a:t>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74904"/>
            <a:ext cx="219456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1">
                <a:solidFill>
                  <a:srgbClr val="0F2445"/>
                </a:solidFill>
                <a:latin typeface="Segoe UI"/>
                <a:ea typeface="Microsoft YaHei"/>
              </a:rPr>
              <a:t>CODING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12687" y="374904"/>
            <a:ext cx="45720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2000"/>
              </a:lnSpc>
              <a:spcAft>
                <a:spcPts val="0"/>
              </a:spcAft>
            </a:pPr>
            <a:r>
              <a:rPr sz="1000" b="0">
                <a:solidFill>
                  <a:srgbClr val="5F708C"/>
                </a:solidFill>
                <a:latin typeface="Segoe UI"/>
                <a:ea typeface="Microsoft YaHei"/>
              </a:rPr>
              <a:t>SECTION 01 · CAPABILITIES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76127" y="374904"/>
            <a:ext cx="4572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2000"/>
              </a:lnSpc>
              <a:spcAft>
                <a:spcPts val="0"/>
              </a:spcAft>
            </a:pPr>
            <a:r>
              <a:rPr sz="1000" b="1">
                <a:solidFill>
                  <a:srgbClr val="92A0B8"/>
                </a:solidFill>
                <a:latin typeface="Segoe UI"/>
                <a:ea typeface="Microsoft YaHei"/>
              </a:rPr>
              <a:t>11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6382512"/>
            <a:ext cx="10874959" cy="10972"/>
          </a:xfrm>
          <a:prstGeom prst="rect">
            <a:avLst/>
          </a:prstGeom>
          <a:solidFill>
            <a:srgbClr val="D8E0EE"/>
          </a:solidFill>
          <a:ln w="12700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914400"/>
            <a:ext cx="10874959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1">
                <a:solidFill>
                  <a:srgbClr val="D64560"/>
                </a:solidFill>
                <a:latin typeface="Segoe UI"/>
                <a:ea typeface="Microsoft YaHei"/>
              </a:rPr>
              <a:t>SAFEGUARDS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197864"/>
            <a:ext cx="402336" cy="41148"/>
          </a:xfrm>
          <a:prstGeom prst="rect">
            <a:avLst/>
          </a:prstGeom>
          <a:solidFill>
            <a:srgbClr val="D64560"/>
          </a:solidFill>
          <a:ln w="12700">
            <a:solidFill>
              <a:srgbClr val="D645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1316736"/>
            <a:ext cx="1087495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2500" b="1">
                <a:solidFill>
                  <a:srgbClr val="0F2445"/>
                </a:solidFill>
                <a:latin typeface="Segoe UI"/>
                <a:ea typeface="Microsoft YaHei"/>
              </a:rPr>
              <a:t>What makes it safe to run on a real project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819656"/>
            <a:ext cx="10874959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200" b="0">
                <a:solidFill>
                  <a:srgbClr val="5F708C"/>
                </a:solidFill>
                <a:latin typeface="Segoe UI"/>
                <a:ea typeface="Microsoft YaHei"/>
              </a:rPr>
              <a:t>The more the agent can do, the more explicit its boundaries have to be.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9516" y="2304288"/>
            <a:ext cx="3454298" cy="1828800"/>
          </a:xfrm>
          <a:prstGeom prst="roundRect">
            <a:avLst/>
          </a:prstGeom>
          <a:solidFill>
            <a:srgbClr val="E2E8F3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58368" y="2249424"/>
            <a:ext cx="3454298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" y="2432304"/>
            <a:ext cx="64008" cy="1463040"/>
          </a:xfrm>
          <a:prstGeom prst="rect">
            <a:avLst/>
          </a:prstGeom>
          <a:solidFill>
            <a:srgbClr val="D64560"/>
          </a:solidFill>
          <a:ln w="12700">
            <a:solidFill>
              <a:srgbClr val="D645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2395728"/>
            <a:ext cx="2942234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950" b="1">
                <a:solidFill>
                  <a:srgbClr val="D64560"/>
                </a:solidFill>
                <a:latin typeface="Segoe UI"/>
                <a:ea typeface="Microsoft YaHei"/>
              </a:rPr>
              <a:t>Boundary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2633472"/>
            <a:ext cx="2942234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450" b="1">
                <a:solidFill>
                  <a:srgbClr val="0F2445"/>
                </a:solidFill>
                <a:latin typeface="Segoe UI"/>
                <a:ea typeface="Microsoft YaHei"/>
              </a:rPr>
              <a:t>Filesystem permissions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" y="2999232"/>
            <a:ext cx="2942234" cy="932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350"/>
              </a:spcAft>
            </a:pPr>
            <a:r>
              <a:rPr sz="950" b="0">
                <a:solidFill>
                  <a:srgbClr val="5F708C"/>
                </a:solidFill>
                <a:latin typeface="Segoe UI"/>
                <a:ea typeface="Microsoft YaHei"/>
              </a:rPr>
              <a:t>· Read, Grep, Glob, LSP, Edit, and Write share one gate</a:t>
            </a:r>
          </a:p>
          <a:p>
            <a:pPr algn="l">
              <a:lnSpc>
                <a:spcPct val="130000"/>
              </a:lnSpc>
              <a:spcAft>
                <a:spcPts val="350"/>
              </a:spcAft>
            </a:pPr>
            <a:r>
              <a:rPr sz="950" b="0">
                <a:solidFill>
                  <a:srgbClr val="5F708C"/>
                </a:solidFill>
                <a:latin typeface="Segoe UI"/>
                <a:ea typeface="Microsoft YaHei"/>
              </a:rPr>
              <a:t>· Lexical and real paths are both checked, symlinks included</a:t>
            </a:r>
          </a:p>
          <a:p>
            <a:pPr algn="l">
              <a:lnSpc>
                <a:spcPct val="130000"/>
              </a:lnSpc>
              <a:spcAft>
                <a:spcPts val="350"/>
              </a:spcAft>
            </a:pPr>
            <a:r>
              <a:rPr sz="950" b="0">
                <a:solidFill>
                  <a:srgbClr val="5F708C"/>
                </a:solidFill>
                <a:latin typeface="Segoe UI"/>
                <a:ea typeface="Microsoft YaHei"/>
              </a:rPr>
              <a:t>· Deny rules run first and always win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09846" y="2304288"/>
            <a:ext cx="3454298" cy="1828800"/>
          </a:xfrm>
          <a:prstGeom prst="roundRect">
            <a:avLst/>
          </a:prstGeom>
          <a:solidFill>
            <a:srgbClr val="E2E8F3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368698" y="2249424"/>
            <a:ext cx="3454298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68698" y="2432304"/>
            <a:ext cx="64008" cy="1463040"/>
          </a:xfrm>
          <a:prstGeom prst="rect">
            <a:avLst/>
          </a:prstGeom>
          <a:solidFill>
            <a:srgbClr val="2757E8"/>
          </a:solidFill>
          <a:ln w="12700">
            <a:solidFill>
              <a:srgbClr val="2757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43018" y="2395728"/>
            <a:ext cx="2942234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950" b="1">
                <a:solidFill>
                  <a:srgbClr val="2757E8"/>
                </a:solidFill>
                <a:latin typeface="Segoe UI"/>
                <a:ea typeface="Microsoft YaHei"/>
              </a:rPr>
              <a:t>Modes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43018" y="2633472"/>
            <a:ext cx="2942234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450" b="1">
                <a:solidFill>
                  <a:srgbClr val="0F2445"/>
                </a:solidFill>
                <a:latin typeface="Segoe UI"/>
                <a:ea typeface="Microsoft YaHei"/>
              </a:rPr>
              <a:t>Three default behaviors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43018" y="2999232"/>
            <a:ext cx="2942234" cy="932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350"/>
              </a:spcAft>
            </a:pPr>
            <a:r>
              <a:rPr sz="950" b="0">
                <a:solidFill>
                  <a:srgbClr val="5F708C"/>
                </a:solidFill>
                <a:latin typeface="Segoe UI"/>
                <a:ea typeface="Microsoft YaHei"/>
              </a:rPr>
              <a:t>· default: ask, with Allow / Always allow / Reject</a:t>
            </a:r>
          </a:p>
          <a:p>
            <a:pPr algn="l">
              <a:lnSpc>
                <a:spcPct val="130000"/>
              </a:lnSpc>
              <a:spcAft>
                <a:spcPts val="350"/>
              </a:spcAft>
            </a:pPr>
            <a:r>
              <a:rPr sz="950" b="0">
                <a:solidFill>
                  <a:srgbClr val="5F708C"/>
                </a:solidFill>
                <a:latin typeface="Segoe UI"/>
                <a:ea typeface="Microsoft YaHei"/>
              </a:rPr>
              <a:t>· dontAsk: anything unresolved becomes a denial</a:t>
            </a:r>
          </a:p>
          <a:p>
            <a:pPr algn="l">
              <a:lnSpc>
                <a:spcPct val="130000"/>
              </a:lnSpc>
              <a:spcAft>
                <a:spcPts val="350"/>
              </a:spcAft>
            </a:pPr>
            <a:r>
              <a:rPr sz="950" b="0">
                <a:solidFill>
                  <a:srgbClr val="5F708C"/>
                </a:solidFill>
                <a:latin typeface="Segoe UI"/>
                <a:ea typeface="Microsoft YaHei"/>
              </a:rPr>
              <a:t>· bypassPermissions: outside paths run, deny still applies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20176" y="2304288"/>
            <a:ext cx="3454298" cy="1828800"/>
          </a:xfrm>
          <a:prstGeom prst="roundRect">
            <a:avLst/>
          </a:prstGeom>
          <a:solidFill>
            <a:srgbClr val="E2E8F3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079028" y="2249424"/>
            <a:ext cx="3454298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79028" y="2432304"/>
            <a:ext cx="64008" cy="1463040"/>
          </a:xfrm>
          <a:prstGeom prst="rect">
            <a:avLst/>
          </a:prstGeom>
          <a:solidFill>
            <a:srgbClr val="7A57DE"/>
          </a:solidFill>
          <a:ln w="12700">
            <a:solidFill>
              <a:srgbClr val="7A5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53348" y="2395728"/>
            <a:ext cx="2942234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950" b="1">
                <a:solidFill>
                  <a:srgbClr val="7A57DE"/>
                </a:solidFill>
                <a:latin typeface="Segoe UI"/>
                <a:ea typeface="Microsoft YaHei"/>
              </a:rPr>
              <a:t>Deployment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53348" y="2633472"/>
            <a:ext cx="2942234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450" b="1">
                <a:solidFill>
                  <a:srgbClr val="0F2445"/>
                </a:solidFill>
                <a:latin typeface="Segoe UI"/>
                <a:ea typeface="Microsoft YaHei"/>
              </a:rPr>
              <a:t>SSO lockdown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53348" y="2999232"/>
            <a:ext cx="2942234" cy="932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350"/>
              </a:spcAft>
            </a:pPr>
            <a:r>
              <a:rPr sz="950" b="0">
                <a:solidFill>
                  <a:srgbClr val="5F708C"/>
                </a:solidFill>
                <a:latin typeface="Segoe UI"/>
                <a:ea typeface="Microsoft YaHei"/>
              </a:rPr>
              <a:t>· AUTH_ENABLED=true forces dontAsk</a:t>
            </a:r>
          </a:p>
          <a:p>
            <a:pPr algn="l">
              <a:lnSpc>
                <a:spcPct val="130000"/>
              </a:lnSpc>
              <a:spcAft>
                <a:spcPts val="350"/>
              </a:spcAft>
            </a:pPr>
            <a:r>
              <a:rPr sz="950" b="0">
                <a:solidFill>
                  <a:srgbClr val="5F708C"/>
                </a:solidFill>
                <a:latin typeface="Segoe UI"/>
                <a:ea typeface="Microsoft YaHei"/>
              </a:rPr>
              <a:t>· allow rules and extra directories drop out; deny stays</a:t>
            </a:r>
          </a:p>
          <a:p>
            <a:pPr algn="l">
              <a:lnSpc>
                <a:spcPct val="130000"/>
              </a:lnSpc>
              <a:spcAft>
                <a:spcPts val="350"/>
              </a:spcAft>
            </a:pPr>
            <a:r>
              <a:rPr sz="950" b="0">
                <a:solidFill>
                  <a:srgbClr val="5F708C"/>
                </a:solidFill>
                <a:latin typeface="Segoe UI"/>
                <a:ea typeface="Microsoft YaHei"/>
              </a:rPr>
              <a:t>· Note: an application boundary, not an OS sandbox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99516" y="4389120"/>
            <a:ext cx="3454298" cy="1828800"/>
          </a:xfrm>
          <a:prstGeom prst="roundRect">
            <a:avLst/>
          </a:prstGeom>
          <a:solidFill>
            <a:srgbClr val="E2E8F3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58368" y="4334256"/>
            <a:ext cx="3454298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58368" y="4517136"/>
            <a:ext cx="64008" cy="1463040"/>
          </a:xfrm>
          <a:prstGeom prst="rect">
            <a:avLst/>
          </a:prstGeom>
          <a:solidFill>
            <a:srgbClr val="17A673"/>
          </a:solidFill>
          <a:ln w="12700">
            <a:solidFill>
              <a:srgbClr val="17A6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32688" y="4480560"/>
            <a:ext cx="2942234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950" b="1">
                <a:solidFill>
                  <a:srgbClr val="17A673"/>
                </a:solidFill>
                <a:latin typeface="Segoe UI"/>
                <a:ea typeface="Microsoft YaHei"/>
              </a:rPr>
              <a:t>Scheduling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2688" y="4718304"/>
            <a:ext cx="2942234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450" b="1">
                <a:solidFill>
                  <a:srgbClr val="0F2445"/>
                </a:solidFill>
                <a:latin typeface="Segoe UI"/>
                <a:ea typeface="Microsoft YaHei"/>
              </a:rPr>
              <a:t>Scheduled tasks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2688" y="5084064"/>
            <a:ext cx="2942234" cy="932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350"/>
              </a:spcAft>
            </a:pPr>
            <a:r>
              <a:rPr sz="950" b="0">
                <a:solidFill>
                  <a:srgbClr val="5F708C"/>
                </a:solidFill>
                <a:latin typeface="Segoe UI"/>
                <a:ea typeface="Microsoft YaHei"/>
              </a:rPr>
              <a:t>· A one-shot timestamp, or five-field cron in local time</a:t>
            </a:r>
          </a:p>
          <a:p>
            <a:pPr algn="l">
              <a:lnSpc>
                <a:spcPct val="130000"/>
              </a:lnSpc>
              <a:spcAft>
                <a:spcPts val="350"/>
              </a:spcAft>
            </a:pPr>
            <a:r>
              <a:rPr sz="950" b="0">
                <a:solidFill>
                  <a:srgbClr val="5F708C"/>
                </a:solidFill>
                <a:latin typeface="Segoe UI"/>
                <a:ea typeface="Microsoft YaHei"/>
              </a:rPr>
              <a:t>· At most 50 per process, serialized within a session</a:t>
            </a:r>
          </a:p>
          <a:p>
            <a:pPr algn="l">
              <a:lnSpc>
                <a:spcPct val="130000"/>
              </a:lnSpc>
              <a:spcAft>
                <a:spcPts val="350"/>
              </a:spcAft>
            </a:pPr>
            <a:r>
              <a:rPr sz="950" b="0">
                <a:solidFill>
                  <a:srgbClr val="5F708C"/>
                </a:solidFill>
                <a:latin typeface="Segoe UI"/>
                <a:ea typeface="Microsoft YaHei"/>
              </a:rPr>
              <a:t>· Recurring tasks get jitter and expire after seven days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409846" y="4389120"/>
            <a:ext cx="3454298" cy="1828800"/>
          </a:xfrm>
          <a:prstGeom prst="roundRect">
            <a:avLst/>
          </a:prstGeom>
          <a:solidFill>
            <a:srgbClr val="E2E8F3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4368698" y="4334256"/>
            <a:ext cx="3454298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368698" y="4517136"/>
            <a:ext cx="64008" cy="1463040"/>
          </a:xfrm>
          <a:prstGeom prst="rect">
            <a:avLst/>
          </a:prstGeom>
          <a:solidFill>
            <a:srgbClr val="12B5C4"/>
          </a:solidFill>
          <a:ln w="12700">
            <a:solidFill>
              <a:srgbClr val="12B5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643018" y="4480560"/>
            <a:ext cx="2942234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950" b="1">
                <a:solidFill>
                  <a:srgbClr val="12B5C4"/>
                </a:solidFill>
                <a:latin typeface="Segoe UI"/>
                <a:ea typeface="Microsoft YaHei"/>
              </a:rPr>
              <a:t>Long work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643018" y="4718304"/>
            <a:ext cx="2942234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450" b="1">
                <a:solidFill>
                  <a:srgbClr val="0F2445"/>
                </a:solidFill>
                <a:latin typeface="Segoe UI"/>
                <a:ea typeface="Microsoft YaHei"/>
              </a:rPr>
              <a:t>Background tasks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43018" y="5084064"/>
            <a:ext cx="2942234" cy="932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350"/>
              </a:spcAft>
            </a:pPr>
            <a:r>
              <a:rPr sz="950" b="0">
                <a:solidFill>
                  <a:srgbClr val="5F708C"/>
                </a:solidFill>
                <a:latin typeface="Segoe UI"/>
                <a:ea typeface="Microsoft YaHei"/>
              </a:rPr>
              <a:t>· Long commands leave the blocking agent path</a:t>
            </a:r>
          </a:p>
          <a:p>
            <a:pPr algn="l">
              <a:lnSpc>
                <a:spcPct val="130000"/>
              </a:lnSpc>
              <a:spcAft>
                <a:spcPts val="350"/>
              </a:spcAft>
            </a:pPr>
            <a:r>
              <a:rPr sz="950" b="0">
                <a:solidFill>
                  <a:srgbClr val="5F708C"/>
                </a:solidFill>
                <a:latin typeface="Segoe UI"/>
                <a:ea typeface="Microsoft YaHei"/>
              </a:rPr>
              <a:t>· They need explicit polling or termination; the worker kills leftovers on exit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120176" y="4389120"/>
            <a:ext cx="3454298" cy="1828800"/>
          </a:xfrm>
          <a:prstGeom prst="roundRect">
            <a:avLst/>
          </a:prstGeom>
          <a:solidFill>
            <a:srgbClr val="E2E8F3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8079028" y="4334256"/>
            <a:ext cx="3454298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079028" y="4517136"/>
            <a:ext cx="64008" cy="1463040"/>
          </a:xfrm>
          <a:prstGeom prst="rect">
            <a:avLst/>
          </a:prstGeom>
          <a:solidFill>
            <a:srgbClr val="D68A22"/>
          </a:solidFill>
          <a:ln w="12700">
            <a:solidFill>
              <a:srgbClr val="D68A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353348" y="4480560"/>
            <a:ext cx="2942234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950" b="1">
                <a:solidFill>
                  <a:srgbClr val="D68A22"/>
                </a:solidFill>
                <a:latin typeface="Segoe UI"/>
                <a:ea typeface="Microsoft YaHei"/>
              </a:rPr>
              <a:t>Context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53348" y="4718304"/>
            <a:ext cx="2942234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450" b="1">
                <a:solidFill>
                  <a:srgbClr val="0F2445"/>
                </a:solidFill>
                <a:latin typeface="Segoe UI"/>
                <a:ea typeface="Microsoft YaHei"/>
              </a:rPr>
              <a:t>Offloaded large outputs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353348" y="5084064"/>
            <a:ext cx="2942234" cy="932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350"/>
              </a:spcAft>
            </a:pPr>
            <a:r>
              <a:rPr sz="950" b="0">
                <a:solidFill>
                  <a:srgbClr val="5F708C"/>
                </a:solidFill>
                <a:latin typeface="Segoe UI"/>
                <a:ea typeface="Microsoft YaHei"/>
              </a:rPr>
              <a:t>· Claim-check: the model sees a preview and a reference</a:t>
            </a:r>
          </a:p>
          <a:p>
            <a:pPr algn="l">
              <a:lnSpc>
                <a:spcPct val="130000"/>
              </a:lnSpc>
              <a:spcAft>
                <a:spcPts val="350"/>
              </a:spcAft>
            </a:pPr>
            <a:r>
              <a:rPr sz="950" b="0">
                <a:solidFill>
                  <a:srgbClr val="5F708C"/>
                </a:solidFill>
                <a:latin typeface="Segoe UI"/>
                <a:ea typeface="Microsoft YaHei"/>
              </a:rPr>
              <a:t>· The full payload lands in session tool storage</a:t>
            </a:r>
          </a:p>
          <a:p>
            <a:pPr algn="l">
              <a:lnSpc>
                <a:spcPct val="130000"/>
              </a:lnSpc>
              <a:spcAft>
                <a:spcPts val="350"/>
              </a:spcAft>
            </a:pPr>
            <a:r>
              <a:rPr sz="950" b="0">
                <a:solidFill>
                  <a:srgbClr val="5F708C"/>
                </a:solidFill>
                <a:latin typeface="Segoe UI"/>
                <a:ea typeface="Microsoft YaHei"/>
              </a:rPr>
              <a:t>· Keeps the prompt-cache prefix stable across later steps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58368" y="365760"/>
            <a:ext cx="329184" cy="329184"/>
          </a:xfrm>
          <a:prstGeom prst="ellipse">
            <a:avLst/>
          </a:prstGeom>
          <a:solidFill>
            <a:srgbClr val="2757E8"/>
          </a:solidFill>
          <a:ln w="12700">
            <a:solidFill>
              <a:srgbClr val="2757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65760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Segoe UI"/>
                <a:ea typeface="Microsoft YaHei"/>
              </a:rPr>
              <a:t>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74904"/>
            <a:ext cx="219456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1">
                <a:solidFill>
                  <a:srgbClr val="0F2445"/>
                </a:solidFill>
                <a:latin typeface="Segoe UI"/>
                <a:ea typeface="Microsoft YaHei"/>
              </a:rPr>
              <a:t>CODING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12687" y="374904"/>
            <a:ext cx="45720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2000"/>
              </a:lnSpc>
              <a:spcAft>
                <a:spcPts val="0"/>
              </a:spcAft>
            </a:pPr>
            <a:r>
              <a:rPr sz="1000" b="0">
                <a:solidFill>
                  <a:srgbClr val="5F708C"/>
                </a:solidFill>
                <a:latin typeface="Segoe UI"/>
                <a:ea typeface="Microsoft YaHei"/>
              </a:rPr>
              <a:t>SECTION 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76127" y="374904"/>
            <a:ext cx="4572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2000"/>
              </a:lnSpc>
              <a:spcAft>
                <a:spcPts val="0"/>
              </a:spcAft>
            </a:pPr>
            <a:r>
              <a:rPr sz="1000" b="1">
                <a:solidFill>
                  <a:srgbClr val="92A0B8"/>
                </a:solidFill>
                <a:latin typeface="Segoe UI"/>
                <a:ea typeface="Microsoft YaHei"/>
              </a:rPr>
              <a:t>12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6382512"/>
            <a:ext cx="10874959" cy="10972"/>
          </a:xfrm>
          <a:prstGeom prst="rect">
            <a:avLst/>
          </a:prstGeom>
          <a:solidFill>
            <a:srgbClr val="D8E0EE"/>
          </a:solidFill>
          <a:ln w="12700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2286000"/>
            <a:ext cx="36576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00" b="1">
                <a:solidFill>
                  <a:srgbClr val="5F708C"/>
                </a:solidFill>
                <a:latin typeface="Segoe UI"/>
                <a:ea typeface="Microsoft YaHei"/>
              </a:rPr>
              <a:t>SECTION 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560320"/>
            <a:ext cx="2743200" cy="1737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9600" b="1">
                <a:solidFill>
                  <a:srgbClr val="7A57DE"/>
                </a:solidFill>
                <a:latin typeface="Segoe UI"/>
                <a:ea typeface="Microsoft YaHei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4389120"/>
            <a:ext cx="1280160" cy="45720"/>
          </a:xfrm>
          <a:prstGeom prst="rect">
            <a:avLst/>
          </a:prstGeom>
          <a:solidFill>
            <a:srgbClr val="7A57DE"/>
          </a:solidFill>
          <a:ln w="12700">
            <a:solidFill>
              <a:srgbClr val="7A5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60520" y="3072384"/>
            <a:ext cx="7498079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3800" b="1">
                <a:solidFill>
                  <a:srgbClr val="0F2445"/>
                </a:solidFill>
                <a:latin typeface="Segoe UI"/>
                <a:ea typeface="Microsoft YaHei"/>
              </a:rPr>
              <a:t>Architecture &amp; implementation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87952" y="3840480"/>
            <a:ext cx="749807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400" b="0">
                <a:solidFill>
                  <a:srgbClr val="5F708C"/>
                </a:solidFill>
                <a:latin typeface="Segoe UI"/>
                <a:ea typeface="Microsoft YaHei"/>
              </a:rPr>
              <a:t>How one conversation actually runs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60520" y="4315968"/>
            <a:ext cx="1706041" cy="4206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60520" y="4315968"/>
            <a:ext cx="1706041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1050" b="1">
                <a:solidFill>
                  <a:srgbClr val="0F2445"/>
                </a:solidFill>
                <a:latin typeface="Segoe UI"/>
                <a:ea typeface="Microsoft YaHei"/>
              </a:rPr>
              <a:t>Turn · Query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49441" y="4315968"/>
            <a:ext cx="1706041" cy="4206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49441" y="4315968"/>
            <a:ext cx="1706041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1050" b="1">
                <a:solidFill>
                  <a:srgbClr val="0F2445"/>
                </a:solidFill>
                <a:latin typeface="Segoe UI"/>
                <a:ea typeface="Microsoft YaHei"/>
              </a:rPr>
              <a:t>Tools · Permissions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38363" y="4315968"/>
            <a:ext cx="1706041" cy="4206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38363" y="4315968"/>
            <a:ext cx="1706041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1050" b="1">
                <a:solidFill>
                  <a:srgbClr val="0F2445"/>
                </a:solidFill>
                <a:latin typeface="Segoe UI"/>
                <a:ea typeface="Microsoft YaHei"/>
              </a:rPr>
              <a:t>Execution plane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827285" y="4315968"/>
            <a:ext cx="1706041" cy="4206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27285" y="4315968"/>
            <a:ext cx="1706041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1050" b="1">
                <a:solidFill>
                  <a:srgbClr val="0F2445"/>
                </a:solidFill>
                <a:latin typeface="Segoe UI"/>
                <a:ea typeface="Microsoft YaHei"/>
              </a:rPr>
              <a:t>Protocol · ACP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58368" y="365760"/>
            <a:ext cx="329184" cy="329184"/>
          </a:xfrm>
          <a:prstGeom prst="ellipse">
            <a:avLst/>
          </a:prstGeom>
          <a:solidFill>
            <a:srgbClr val="2757E8"/>
          </a:solidFill>
          <a:ln w="12700">
            <a:solidFill>
              <a:srgbClr val="2757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65760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Segoe UI"/>
                <a:ea typeface="Microsoft YaHei"/>
              </a:rPr>
              <a:t>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74904"/>
            <a:ext cx="219456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1">
                <a:solidFill>
                  <a:srgbClr val="0F2445"/>
                </a:solidFill>
                <a:latin typeface="Segoe UI"/>
                <a:ea typeface="Microsoft YaHei"/>
              </a:rPr>
              <a:t>CODING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12687" y="374904"/>
            <a:ext cx="45720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2000"/>
              </a:lnSpc>
              <a:spcAft>
                <a:spcPts val="0"/>
              </a:spcAft>
            </a:pPr>
            <a:r>
              <a:rPr sz="1000" b="0">
                <a:solidFill>
                  <a:srgbClr val="5F708C"/>
                </a:solidFill>
                <a:latin typeface="Segoe UI"/>
                <a:ea typeface="Microsoft YaHei"/>
              </a:rPr>
              <a:t>SECTION 02 ·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76127" y="374904"/>
            <a:ext cx="4572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2000"/>
              </a:lnSpc>
              <a:spcAft>
                <a:spcPts val="0"/>
              </a:spcAft>
            </a:pPr>
            <a:r>
              <a:rPr sz="1000" b="1">
                <a:solidFill>
                  <a:srgbClr val="92A0B8"/>
                </a:solidFill>
                <a:latin typeface="Segoe UI"/>
                <a:ea typeface="Microsoft YaHei"/>
              </a:rPr>
              <a:t>13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6382512"/>
            <a:ext cx="10874959" cy="10972"/>
          </a:xfrm>
          <a:prstGeom prst="rect">
            <a:avLst/>
          </a:prstGeom>
          <a:solidFill>
            <a:srgbClr val="D8E0EE"/>
          </a:solidFill>
          <a:ln w="12700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914400"/>
            <a:ext cx="10874959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1">
                <a:solidFill>
                  <a:srgbClr val="7A57DE"/>
                </a:solidFill>
                <a:latin typeface="Segoe UI"/>
                <a:ea typeface="Microsoft YaHei"/>
              </a:rPr>
              <a:t>SYSTEM OVERVIEW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197864"/>
            <a:ext cx="402336" cy="41148"/>
          </a:xfrm>
          <a:prstGeom prst="rect">
            <a:avLst/>
          </a:prstGeom>
          <a:solidFill>
            <a:srgbClr val="7A57DE"/>
          </a:solidFill>
          <a:ln w="12700">
            <a:solidFill>
              <a:srgbClr val="7A5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1316736"/>
            <a:ext cx="1087495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2500" b="1">
                <a:solidFill>
                  <a:srgbClr val="0F2445"/>
                </a:solidFill>
                <a:latin typeface="Segoe UI"/>
                <a:ea typeface="Microsoft YaHei"/>
              </a:rPr>
              <a:t>Six layers, each with one job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819656"/>
            <a:ext cx="10874959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200" b="0">
                <a:solidFill>
                  <a:srgbClr val="5F708C"/>
                </a:solidFill>
                <a:latin typeface="Segoe UI"/>
                <a:ea typeface="Microsoft YaHei"/>
              </a:rPr>
              <a:t>Every entry point converges on the same turn host and query loop.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2249424"/>
            <a:ext cx="8296351" cy="5608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8368" y="2249424"/>
            <a:ext cx="73152" cy="560832"/>
          </a:xfrm>
          <a:prstGeom prst="rect">
            <a:avLst/>
          </a:prstGeom>
          <a:solidFill>
            <a:srgbClr val="2757E8"/>
          </a:solidFill>
          <a:ln w="12700">
            <a:solidFill>
              <a:srgbClr val="2757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" y="2249424"/>
            <a:ext cx="2377440" cy="5608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50" b="1">
                <a:solidFill>
                  <a:srgbClr val="0F2445"/>
                </a:solidFill>
                <a:latin typeface="Segoe UI"/>
                <a:ea typeface="Microsoft YaHei"/>
              </a:rPr>
              <a:t>Clients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01568" y="2249424"/>
            <a:ext cx="5324551" cy="5608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00" b="0">
                <a:solidFill>
                  <a:srgbClr val="5F708C"/>
                </a:solidFill>
                <a:latin typeface="Segoe UI"/>
                <a:ea typeface="Microsoft YaHei"/>
              </a:rPr>
              <a:t>Electron desktop   ·   Web UI   ·   VS Code / Cursor   ·   IntelliJ   ·   CLI   ·   SDK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2919984"/>
            <a:ext cx="8296351" cy="5608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" y="2919984"/>
            <a:ext cx="73152" cy="560832"/>
          </a:xfrm>
          <a:prstGeom prst="rect">
            <a:avLst/>
          </a:prstGeom>
          <a:solidFill>
            <a:srgbClr val="12B5C4"/>
          </a:solidFill>
          <a:ln w="12700">
            <a:solidFill>
              <a:srgbClr val="12B5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2688" y="2919984"/>
            <a:ext cx="2377440" cy="5608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50" b="1">
                <a:solidFill>
                  <a:srgbClr val="0F2445"/>
                </a:solidFill>
                <a:latin typeface="Segoe UI"/>
                <a:ea typeface="Microsoft YaHei"/>
              </a:rPr>
              <a:t>Adapters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01568" y="2919984"/>
            <a:ext cx="5324551" cy="5608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00" b="0">
                <a:solidFill>
                  <a:srgbClr val="5F708C"/>
                </a:solidFill>
                <a:latin typeface="Segoe UI"/>
                <a:ea typeface="Microsoft YaHei"/>
              </a:rPr>
              <a:t>HTTP + SSE   ·   stdio NDJSON   ·   ACP   ·   worker — translation only, no agent logic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3590544"/>
            <a:ext cx="8296351" cy="5608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58368" y="3590544"/>
            <a:ext cx="73152" cy="560832"/>
          </a:xfrm>
          <a:prstGeom prst="rect">
            <a:avLst/>
          </a:prstGeom>
          <a:solidFill>
            <a:srgbClr val="7A57DE"/>
          </a:solidFill>
          <a:ln w="12700">
            <a:solidFill>
              <a:srgbClr val="7A5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2688" y="3590544"/>
            <a:ext cx="2377440" cy="5608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50" b="1">
                <a:solidFill>
                  <a:srgbClr val="0F2445"/>
                </a:solidFill>
                <a:latin typeface="Segoe UI"/>
                <a:ea typeface="Microsoft YaHei"/>
              </a:rPr>
              <a:t>Turn host  runChatTurn()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01568" y="3590544"/>
            <a:ext cx="5324551" cy="5608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00" b="0">
                <a:solidFill>
                  <a:srgbClr val="5F708C"/>
                </a:solidFill>
                <a:latin typeface="Segoe UI"/>
                <a:ea typeface="Microsoft YaHei"/>
              </a:rPr>
              <a:t>Turn settings   ·   abort propagation   ·   memory side paths   ·   completion   ·   persistence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4261104"/>
            <a:ext cx="8296351" cy="5608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58368" y="4261104"/>
            <a:ext cx="73152" cy="560832"/>
          </a:xfrm>
          <a:prstGeom prst="rect">
            <a:avLst/>
          </a:prstGeom>
          <a:solidFill>
            <a:srgbClr val="17A673"/>
          </a:solidFill>
          <a:ln w="12700">
            <a:solidFill>
              <a:srgbClr val="17A6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2688" y="4261104"/>
            <a:ext cx="2377440" cy="5608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50" b="1">
                <a:solidFill>
                  <a:srgbClr val="0F2445"/>
                </a:solidFill>
                <a:latin typeface="Segoe UI"/>
                <a:ea typeface="Microsoft YaHei"/>
              </a:rPr>
              <a:t>Query loop  query()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01568" y="4261104"/>
            <a:ext cx="5324551" cy="5608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00" b="0">
                <a:solidFill>
                  <a:srgbClr val="5F708C"/>
                </a:solidFill>
                <a:latin typeface="Segoe UI"/>
                <a:ea typeface="Microsoft YaHei"/>
              </a:rPr>
              <a:t>preTurn → runStep → postTurn   ·   owns loop counter, active tool set, stop reason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4931664"/>
            <a:ext cx="8296351" cy="5608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4931664"/>
            <a:ext cx="73152" cy="560832"/>
          </a:xfrm>
          <a:prstGeom prst="rect">
            <a:avLst/>
          </a:prstGeom>
          <a:solidFill>
            <a:srgbClr val="D68A22"/>
          </a:solidFill>
          <a:ln w="12700">
            <a:solidFill>
              <a:srgbClr val="D68A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2688" y="4931664"/>
            <a:ext cx="2377440" cy="5608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50" b="1">
                <a:solidFill>
                  <a:srgbClr val="0F2445"/>
                </a:solidFill>
                <a:latin typeface="Segoe UI"/>
                <a:ea typeface="Microsoft YaHei"/>
              </a:rPr>
              <a:t>Tools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01568" y="4931664"/>
            <a:ext cx="5324551" cy="5608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00" b="0">
                <a:solidFill>
                  <a:srgbClr val="5F708C"/>
                </a:solidFill>
                <a:latin typeface="Segoe UI"/>
                <a:ea typeface="Microsoft YaHei"/>
              </a:rPr>
              <a:t>assembleToolPool   ·   canUseTool permission gate   ·   StreamingToolExecutor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8368" y="5602224"/>
            <a:ext cx="8296351" cy="5608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58368" y="5602224"/>
            <a:ext cx="73152" cy="560832"/>
          </a:xfrm>
          <a:prstGeom prst="rect">
            <a:avLst/>
          </a:prstGeom>
          <a:solidFill>
            <a:srgbClr val="D64560"/>
          </a:solidFill>
          <a:ln w="12700">
            <a:solidFill>
              <a:srgbClr val="D645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32688" y="5602224"/>
            <a:ext cx="2377440" cy="5608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50" b="1">
                <a:solidFill>
                  <a:srgbClr val="0F2445"/>
                </a:solidFill>
                <a:latin typeface="Segoe UI"/>
                <a:ea typeface="Microsoft YaHei"/>
              </a:rPr>
              <a:t>Execution plane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401568" y="5602224"/>
            <a:ext cx="5324551" cy="5608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00" b="0">
                <a:solidFill>
                  <a:srgbClr val="5F708C"/>
                </a:solidFill>
                <a:latin typeface="Segoe UI"/>
                <a:ea typeface="Microsoft YaHei"/>
              </a:rPr>
              <a:t>A local or SSH worker — filesystem, shell, ripgrep, background processes, LSP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247327" y="2249424"/>
            <a:ext cx="2286000" cy="3913632"/>
          </a:xfrm>
          <a:prstGeom prst="roundRect">
            <a:avLst/>
          </a:prstGeom>
          <a:solidFill>
            <a:srgbClr val="ECF1FA"/>
          </a:solidFill>
          <a:ln w="12700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485071" y="2468880"/>
            <a:ext cx="181051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200" b="1">
                <a:solidFill>
                  <a:srgbClr val="0F2445"/>
                </a:solidFill>
                <a:latin typeface="Segoe UI"/>
                <a:ea typeface="Microsoft YaHei"/>
              </a:rPr>
              <a:t>Cross-cutting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485071" y="2852928"/>
            <a:ext cx="1810512" cy="30906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950" b="0">
                <a:solidFill>
                  <a:srgbClr val="5F708C"/>
                </a:solidFill>
                <a:latin typeface="Segoe UI"/>
                <a:ea typeface="Microsoft YaHei"/>
              </a:rPr>
              <a:t>· Models: pluggable provider strategies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950" b="0">
                <a:solidFill>
                  <a:srgbClr val="5F708C"/>
                </a:solidFill>
                <a:latin typeface="Segoe UI"/>
                <a:ea typeface="Microsoft YaHei"/>
              </a:rPr>
              <a:t>· Sessions: append-only transcript, persistence and replay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950" b="0">
                <a:solidFill>
                  <a:srgbClr val="5F708C"/>
                </a:solidFill>
                <a:latin typeface="Segoe UI"/>
                <a:ea typeface="Microsoft YaHei"/>
              </a:rPr>
              <a:t>· Protocol: Zod schemas in protocol/src define the contract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950" b="0">
                <a:solidFill>
                  <a:srgbClr val="5F708C"/>
                </a:solidFill>
                <a:latin typeface="Segoe UI"/>
                <a:ea typeface="Microsoft YaHei"/>
              </a:rPr>
              <a:t>· Permissions: the filesystem gate and session modes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950" b="0">
                <a:solidFill>
                  <a:srgbClr val="5F708C"/>
                </a:solidFill>
                <a:latin typeface="Segoe UI"/>
                <a:ea typeface="Microsoft YaHei"/>
              </a:rPr>
              <a:t>· Extensions: skills, commands, subagents, MCP, plugins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58368" y="365760"/>
            <a:ext cx="329184" cy="329184"/>
          </a:xfrm>
          <a:prstGeom prst="ellipse">
            <a:avLst/>
          </a:prstGeom>
          <a:solidFill>
            <a:srgbClr val="2757E8"/>
          </a:solidFill>
          <a:ln w="12700">
            <a:solidFill>
              <a:srgbClr val="2757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65760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Segoe UI"/>
                <a:ea typeface="Microsoft YaHei"/>
              </a:rPr>
              <a:t>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74904"/>
            <a:ext cx="219456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1">
                <a:solidFill>
                  <a:srgbClr val="0F2445"/>
                </a:solidFill>
                <a:latin typeface="Segoe UI"/>
                <a:ea typeface="Microsoft YaHei"/>
              </a:rPr>
              <a:t>CODING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12687" y="374904"/>
            <a:ext cx="45720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2000"/>
              </a:lnSpc>
              <a:spcAft>
                <a:spcPts val="0"/>
              </a:spcAft>
            </a:pPr>
            <a:r>
              <a:rPr sz="1000" b="0">
                <a:solidFill>
                  <a:srgbClr val="5F708C"/>
                </a:solidFill>
                <a:latin typeface="Segoe UI"/>
                <a:ea typeface="Microsoft YaHei"/>
              </a:rPr>
              <a:t>SECTION 02 ·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76127" y="374904"/>
            <a:ext cx="4572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2000"/>
              </a:lnSpc>
              <a:spcAft>
                <a:spcPts val="0"/>
              </a:spcAft>
            </a:pPr>
            <a:r>
              <a:rPr sz="1000" b="1">
                <a:solidFill>
                  <a:srgbClr val="92A0B8"/>
                </a:solidFill>
                <a:latin typeface="Segoe UI"/>
                <a:ea typeface="Microsoft YaHei"/>
              </a:rPr>
              <a:t>14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6382512"/>
            <a:ext cx="10874959" cy="10972"/>
          </a:xfrm>
          <a:prstGeom prst="rect">
            <a:avLst/>
          </a:prstGeom>
          <a:solidFill>
            <a:srgbClr val="D8E0EE"/>
          </a:solidFill>
          <a:ln w="12700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914400"/>
            <a:ext cx="10874959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1">
                <a:solidFill>
                  <a:srgbClr val="2757E8"/>
                </a:solidFill>
                <a:latin typeface="Segoe UI"/>
                <a:ea typeface="Microsoft YaHei"/>
              </a:rPr>
              <a:t>END TO END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197864"/>
            <a:ext cx="402336" cy="41148"/>
          </a:xfrm>
          <a:prstGeom prst="rect">
            <a:avLst/>
          </a:prstGeom>
          <a:solidFill>
            <a:srgbClr val="2757E8"/>
          </a:solidFill>
          <a:ln w="12700">
            <a:solidFill>
              <a:srgbClr val="2757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1316736"/>
            <a:ext cx="1087495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2500" b="1">
                <a:solidFill>
                  <a:srgbClr val="0F2445"/>
                </a:solidFill>
                <a:latin typeface="Segoe UI"/>
                <a:ea typeface="Microsoft YaHei"/>
              </a:rPr>
              <a:t>One message, from arrival to storage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819656"/>
            <a:ext cx="10874959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200" b="0">
                <a:solidFill>
                  <a:srgbClr val="5F708C"/>
                </a:solidFill>
                <a:latin typeface="Segoe UI"/>
                <a:ea typeface="Microsoft YaHei"/>
              </a:rPr>
              <a:t>Five stages with no overlapping responsibility.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9516" y="2304288"/>
            <a:ext cx="1999427" cy="2029968"/>
          </a:xfrm>
          <a:prstGeom prst="roundRect">
            <a:avLst/>
          </a:prstGeom>
          <a:solidFill>
            <a:srgbClr val="E2E8F3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58368" y="2249424"/>
            <a:ext cx="1999427" cy="20299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" y="2395728"/>
            <a:ext cx="54864" cy="1737360"/>
          </a:xfrm>
          <a:prstGeom prst="rect">
            <a:avLst/>
          </a:prstGeom>
          <a:solidFill>
            <a:srgbClr val="2757E8"/>
          </a:solidFill>
          <a:ln w="12700">
            <a:solidFill>
              <a:srgbClr val="2757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7824" y="2377440"/>
            <a:ext cx="1597091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250" b="1">
                <a:solidFill>
                  <a:srgbClr val="0F2445"/>
                </a:solidFill>
                <a:latin typeface="Segoe UI"/>
                <a:ea typeface="Microsoft YaHei"/>
              </a:rPr>
              <a:t>① Entry selection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" y="2670048"/>
            <a:ext cx="1597091" cy="1481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50" b="0">
                <a:solidFill>
                  <a:srgbClr val="5F708C"/>
                </a:solidFill>
                <a:latin typeface="Segoe UI"/>
                <a:ea typeface="Microsoft YaHei"/>
              </a:rPr>
              <a:t>src/entrypoints/cli.ts picks HTTP, stdio, ACP, or worker mode</a:t>
            </a:r>
          </a:p>
        </p:txBody>
      </p:sp>
      <p:sp>
        <p:nvSpPr>
          <p:cNvPr id="17" name="Isosceles Triangle 16"/>
          <p:cNvSpPr/>
          <p:nvPr/>
        </p:nvSpPr>
        <p:spPr>
          <a:xfrm rot="5400000">
            <a:off x="2703515" y="3200400"/>
            <a:ext cx="128016" cy="128016"/>
          </a:xfrm>
          <a:prstGeom prst="triangle">
            <a:avLst/>
          </a:prstGeom>
          <a:solidFill>
            <a:srgbClr val="D8E0EE"/>
          </a:solidFill>
          <a:ln w="12700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2918399" y="2304288"/>
            <a:ext cx="1999427" cy="2029968"/>
          </a:xfrm>
          <a:prstGeom prst="roundRect">
            <a:avLst/>
          </a:prstGeom>
          <a:solidFill>
            <a:srgbClr val="E2E8F3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2877251" y="2249424"/>
            <a:ext cx="1999427" cy="20299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877251" y="2395728"/>
            <a:ext cx="54864" cy="1737360"/>
          </a:xfrm>
          <a:prstGeom prst="rect">
            <a:avLst/>
          </a:prstGeom>
          <a:solidFill>
            <a:srgbClr val="2757E8"/>
          </a:solidFill>
          <a:ln w="12700">
            <a:solidFill>
              <a:srgbClr val="2757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96707" y="2377440"/>
            <a:ext cx="1597091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250" b="1">
                <a:solidFill>
                  <a:srgbClr val="0F2445"/>
                </a:solidFill>
                <a:latin typeface="Segoe UI"/>
                <a:ea typeface="Microsoft YaHei"/>
              </a:rPr>
              <a:t>② Adapter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96707" y="2670048"/>
            <a:ext cx="1597091" cy="1481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50" b="0">
                <a:solidFill>
                  <a:srgbClr val="5F708C"/>
                </a:solidFill>
                <a:latin typeface="Segoe UI"/>
                <a:ea typeface="Microsoft YaHei"/>
              </a:rPr>
              <a:t>Turns client input into one turn and calls the transport-independent runChatTurn()</a:t>
            </a:r>
          </a:p>
        </p:txBody>
      </p:sp>
      <p:sp>
        <p:nvSpPr>
          <p:cNvPr id="23" name="Isosceles Triangle 22"/>
          <p:cNvSpPr/>
          <p:nvPr/>
        </p:nvSpPr>
        <p:spPr>
          <a:xfrm rot="5400000">
            <a:off x="4922398" y="3200400"/>
            <a:ext cx="128016" cy="128016"/>
          </a:xfrm>
          <a:prstGeom prst="triangle">
            <a:avLst/>
          </a:prstGeom>
          <a:solidFill>
            <a:srgbClr val="D8E0EE"/>
          </a:solidFill>
          <a:ln w="12700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137282" y="2304288"/>
            <a:ext cx="1999427" cy="2029968"/>
          </a:xfrm>
          <a:prstGeom prst="roundRect">
            <a:avLst/>
          </a:prstGeom>
          <a:solidFill>
            <a:srgbClr val="E2E8F3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096134" y="2249424"/>
            <a:ext cx="1999427" cy="20299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096134" y="2395728"/>
            <a:ext cx="54864" cy="1737360"/>
          </a:xfrm>
          <a:prstGeom prst="rect">
            <a:avLst/>
          </a:prstGeom>
          <a:solidFill>
            <a:srgbClr val="2757E8"/>
          </a:solidFill>
          <a:ln w="12700">
            <a:solidFill>
              <a:srgbClr val="2757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315590" y="2377440"/>
            <a:ext cx="1597091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250" b="1">
                <a:solidFill>
                  <a:srgbClr val="0F2445"/>
                </a:solidFill>
                <a:latin typeface="Segoe UI"/>
                <a:ea typeface="Microsoft YaHei"/>
              </a:rPr>
              <a:t>③ Prepare context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15590" y="2670048"/>
            <a:ext cx="1597091" cy="1481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50" b="0">
                <a:solidFill>
                  <a:srgbClr val="5F708C"/>
                </a:solidFill>
                <a:latin typeface="Segoe UI"/>
                <a:ea typeface="Microsoft YaHei"/>
              </a:rPr>
              <a:t>prepareChatTurn() resolves slash commands, rules, plugins, skills, MCP, permissions, and the backend, then builds the tool pool</a:t>
            </a:r>
          </a:p>
        </p:txBody>
      </p:sp>
      <p:sp>
        <p:nvSpPr>
          <p:cNvPr id="29" name="Isosceles Triangle 28"/>
          <p:cNvSpPr/>
          <p:nvPr/>
        </p:nvSpPr>
        <p:spPr>
          <a:xfrm rot="5400000">
            <a:off x="7141281" y="3200400"/>
            <a:ext cx="128016" cy="128016"/>
          </a:xfrm>
          <a:prstGeom prst="triangle">
            <a:avLst/>
          </a:prstGeom>
          <a:solidFill>
            <a:srgbClr val="D8E0EE"/>
          </a:solidFill>
          <a:ln w="12700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356165" y="2304288"/>
            <a:ext cx="1999427" cy="2029968"/>
          </a:xfrm>
          <a:prstGeom prst="roundRect">
            <a:avLst/>
          </a:prstGeom>
          <a:solidFill>
            <a:srgbClr val="E2E8F3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315017" y="2249424"/>
            <a:ext cx="1999427" cy="20299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15017" y="2395728"/>
            <a:ext cx="54864" cy="1737360"/>
          </a:xfrm>
          <a:prstGeom prst="rect">
            <a:avLst/>
          </a:prstGeom>
          <a:solidFill>
            <a:srgbClr val="2757E8"/>
          </a:solidFill>
          <a:ln w="12700">
            <a:solidFill>
              <a:srgbClr val="2757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534473" y="2377440"/>
            <a:ext cx="1597091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250" b="1">
                <a:solidFill>
                  <a:srgbClr val="0F2445"/>
                </a:solidFill>
                <a:latin typeface="Segoe UI"/>
                <a:ea typeface="Microsoft YaHei"/>
              </a:rPr>
              <a:t>④ Run the loop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34473" y="2670048"/>
            <a:ext cx="1597091" cy="1481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50" b="0">
                <a:solidFill>
                  <a:srgbClr val="5F708C"/>
                </a:solidFill>
                <a:latin typeface="Segoe UI"/>
                <a:ea typeface="Microsoft YaHei"/>
              </a:rPr>
              <a:t>query() alternates model steps and tool steps until no tools are requested</a:t>
            </a:r>
          </a:p>
        </p:txBody>
      </p:sp>
      <p:sp>
        <p:nvSpPr>
          <p:cNvPr id="35" name="Isosceles Triangle 34"/>
          <p:cNvSpPr/>
          <p:nvPr/>
        </p:nvSpPr>
        <p:spPr>
          <a:xfrm rot="5400000">
            <a:off x="9360164" y="3200400"/>
            <a:ext cx="128016" cy="128016"/>
          </a:xfrm>
          <a:prstGeom prst="triangle">
            <a:avLst/>
          </a:prstGeom>
          <a:solidFill>
            <a:srgbClr val="D8E0EE"/>
          </a:solidFill>
          <a:ln w="12700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575048" y="2304288"/>
            <a:ext cx="1999427" cy="2029968"/>
          </a:xfrm>
          <a:prstGeom prst="roundRect">
            <a:avLst/>
          </a:prstGeom>
          <a:solidFill>
            <a:srgbClr val="E2E8F3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9533900" y="2249424"/>
            <a:ext cx="1999427" cy="20299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533900" y="2395728"/>
            <a:ext cx="54864" cy="1737360"/>
          </a:xfrm>
          <a:prstGeom prst="rect">
            <a:avLst/>
          </a:prstGeom>
          <a:solidFill>
            <a:srgbClr val="2757E8"/>
          </a:solidFill>
          <a:ln w="12700">
            <a:solidFill>
              <a:srgbClr val="2757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753356" y="2377440"/>
            <a:ext cx="1597091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250" b="1">
                <a:solidFill>
                  <a:srgbClr val="0F2445"/>
                </a:solidFill>
                <a:latin typeface="Segoe UI"/>
                <a:ea typeface="Microsoft YaHei"/>
              </a:rPr>
              <a:t>⑤ Finish and persist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753356" y="2670048"/>
            <a:ext cx="1597091" cy="1481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50" b="0">
                <a:solidFill>
                  <a:srgbClr val="5F708C"/>
                </a:solidFill>
                <a:latin typeface="Segoe UI"/>
                <a:ea typeface="Microsoft YaHei"/>
              </a:rPr>
              <a:t>runChatTurn() saves new session messages, emits completion, releases the backend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99516" y="4590288"/>
            <a:ext cx="3454298" cy="1627632"/>
          </a:xfrm>
          <a:prstGeom prst="roundRect">
            <a:avLst/>
          </a:prstGeom>
          <a:solidFill>
            <a:srgbClr val="E2E8F3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658368" y="4535424"/>
            <a:ext cx="3454298" cy="16276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58368" y="4535424"/>
            <a:ext cx="3454298" cy="54864"/>
          </a:xfrm>
          <a:prstGeom prst="rect">
            <a:avLst/>
          </a:prstGeom>
          <a:solidFill>
            <a:srgbClr val="7A57DE"/>
          </a:solidFill>
          <a:ln w="12700">
            <a:solidFill>
              <a:srgbClr val="7A5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32688" y="4809744"/>
            <a:ext cx="2905658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250" b="1">
                <a:solidFill>
                  <a:srgbClr val="0F2445"/>
                </a:solidFill>
                <a:latin typeface="Segoe UI"/>
                <a:ea typeface="Microsoft YaHei"/>
              </a:rPr>
              <a:t>Wire events are not the persistence layer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32688" y="5193792"/>
            <a:ext cx="290565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00" b="0">
                <a:solidFill>
                  <a:srgbClr val="5F708C"/>
                </a:solidFill>
                <a:latin typeface="Segoe UI"/>
                <a:ea typeface="Microsoft YaHei"/>
              </a:rPr>
              <a:t>What the client sees is a live view. The real session messages are written by the turn host after the loop has updated history.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409846" y="4590288"/>
            <a:ext cx="3454298" cy="1627632"/>
          </a:xfrm>
          <a:prstGeom prst="roundRect">
            <a:avLst/>
          </a:prstGeom>
          <a:solidFill>
            <a:srgbClr val="E2E8F3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4368698" y="4535424"/>
            <a:ext cx="3454298" cy="16276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368698" y="4535424"/>
            <a:ext cx="3454298" cy="54864"/>
          </a:xfrm>
          <a:prstGeom prst="rect">
            <a:avLst/>
          </a:prstGeom>
          <a:solidFill>
            <a:srgbClr val="17A673"/>
          </a:solidFill>
          <a:ln w="12700">
            <a:solidFill>
              <a:srgbClr val="17A6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643018" y="4809744"/>
            <a:ext cx="2905658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250" b="1">
                <a:solidFill>
                  <a:srgbClr val="0F2445"/>
                </a:solidFill>
                <a:latin typeface="Segoe UI"/>
                <a:ea typeface="Microsoft YaHei"/>
              </a:rPr>
              <a:t>One active turn per session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643018" y="5193792"/>
            <a:ext cx="290565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00" b="0">
                <a:solidFill>
                  <a:srgbClr val="5F708C"/>
                </a:solidFill>
                <a:latin typeface="Segoe UI"/>
                <a:ea typeface="Microsoft YaHei"/>
              </a:rPr>
              <a:t>The same transcript is never mutated concurrently. A second request queues or is rejected, so history cannot interleave.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120176" y="4590288"/>
            <a:ext cx="3454298" cy="1627632"/>
          </a:xfrm>
          <a:prstGeom prst="roundRect">
            <a:avLst/>
          </a:prstGeom>
          <a:solidFill>
            <a:srgbClr val="E2E8F3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8079028" y="4535424"/>
            <a:ext cx="3454298" cy="16276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8079028" y="4535424"/>
            <a:ext cx="3454298" cy="54864"/>
          </a:xfrm>
          <a:prstGeom prst="rect">
            <a:avLst/>
          </a:prstGeom>
          <a:solidFill>
            <a:srgbClr val="D64560"/>
          </a:solidFill>
          <a:ln w="12700">
            <a:solidFill>
              <a:srgbClr val="D645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353348" y="4809744"/>
            <a:ext cx="2905658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250" b="1">
                <a:solidFill>
                  <a:srgbClr val="0F2445"/>
                </a:solidFill>
                <a:latin typeface="Segoe UI"/>
                <a:ea typeface="Microsoft YaHei"/>
              </a:rPr>
              <a:t>Remote resolution fails closed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353348" y="5193792"/>
            <a:ext cx="290565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00" b="0">
                <a:solidFill>
                  <a:srgbClr val="5F708C"/>
                </a:solidFill>
                <a:latin typeface="Segoe UI"/>
                <a:ea typeface="Microsoft YaHei"/>
              </a:rPr>
              <a:t>When the requested remote workspace is unavailable, preparation throws instead of running file and shell work on the control machine.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58368" y="365760"/>
            <a:ext cx="329184" cy="329184"/>
          </a:xfrm>
          <a:prstGeom prst="ellipse">
            <a:avLst/>
          </a:prstGeom>
          <a:solidFill>
            <a:srgbClr val="2757E8"/>
          </a:solidFill>
          <a:ln w="12700">
            <a:solidFill>
              <a:srgbClr val="2757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65760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Segoe UI"/>
                <a:ea typeface="Microsoft YaHei"/>
              </a:rPr>
              <a:t>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74904"/>
            <a:ext cx="219456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1">
                <a:solidFill>
                  <a:srgbClr val="0F2445"/>
                </a:solidFill>
                <a:latin typeface="Segoe UI"/>
                <a:ea typeface="Microsoft YaHei"/>
              </a:rPr>
              <a:t>CODING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12687" y="374904"/>
            <a:ext cx="45720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2000"/>
              </a:lnSpc>
              <a:spcAft>
                <a:spcPts val="0"/>
              </a:spcAft>
            </a:pPr>
            <a:r>
              <a:rPr sz="1000" b="0">
                <a:solidFill>
                  <a:srgbClr val="5F708C"/>
                </a:solidFill>
                <a:latin typeface="Segoe UI"/>
                <a:ea typeface="Microsoft YaHei"/>
              </a:rPr>
              <a:t>SECTION 02 ·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76127" y="374904"/>
            <a:ext cx="4572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2000"/>
              </a:lnSpc>
              <a:spcAft>
                <a:spcPts val="0"/>
              </a:spcAft>
            </a:pPr>
            <a:r>
              <a:rPr sz="1000" b="1">
                <a:solidFill>
                  <a:srgbClr val="92A0B8"/>
                </a:solidFill>
                <a:latin typeface="Segoe UI"/>
                <a:ea typeface="Microsoft YaHei"/>
              </a:rPr>
              <a:t>15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6382512"/>
            <a:ext cx="10874959" cy="10972"/>
          </a:xfrm>
          <a:prstGeom prst="rect">
            <a:avLst/>
          </a:prstGeom>
          <a:solidFill>
            <a:srgbClr val="D8E0EE"/>
          </a:solidFill>
          <a:ln w="12700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914400"/>
            <a:ext cx="10874959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1">
                <a:solidFill>
                  <a:srgbClr val="17A673"/>
                </a:solidFill>
                <a:latin typeface="Segoe UI"/>
                <a:ea typeface="Microsoft YaHei"/>
              </a:rPr>
              <a:t>AGENT LOOP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197864"/>
            <a:ext cx="402336" cy="41148"/>
          </a:xfrm>
          <a:prstGeom prst="rect">
            <a:avLst/>
          </a:prstGeom>
          <a:solidFill>
            <a:srgbClr val="17A673"/>
          </a:solidFill>
          <a:ln w="12700">
            <a:solidFill>
              <a:srgbClr val="17A6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1316736"/>
            <a:ext cx="1087495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2500" b="1">
                <a:solidFill>
                  <a:srgbClr val="0F2445"/>
                </a:solidFill>
                <a:latin typeface="Segoe UI"/>
                <a:ea typeface="Microsoft YaHei"/>
              </a:rPr>
              <a:t>The agent is not one model call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819656"/>
            <a:ext cx="10874959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200" b="0">
                <a:solidFill>
                  <a:srgbClr val="5F708C"/>
                </a:solidFill>
                <a:latin typeface="Segoe UI"/>
                <a:ea typeface="Microsoft YaHei"/>
              </a:rPr>
              <a:t>The model only proposes; the loop decides whether to continue.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4944" y="2532887"/>
            <a:ext cx="2048256" cy="859536"/>
          </a:xfrm>
          <a:prstGeom prst="roundRect">
            <a:avLst/>
          </a:prstGeom>
          <a:solidFill>
            <a:srgbClr val="E2E8F3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58368" y="2487168"/>
            <a:ext cx="2048256" cy="859536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7A5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8096" y="2615184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1200" b="1">
                <a:solidFill>
                  <a:srgbClr val="0F2445"/>
                </a:solidFill>
                <a:latin typeface="Segoe UI"/>
                <a:ea typeface="Microsoft YaHei"/>
              </a:rPr>
              <a:t>preTurn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" y="2889503"/>
            <a:ext cx="1792224" cy="3474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880" b="0">
                <a:solidFill>
                  <a:srgbClr val="5F708C"/>
                </a:solidFill>
                <a:latin typeface="Segoe UI"/>
                <a:ea typeface="Microsoft YaHei"/>
              </a:rPr>
              <a:t>Trim to the latest compact boundary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28415" y="2532887"/>
            <a:ext cx="2048256" cy="859536"/>
          </a:xfrm>
          <a:prstGeom prst="roundRect">
            <a:avLst/>
          </a:prstGeom>
          <a:solidFill>
            <a:srgbClr val="E2E8F3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291839" y="2487168"/>
            <a:ext cx="2048256" cy="859536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757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01568" y="2615184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1200" b="1">
                <a:solidFill>
                  <a:srgbClr val="0F2445"/>
                </a:solidFill>
                <a:latin typeface="Segoe UI"/>
                <a:ea typeface="Microsoft YaHei"/>
              </a:rPr>
              <a:t>runStep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19856" y="2889503"/>
            <a:ext cx="1792224" cy="3474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880" b="0">
                <a:solidFill>
                  <a:srgbClr val="5F708C"/>
                </a:solidFill>
                <a:latin typeface="Segoe UI"/>
                <a:ea typeface="Microsoft YaHei"/>
              </a:rPr>
              <a:t>Stream the model, run safe tools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761488" y="2916935"/>
            <a:ext cx="457199" cy="0"/>
          </a:xfrm>
          <a:prstGeom prst="line">
            <a:avLst/>
          </a:prstGeom>
          <a:ln w="19050">
            <a:solidFill>
              <a:srgbClr val="92A0B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961888" y="2532887"/>
            <a:ext cx="2048256" cy="859536"/>
          </a:xfrm>
          <a:prstGeom prst="roundRect">
            <a:avLst/>
          </a:prstGeom>
          <a:solidFill>
            <a:srgbClr val="E2E8F3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925312" y="2487168"/>
            <a:ext cx="2048256" cy="859536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7A6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35040" y="2615184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1200" b="1">
                <a:solidFill>
                  <a:srgbClr val="0F2445"/>
                </a:solidFill>
                <a:latin typeface="Segoe UI"/>
                <a:ea typeface="Microsoft YaHei"/>
              </a:rPr>
              <a:t>postTurn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53327" y="2889503"/>
            <a:ext cx="1792224" cy="3474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880" b="0">
                <a:solidFill>
                  <a:srgbClr val="5F708C"/>
                </a:solidFill>
                <a:latin typeface="Segoe UI"/>
                <a:ea typeface="Microsoft YaHei"/>
              </a:rPr>
              <a:t>Attach memory, activate new tools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394959" y="2916935"/>
            <a:ext cx="457200" cy="0"/>
          </a:xfrm>
          <a:prstGeom prst="line">
            <a:avLst/>
          </a:prstGeom>
          <a:ln w="19050">
            <a:solidFill>
              <a:srgbClr val="92A0B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6949440" y="3346703"/>
            <a:ext cx="0" cy="329184"/>
          </a:xfrm>
          <a:prstGeom prst="line">
            <a:avLst/>
          </a:prstGeom>
          <a:ln w="19050">
            <a:solidFill>
              <a:srgbClr val="92A0B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Diamond 26"/>
          <p:cNvSpPr/>
          <p:nvPr/>
        </p:nvSpPr>
        <p:spPr>
          <a:xfrm>
            <a:off x="5806440" y="3675887"/>
            <a:ext cx="2286000" cy="877824"/>
          </a:xfrm>
          <a:prstGeom prst="diamond">
            <a:avLst/>
          </a:prstGeom>
          <a:solidFill>
            <a:srgbClr val="FFFFFF"/>
          </a:solidFill>
          <a:ln w="15875">
            <a:solidFill>
              <a:srgbClr val="D68A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95059" y="3675887"/>
            <a:ext cx="1508760" cy="8778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950" b="1">
                <a:solidFill>
                  <a:srgbClr val="0F2445"/>
                </a:solidFill>
                <a:latin typeface="Segoe UI"/>
                <a:ea typeface="Microsoft YaHei"/>
              </a:rPr>
              <a:t>Any tool calls?</a:t>
            </a:r>
          </a:p>
        </p:txBody>
      </p:sp>
      <p:cxnSp>
        <p:nvCxnSpPr>
          <p:cNvPr id="29" name="Connector 28"/>
          <p:cNvCxnSpPr/>
          <p:nvPr/>
        </p:nvCxnSpPr>
        <p:spPr>
          <a:xfrm flipH="1">
            <a:off x="1682496" y="4114800"/>
            <a:ext cx="4123944" cy="0"/>
          </a:xfrm>
          <a:prstGeom prst="line">
            <a:avLst/>
          </a:prstGeom>
          <a:ln w="19050">
            <a:solidFill>
              <a:srgbClr val="17A67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1682496" y="3346703"/>
            <a:ext cx="0" cy="768097"/>
          </a:xfrm>
          <a:prstGeom prst="line">
            <a:avLst/>
          </a:prstGeom>
          <a:ln w="19050">
            <a:solidFill>
              <a:srgbClr val="17A67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2875787" y="3995928"/>
            <a:ext cx="1737360" cy="237744"/>
          </a:xfrm>
          <a:prstGeom prst="rect">
            <a:avLst/>
          </a:prstGeom>
          <a:solidFill>
            <a:srgbClr val="F6F8FC"/>
          </a:solidFill>
          <a:ln w="12700">
            <a:solidFill>
              <a:srgbClr val="F6F8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875787" y="3995928"/>
            <a:ext cx="173736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950" b="1">
                <a:solidFill>
                  <a:srgbClr val="17A673"/>
                </a:solidFill>
                <a:latin typeface="Segoe UI"/>
                <a:ea typeface="Microsoft YaHei"/>
              </a:rPr>
              <a:t>Yes → back to preTurn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949440" y="4553712"/>
            <a:ext cx="0" cy="219456"/>
          </a:xfrm>
          <a:prstGeom prst="line">
            <a:avLst/>
          </a:prstGeom>
          <a:ln w="19050">
            <a:solidFill>
              <a:srgbClr val="92A0B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7040879" y="4535424"/>
            <a:ext cx="64008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900" b="1">
                <a:solidFill>
                  <a:srgbClr val="5F708C"/>
                </a:solidFill>
                <a:latin typeface="Segoe UI"/>
                <a:ea typeface="Microsoft YaHei"/>
              </a:rPr>
              <a:t>No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925312" y="4773168"/>
            <a:ext cx="2048256" cy="7315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645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035040" y="4901183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1150" b="1">
                <a:solidFill>
                  <a:srgbClr val="0F2445"/>
                </a:solidFill>
                <a:latin typeface="Segoe UI"/>
                <a:ea typeface="Microsoft YaHei"/>
              </a:rPr>
              <a:t>Turn complete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053327" y="5175504"/>
            <a:ext cx="179222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880" b="0">
                <a:solidFill>
                  <a:srgbClr val="5F708C"/>
                </a:solidFill>
                <a:latin typeface="Segoe UI"/>
                <a:ea typeface="Microsoft YaHei"/>
              </a:rPr>
              <a:t>Persist, emit completion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252460" y="2304288"/>
            <a:ext cx="3322015" cy="975360"/>
          </a:xfrm>
          <a:prstGeom prst="roundRect">
            <a:avLst/>
          </a:prstGeom>
          <a:solidFill>
            <a:srgbClr val="E2E8F3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8211312" y="2249424"/>
            <a:ext cx="3322015" cy="975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211312" y="2377440"/>
            <a:ext cx="54864" cy="719328"/>
          </a:xfrm>
          <a:prstGeom prst="rect">
            <a:avLst/>
          </a:prstGeom>
          <a:solidFill>
            <a:srgbClr val="7A57DE"/>
          </a:solidFill>
          <a:ln w="12700">
            <a:solidFill>
              <a:srgbClr val="7A5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449056" y="2359152"/>
            <a:ext cx="2864815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200" b="1">
                <a:solidFill>
                  <a:srgbClr val="0F2445"/>
                </a:solidFill>
                <a:latin typeface="Segoe UI"/>
                <a:ea typeface="Microsoft YaHei"/>
              </a:rPr>
              <a:t>runChatTurn()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49056" y="2670048"/>
            <a:ext cx="2864815" cy="4450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Aft>
                <a:spcPts val="250"/>
              </a:spcAft>
            </a:pPr>
            <a:r>
              <a:rPr sz="900" b="0">
                <a:solidFill>
                  <a:srgbClr val="5F708C"/>
                </a:solidFill>
                <a:latin typeface="Segoe UI"/>
                <a:ea typeface="Microsoft YaHei"/>
              </a:rPr>
              <a:t>· Turn-scoped settings, middleware, aborts</a:t>
            </a:r>
          </a:p>
          <a:p>
            <a:pPr algn="l">
              <a:lnSpc>
                <a:spcPct val="126000"/>
              </a:lnSpc>
              <a:spcAft>
                <a:spcPts val="250"/>
              </a:spcAft>
            </a:pPr>
            <a:r>
              <a:rPr sz="900" b="0">
                <a:solidFill>
                  <a:srgbClr val="5F708C"/>
                </a:solidFill>
                <a:latin typeface="Segoe UI"/>
                <a:ea typeface="Microsoft YaHei"/>
              </a:rPr>
              <a:t>· Memory recall before, extraction after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252460" y="3444240"/>
            <a:ext cx="3322015" cy="975360"/>
          </a:xfrm>
          <a:prstGeom prst="roundRect">
            <a:avLst/>
          </a:prstGeom>
          <a:solidFill>
            <a:srgbClr val="E2E8F3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8211312" y="3389376"/>
            <a:ext cx="3322015" cy="975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211312" y="3517392"/>
            <a:ext cx="54864" cy="719328"/>
          </a:xfrm>
          <a:prstGeom prst="rect">
            <a:avLst/>
          </a:prstGeom>
          <a:solidFill>
            <a:srgbClr val="2757E8"/>
          </a:solidFill>
          <a:ln w="12700">
            <a:solidFill>
              <a:srgbClr val="2757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449056" y="3499104"/>
            <a:ext cx="2864815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200" b="1">
                <a:solidFill>
                  <a:srgbClr val="0F2445"/>
                </a:solidFill>
                <a:latin typeface="Segoe UI"/>
                <a:ea typeface="Microsoft YaHei"/>
              </a:rPr>
              <a:t>query()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49056" y="3810000"/>
            <a:ext cx="2864815" cy="4450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Aft>
                <a:spcPts val="250"/>
              </a:spcAft>
            </a:pPr>
            <a:r>
              <a:rPr sz="900" b="0">
                <a:solidFill>
                  <a:srgbClr val="5F708C"/>
                </a:solidFill>
                <a:latin typeface="Segoe UI"/>
                <a:ea typeface="Microsoft YaHei"/>
              </a:rPr>
              <a:t>· Owns the loop counter and active tool set</a:t>
            </a:r>
          </a:p>
          <a:p>
            <a:pPr algn="l">
              <a:lnSpc>
                <a:spcPct val="126000"/>
              </a:lnSpc>
              <a:spcAft>
                <a:spcPts val="250"/>
              </a:spcAft>
            </a:pPr>
            <a:r>
              <a:rPr sz="900" b="0">
                <a:solidFill>
                  <a:srgbClr val="5F708C"/>
                </a:solidFill>
                <a:latin typeface="Segoe UI"/>
                <a:ea typeface="Microsoft YaHei"/>
              </a:rPr>
              <a:t>· At maxSteps, tools off and one final answer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252460" y="4584191"/>
            <a:ext cx="3322015" cy="975360"/>
          </a:xfrm>
          <a:prstGeom prst="roundRect">
            <a:avLst/>
          </a:prstGeom>
          <a:solidFill>
            <a:srgbClr val="E2E8F3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8211312" y="4529328"/>
            <a:ext cx="3322015" cy="975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211312" y="4657344"/>
            <a:ext cx="54864" cy="719328"/>
          </a:xfrm>
          <a:prstGeom prst="rect">
            <a:avLst/>
          </a:prstGeom>
          <a:solidFill>
            <a:srgbClr val="17A673"/>
          </a:solidFill>
          <a:ln w="12700">
            <a:solidFill>
              <a:srgbClr val="17A6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449056" y="4639056"/>
            <a:ext cx="2864815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200" b="1">
                <a:solidFill>
                  <a:srgbClr val="0F2445"/>
                </a:solidFill>
                <a:latin typeface="Segoe UI"/>
                <a:ea typeface="Microsoft YaHei"/>
              </a:rPr>
              <a:t>runStep()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449056" y="4949952"/>
            <a:ext cx="2864815" cy="4450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Aft>
                <a:spcPts val="250"/>
              </a:spcAft>
            </a:pPr>
            <a:r>
              <a:rPr sz="900" b="0">
                <a:solidFill>
                  <a:srgbClr val="5F708C"/>
                </a:solidFill>
                <a:latin typeface="Segoe UI"/>
                <a:ea typeface="Microsoft YaHei"/>
              </a:rPr>
              <a:t>· Normalize → streamText() → consume</a:t>
            </a:r>
          </a:p>
          <a:p>
            <a:pPr algn="l">
              <a:lnSpc>
                <a:spcPct val="126000"/>
              </a:lnSpc>
              <a:spcAft>
                <a:spcPts val="250"/>
              </a:spcAft>
            </a:pPr>
            <a:r>
              <a:rPr sz="900" b="0">
                <a:solidFill>
                  <a:srgbClr val="5F708C"/>
                </a:solidFill>
                <a:latin typeface="Segoe UI"/>
                <a:ea typeface="Microsoft YaHei"/>
              </a:rPr>
              <a:t>· Tool calls queue as blocks arrive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58368" y="5687568"/>
            <a:ext cx="10874959" cy="475488"/>
          </a:xfrm>
          <a:prstGeom prst="roundRect">
            <a:avLst/>
          </a:prstGeom>
          <a:solidFill>
            <a:srgbClr val="ECF1FA"/>
          </a:solidFill>
          <a:ln w="12700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58368" y="5815583"/>
            <a:ext cx="54864" cy="219456"/>
          </a:xfrm>
          <a:prstGeom prst="rect">
            <a:avLst/>
          </a:prstGeom>
          <a:solidFill>
            <a:srgbClr val="D68A22"/>
          </a:solidFill>
          <a:ln w="12700">
            <a:solidFill>
              <a:srgbClr val="D68A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96112" y="5687568"/>
            <a:ext cx="10417759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>
                <a:solidFill>
                  <a:srgbClr val="0F2445"/>
                </a:solidFill>
                <a:latin typeface="Segoe UI"/>
                <a:ea typeface="Microsoft YaHei"/>
              </a:rPr>
              <a:t>One detail: after an approved plan, a response with no tool calls can be overridden once with a reminder that forces a real implementation step.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58368" y="365760"/>
            <a:ext cx="329184" cy="329184"/>
          </a:xfrm>
          <a:prstGeom prst="ellipse">
            <a:avLst/>
          </a:prstGeom>
          <a:solidFill>
            <a:srgbClr val="2757E8"/>
          </a:solidFill>
          <a:ln w="12700">
            <a:solidFill>
              <a:srgbClr val="2757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65760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Segoe UI"/>
                <a:ea typeface="Microsoft YaHei"/>
              </a:rPr>
              <a:t>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74904"/>
            <a:ext cx="219456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1">
                <a:solidFill>
                  <a:srgbClr val="0F2445"/>
                </a:solidFill>
                <a:latin typeface="Segoe UI"/>
                <a:ea typeface="Microsoft YaHei"/>
              </a:rPr>
              <a:t>CODING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12687" y="374904"/>
            <a:ext cx="45720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2000"/>
              </a:lnSpc>
              <a:spcAft>
                <a:spcPts val="0"/>
              </a:spcAft>
            </a:pPr>
            <a:r>
              <a:rPr sz="1000" b="0">
                <a:solidFill>
                  <a:srgbClr val="5F708C"/>
                </a:solidFill>
                <a:latin typeface="Segoe UI"/>
                <a:ea typeface="Microsoft YaHei"/>
              </a:rPr>
              <a:t>SECTION 02 ·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76127" y="374904"/>
            <a:ext cx="4572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2000"/>
              </a:lnSpc>
              <a:spcAft>
                <a:spcPts val="0"/>
              </a:spcAft>
            </a:pPr>
            <a:r>
              <a:rPr sz="1000" b="1">
                <a:solidFill>
                  <a:srgbClr val="92A0B8"/>
                </a:solidFill>
                <a:latin typeface="Segoe UI"/>
                <a:ea typeface="Microsoft YaHei"/>
              </a:rPr>
              <a:t>16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6382512"/>
            <a:ext cx="10874959" cy="10972"/>
          </a:xfrm>
          <a:prstGeom prst="rect">
            <a:avLst/>
          </a:prstGeom>
          <a:solidFill>
            <a:srgbClr val="D8E0EE"/>
          </a:solidFill>
          <a:ln w="12700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914400"/>
            <a:ext cx="10874959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1">
                <a:solidFill>
                  <a:srgbClr val="D68A22"/>
                </a:solidFill>
                <a:latin typeface="Segoe UI"/>
                <a:ea typeface="Microsoft YaHei"/>
              </a:rPr>
              <a:t>TOOL PIPELINE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197864"/>
            <a:ext cx="402336" cy="41148"/>
          </a:xfrm>
          <a:prstGeom prst="rect">
            <a:avLst/>
          </a:prstGeom>
          <a:solidFill>
            <a:srgbClr val="D68A22"/>
          </a:solidFill>
          <a:ln w="12700">
            <a:solidFill>
              <a:srgbClr val="D68A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1316736"/>
            <a:ext cx="1087495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2500" b="1">
                <a:solidFill>
                  <a:srgbClr val="0F2445"/>
                </a:solidFill>
                <a:latin typeface="Segoe UI"/>
                <a:ea typeface="Microsoft YaHei"/>
              </a:rPr>
              <a:t>Six gates between the registry and the model's result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819656"/>
            <a:ext cx="10874959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200" b="0">
                <a:solidFill>
                  <a:srgbClr val="5F708C"/>
                </a:solidFill>
                <a:latin typeface="Segoe UI"/>
                <a:ea typeface="Microsoft YaHei"/>
              </a:rPr>
              <a:t>The runtime decides what is visible, what is allowed, how it runs, and what each audience sees.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9516" y="2414016"/>
            <a:ext cx="1660093" cy="1481328"/>
          </a:xfrm>
          <a:prstGeom prst="roundRect">
            <a:avLst/>
          </a:prstGeom>
          <a:solidFill>
            <a:srgbClr val="E2E8F3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58368" y="2359152"/>
            <a:ext cx="1660093" cy="1481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" y="2359152"/>
            <a:ext cx="1660093" cy="54864"/>
          </a:xfrm>
          <a:prstGeom prst="rect">
            <a:avLst/>
          </a:prstGeom>
          <a:solidFill>
            <a:srgbClr val="2757E8"/>
          </a:solidFill>
          <a:ln w="12700">
            <a:solidFill>
              <a:srgbClr val="2757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" y="2523744"/>
            <a:ext cx="1440637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850" b="1">
                <a:solidFill>
                  <a:srgbClr val="2757E8"/>
                </a:solidFill>
                <a:latin typeface="Segoe UI"/>
                <a:ea typeface="Microsoft YaHei"/>
              </a:rPr>
              <a:t>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" y="2706624"/>
            <a:ext cx="1440637" cy="10241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1200" b="1">
                <a:solidFill>
                  <a:srgbClr val="0F2445"/>
                </a:solidFill>
                <a:latin typeface="Segoe UI"/>
                <a:ea typeface="Microsoft YaHei"/>
              </a:rPr>
              <a:t>Sources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" y="4005072"/>
            <a:ext cx="1440637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880" b="0">
                <a:solidFill>
                  <a:srgbClr val="5F708C"/>
                </a:solidFill>
                <a:latin typeface="Segoe UI"/>
                <a:ea typeface="Microsoft YaHei"/>
              </a:rPr>
              <a:t>Built-in registry, per-turn skill and subagent tools, external MCP tools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542489" y="2478024"/>
            <a:ext cx="1660093" cy="1353312"/>
          </a:xfrm>
          <a:prstGeom prst="roundRect">
            <a:avLst/>
          </a:prstGeom>
          <a:solidFill>
            <a:srgbClr val="E2E8F3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2501341" y="2423160"/>
            <a:ext cx="1660093" cy="1353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501341" y="2423160"/>
            <a:ext cx="1660093" cy="54864"/>
          </a:xfrm>
          <a:prstGeom prst="rect">
            <a:avLst/>
          </a:prstGeom>
          <a:solidFill>
            <a:srgbClr val="12B5C4"/>
          </a:solidFill>
          <a:ln w="12700">
            <a:solidFill>
              <a:srgbClr val="12B5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611069" y="2587752"/>
            <a:ext cx="1440637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850" b="1">
                <a:solidFill>
                  <a:srgbClr val="12B5C4"/>
                </a:solidFill>
                <a:latin typeface="Segoe UI"/>
                <a:ea typeface="Microsoft YaHei"/>
              </a:rPr>
              <a:t>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11069" y="2770632"/>
            <a:ext cx="1440637" cy="8961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1200" b="1">
                <a:solidFill>
                  <a:srgbClr val="0F2445"/>
                </a:solidFill>
                <a:latin typeface="Segoe UI"/>
                <a:ea typeface="Microsoft YaHei"/>
              </a:rPr>
              <a:t>Assembly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11069" y="4005072"/>
            <a:ext cx="1440637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880" b="0">
                <a:solidFill>
                  <a:srgbClr val="5F708C"/>
                </a:solidFill>
                <a:latin typeface="Segoe UI"/>
                <a:ea typeface="Microsoft YaHei"/>
              </a:rPr>
              <a:t>assembleToolPool() splits everything into active and deferred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2336749" y="3099816"/>
            <a:ext cx="137160" cy="0"/>
          </a:xfrm>
          <a:prstGeom prst="line">
            <a:avLst/>
          </a:prstGeom>
          <a:ln w="15875">
            <a:solidFill>
              <a:srgbClr val="92A0B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4385462" y="2542032"/>
            <a:ext cx="1660093" cy="1225296"/>
          </a:xfrm>
          <a:prstGeom prst="roundRect">
            <a:avLst/>
          </a:prstGeom>
          <a:solidFill>
            <a:srgbClr val="E2E8F3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344314" y="2487168"/>
            <a:ext cx="1660093" cy="12252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344314" y="2487168"/>
            <a:ext cx="1660093" cy="54864"/>
          </a:xfrm>
          <a:prstGeom prst="rect">
            <a:avLst/>
          </a:prstGeom>
          <a:solidFill>
            <a:srgbClr val="17A673"/>
          </a:solidFill>
          <a:ln w="12700">
            <a:solidFill>
              <a:srgbClr val="17A6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54042" y="2651760"/>
            <a:ext cx="1440637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850" b="1">
                <a:solidFill>
                  <a:srgbClr val="17A673"/>
                </a:solidFill>
                <a:latin typeface="Segoe UI"/>
                <a:ea typeface="Microsoft YaHei"/>
              </a:rPr>
              <a:t>03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54042" y="2834640"/>
            <a:ext cx="1440637" cy="7680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1200" b="1">
                <a:solidFill>
                  <a:srgbClr val="0F2445"/>
                </a:solidFill>
                <a:latin typeface="Segoe UI"/>
                <a:ea typeface="Microsoft YaHei"/>
              </a:rPr>
              <a:t>Narrowing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54042" y="4005072"/>
            <a:ext cx="1440637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880" b="0">
                <a:solidFill>
                  <a:srgbClr val="5F708C"/>
                </a:solidFill>
                <a:latin typeface="Segoe UI"/>
                <a:ea typeface="Microsoft YaHei"/>
              </a:rPr>
              <a:t>Enablement, primary-agent allow/deny, browser policy, current mode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4179722" y="3099816"/>
            <a:ext cx="137160" cy="0"/>
          </a:xfrm>
          <a:prstGeom prst="line">
            <a:avLst/>
          </a:prstGeom>
          <a:ln w="15875">
            <a:solidFill>
              <a:srgbClr val="92A0B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6228435" y="2606040"/>
            <a:ext cx="1660093" cy="1097280"/>
          </a:xfrm>
          <a:prstGeom prst="roundRect">
            <a:avLst/>
          </a:prstGeom>
          <a:solidFill>
            <a:srgbClr val="E2E8F3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187287" y="2551176"/>
            <a:ext cx="1660093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187287" y="2551176"/>
            <a:ext cx="1660093" cy="54864"/>
          </a:xfrm>
          <a:prstGeom prst="rect">
            <a:avLst/>
          </a:prstGeom>
          <a:solidFill>
            <a:srgbClr val="D68A22"/>
          </a:solidFill>
          <a:ln w="12700">
            <a:solidFill>
              <a:srgbClr val="D68A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97015" y="2715768"/>
            <a:ext cx="1440637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850" b="1">
                <a:solidFill>
                  <a:srgbClr val="D68A22"/>
                </a:solidFill>
                <a:latin typeface="Segoe UI"/>
                <a:ea typeface="Microsoft YaHei"/>
              </a:rPr>
              <a:t>04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97015" y="2898648"/>
            <a:ext cx="1440637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1200" b="1">
                <a:solidFill>
                  <a:srgbClr val="0F2445"/>
                </a:solidFill>
                <a:latin typeface="Segoe UI"/>
                <a:ea typeface="Microsoft YaHei"/>
              </a:rPr>
              <a:t>Queueing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97015" y="4005072"/>
            <a:ext cx="1440637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880" b="0">
                <a:solidFill>
                  <a:srgbClr val="5F708C"/>
                </a:solidFill>
                <a:latin typeface="Segoe UI"/>
                <a:ea typeface="Microsoft YaHei"/>
              </a:rPr>
              <a:t>StreamingToolExecutor decides serial or parallel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6022695" y="3099816"/>
            <a:ext cx="137160" cy="0"/>
          </a:xfrm>
          <a:prstGeom prst="line">
            <a:avLst/>
          </a:prstGeom>
          <a:ln w="15875">
            <a:solidFill>
              <a:srgbClr val="92A0B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8071408" y="2670048"/>
            <a:ext cx="1660093" cy="969264"/>
          </a:xfrm>
          <a:prstGeom prst="roundRect">
            <a:avLst/>
          </a:prstGeom>
          <a:solidFill>
            <a:srgbClr val="E2E8F3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8030260" y="2615184"/>
            <a:ext cx="1660093" cy="9692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030260" y="2615184"/>
            <a:ext cx="1660093" cy="54864"/>
          </a:xfrm>
          <a:prstGeom prst="rect">
            <a:avLst/>
          </a:prstGeom>
          <a:solidFill>
            <a:srgbClr val="D64560"/>
          </a:solidFill>
          <a:ln w="12700">
            <a:solidFill>
              <a:srgbClr val="D645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139988" y="2779776"/>
            <a:ext cx="1440637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850" b="1">
                <a:solidFill>
                  <a:srgbClr val="D64560"/>
                </a:solidFill>
                <a:latin typeface="Segoe UI"/>
                <a:ea typeface="Microsoft YaHei"/>
              </a:rPr>
              <a:t>05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39988" y="2962656"/>
            <a:ext cx="1440637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1200" b="1">
                <a:solidFill>
                  <a:srgbClr val="0F2445"/>
                </a:solidFill>
                <a:latin typeface="Segoe UI"/>
                <a:ea typeface="Microsoft YaHei"/>
              </a:rPr>
              <a:t>Permission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39988" y="4005072"/>
            <a:ext cx="1440637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880" b="0">
                <a:solidFill>
                  <a:srgbClr val="5F708C"/>
                </a:solidFill>
                <a:latin typeface="Segoe UI"/>
                <a:ea typeface="Microsoft YaHei"/>
              </a:rPr>
              <a:t>canUseTool allows, denies, or waits right before execution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7865668" y="3099816"/>
            <a:ext cx="137160" cy="0"/>
          </a:xfrm>
          <a:prstGeom prst="line">
            <a:avLst/>
          </a:prstGeom>
          <a:ln w="15875">
            <a:solidFill>
              <a:srgbClr val="92A0B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ounded Rectangle 45"/>
          <p:cNvSpPr/>
          <p:nvPr/>
        </p:nvSpPr>
        <p:spPr>
          <a:xfrm>
            <a:off x="9914382" y="2734056"/>
            <a:ext cx="1660093" cy="841248"/>
          </a:xfrm>
          <a:prstGeom prst="roundRect">
            <a:avLst/>
          </a:prstGeom>
          <a:solidFill>
            <a:srgbClr val="E2E8F3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9873234" y="2679192"/>
            <a:ext cx="1660093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9873234" y="2679192"/>
            <a:ext cx="1660093" cy="54864"/>
          </a:xfrm>
          <a:prstGeom prst="rect">
            <a:avLst/>
          </a:prstGeom>
          <a:solidFill>
            <a:srgbClr val="7A57DE"/>
          </a:solidFill>
          <a:ln w="12700">
            <a:solidFill>
              <a:srgbClr val="7A5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982962" y="2843784"/>
            <a:ext cx="1440637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850" b="1">
                <a:solidFill>
                  <a:srgbClr val="7A57DE"/>
                </a:solidFill>
                <a:latin typeface="Segoe UI"/>
                <a:ea typeface="Microsoft YaHei"/>
              </a:rPr>
              <a:t>06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982962" y="3026664"/>
            <a:ext cx="144063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1200" b="1">
                <a:solidFill>
                  <a:srgbClr val="0F2445"/>
                </a:solidFill>
                <a:latin typeface="Segoe UI"/>
                <a:ea typeface="Microsoft YaHei"/>
              </a:rPr>
              <a:t>Projections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982962" y="4005072"/>
            <a:ext cx="1440637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880" b="0">
                <a:solidFill>
                  <a:srgbClr val="5F708C"/>
                </a:solidFill>
                <a:latin typeface="Segoe UI"/>
                <a:ea typeface="Microsoft YaHei"/>
              </a:rPr>
              <a:t>The model gets bounded text; the wire also gets tool_use_result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9708642" y="3099816"/>
            <a:ext cx="137160" cy="0"/>
          </a:xfrm>
          <a:prstGeom prst="line">
            <a:avLst/>
          </a:prstGeom>
          <a:ln w="15875">
            <a:solidFill>
              <a:srgbClr val="92A0B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ounded Rectangle 52"/>
          <p:cNvSpPr/>
          <p:nvPr/>
        </p:nvSpPr>
        <p:spPr>
          <a:xfrm>
            <a:off x="699516" y="5010912"/>
            <a:ext cx="3454298" cy="1207008"/>
          </a:xfrm>
          <a:prstGeom prst="roundRect">
            <a:avLst/>
          </a:prstGeom>
          <a:solidFill>
            <a:srgbClr val="E2E8F3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658368" y="4956048"/>
            <a:ext cx="3454298" cy="12070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58368" y="5102352"/>
            <a:ext cx="54864" cy="914400"/>
          </a:xfrm>
          <a:prstGeom prst="rect">
            <a:avLst/>
          </a:prstGeom>
          <a:solidFill>
            <a:srgbClr val="2757E8"/>
          </a:solidFill>
          <a:ln w="12700">
            <a:solidFill>
              <a:srgbClr val="2757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14400" y="5084064"/>
            <a:ext cx="297881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50" b="1">
                <a:solidFill>
                  <a:srgbClr val="0F2445"/>
                </a:solidFill>
                <a:latin typeface="Segoe UI"/>
                <a:ea typeface="Microsoft YaHei"/>
              </a:rPr>
              <a:t>Deferred loading and ToolSearch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14400" y="5394960"/>
            <a:ext cx="297881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Aft>
                <a:spcPts val="300"/>
              </a:spcAft>
            </a:pPr>
            <a:r>
              <a:rPr sz="900" b="0">
                <a:solidFill>
                  <a:srgbClr val="5F708C"/>
                </a:solidFill>
                <a:latin typeface="Segoe UI"/>
                <a:ea typeface="Microsoft YaHei"/>
              </a:rPr>
              <a:t>· MCP tools are deferred and cost no prompt space</a:t>
            </a:r>
          </a:p>
          <a:p>
            <a:pPr algn="l">
              <a:lnSpc>
                <a:spcPct val="126000"/>
              </a:lnSpc>
              <a:spcAft>
                <a:spcPts val="300"/>
              </a:spcAft>
            </a:pPr>
            <a:r>
              <a:rPr sz="900" b="0">
                <a:solidFill>
                  <a:srgbClr val="5F708C"/>
                </a:solidFill>
                <a:latin typeface="Segoe UI"/>
                <a:ea typeface="Microsoft YaHei"/>
              </a:rPr>
              <a:t>· Search is discovery only; using it in the same batch fails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4409846" y="5010912"/>
            <a:ext cx="3454298" cy="1207008"/>
          </a:xfrm>
          <a:prstGeom prst="roundRect">
            <a:avLst/>
          </a:prstGeom>
          <a:solidFill>
            <a:srgbClr val="E2E8F3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4368698" y="4956048"/>
            <a:ext cx="3454298" cy="12070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4368698" y="5102352"/>
            <a:ext cx="54864" cy="914400"/>
          </a:xfrm>
          <a:prstGeom prst="rect">
            <a:avLst/>
          </a:prstGeom>
          <a:solidFill>
            <a:srgbClr val="17A673"/>
          </a:solidFill>
          <a:ln w="12700">
            <a:solidFill>
              <a:srgbClr val="17A6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624730" y="5084064"/>
            <a:ext cx="297881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50" b="1">
                <a:solidFill>
                  <a:srgbClr val="0F2445"/>
                </a:solidFill>
                <a:latin typeface="Segoe UI"/>
                <a:ea typeface="Microsoft YaHei"/>
              </a:rPr>
              <a:t>Concurrency policy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624730" y="5394960"/>
            <a:ext cx="297881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Aft>
                <a:spcPts val="300"/>
              </a:spcAft>
            </a:pPr>
            <a:r>
              <a:rPr sz="900" b="0">
                <a:solidFill>
                  <a:srgbClr val="5F708C"/>
                </a:solidFill>
                <a:latin typeface="Segoe UI"/>
                <a:ea typeface="Microsoft YaHei"/>
              </a:rPr>
              <a:t>· Parallel only when the input is known to be safe</a:t>
            </a:r>
          </a:p>
          <a:p>
            <a:pPr algn="l">
              <a:lnSpc>
                <a:spcPct val="126000"/>
              </a:lnSpc>
              <a:spcAft>
                <a:spcPts val="300"/>
              </a:spcAft>
            </a:pPr>
            <a:r>
              <a:rPr sz="900" b="0">
                <a:solidFill>
                  <a:srgbClr val="5F708C"/>
                </a:solidFill>
                <a:latin typeface="Segoe UI"/>
                <a:ea typeface="Microsoft YaHei"/>
              </a:rPr>
              <a:t>· A failed Bash cancels siblings in the same group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8120176" y="5010912"/>
            <a:ext cx="3454298" cy="1207008"/>
          </a:xfrm>
          <a:prstGeom prst="roundRect">
            <a:avLst/>
          </a:prstGeom>
          <a:solidFill>
            <a:srgbClr val="E2E8F3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8079028" y="4956048"/>
            <a:ext cx="3454298" cy="12070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8079028" y="5102352"/>
            <a:ext cx="54864" cy="914400"/>
          </a:xfrm>
          <a:prstGeom prst="rect">
            <a:avLst/>
          </a:prstGeom>
          <a:solidFill>
            <a:srgbClr val="D64560"/>
          </a:solidFill>
          <a:ln w="12700">
            <a:solidFill>
              <a:srgbClr val="D645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335060" y="5084064"/>
            <a:ext cx="297881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50" b="1">
                <a:solidFill>
                  <a:srgbClr val="0F2445"/>
                </a:solidFill>
                <a:latin typeface="Segoe UI"/>
                <a:ea typeface="Microsoft YaHei"/>
              </a:rPr>
              <a:t>Failures stay at the tool boundary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335060" y="5394960"/>
            <a:ext cx="297881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Aft>
                <a:spcPts val="300"/>
              </a:spcAft>
            </a:pPr>
            <a:r>
              <a:rPr sz="900" b="0">
                <a:solidFill>
                  <a:srgbClr val="5F708C"/>
                </a:solidFill>
                <a:latin typeface="Segoe UI"/>
                <a:ea typeface="Microsoft YaHei"/>
              </a:rPr>
              <a:t>· Unknown, denied, thrown, and timed out all become isError</a:t>
            </a:r>
          </a:p>
          <a:p>
            <a:pPr algn="l">
              <a:lnSpc>
                <a:spcPct val="126000"/>
              </a:lnSpc>
              <a:spcAft>
                <a:spcPts val="300"/>
              </a:spcAft>
            </a:pPr>
            <a:r>
              <a:rPr sz="900" b="0">
                <a:solidFill>
                  <a:srgbClr val="5F708C"/>
                </a:solidFill>
                <a:latin typeface="Segoe UI"/>
                <a:ea typeface="Microsoft YaHei"/>
              </a:rPr>
              <a:t>· The loop survives; both projections share one tool_use_id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58368" y="365760"/>
            <a:ext cx="329184" cy="329184"/>
          </a:xfrm>
          <a:prstGeom prst="ellipse">
            <a:avLst/>
          </a:prstGeom>
          <a:solidFill>
            <a:srgbClr val="2757E8"/>
          </a:solidFill>
          <a:ln w="12700">
            <a:solidFill>
              <a:srgbClr val="2757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65760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Segoe UI"/>
                <a:ea typeface="Microsoft YaHei"/>
              </a:rPr>
              <a:t>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74904"/>
            <a:ext cx="219456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1">
                <a:solidFill>
                  <a:srgbClr val="0F2445"/>
                </a:solidFill>
                <a:latin typeface="Segoe UI"/>
                <a:ea typeface="Microsoft YaHei"/>
              </a:rPr>
              <a:t>CODING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12687" y="374904"/>
            <a:ext cx="45720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2000"/>
              </a:lnSpc>
              <a:spcAft>
                <a:spcPts val="0"/>
              </a:spcAft>
            </a:pPr>
            <a:r>
              <a:rPr sz="1000" b="0">
                <a:solidFill>
                  <a:srgbClr val="5F708C"/>
                </a:solidFill>
                <a:latin typeface="Segoe UI"/>
                <a:ea typeface="Microsoft YaHei"/>
              </a:rPr>
              <a:t>SECTION 02 ·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76127" y="374904"/>
            <a:ext cx="4572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2000"/>
              </a:lnSpc>
              <a:spcAft>
                <a:spcPts val="0"/>
              </a:spcAft>
            </a:pPr>
            <a:r>
              <a:rPr sz="1000" b="1">
                <a:solidFill>
                  <a:srgbClr val="92A0B8"/>
                </a:solidFill>
                <a:latin typeface="Segoe UI"/>
                <a:ea typeface="Microsoft YaHei"/>
              </a:rPr>
              <a:t>17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6382512"/>
            <a:ext cx="10874959" cy="10972"/>
          </a:xfrm>
          <a:prstGeom prst="rect">
            <a:avLst/>
          </a:prstGeom>
          <a:solidFill>
            <a:srgbClr val="D8E0EE"/>
          </a:solidFill>
          <a:ln w="12700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914400"/>
            <a:ext cx="10874959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1">
                <a:solidFill>
                  <a:srgbClr val="D64560"/>
                </a:solidFill>
                <a:latin typeface="Segoe UI"/>
                <a:ea typeface="Microsoft YaHei"/>
              </a:rPr>
              <a:t>EXECUTION PLANE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197864"/>
            <a:ext cx="402336" cy="41148"/>
          </a:xfrm>
          <a:prstGeom prst="rect">
            <a:avLst/>
          </a:prstGeom>
          <a:solidFill>
            <a:srgbClr val="D64560"/>
          </a:solidFill>
          <a:ln w="12700">
            <a:solidFill>
              <a:srgbClr val="D645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1316736"/>
            <a:ext cx="1087495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2500" b="1">
                <a:solidFill>
                  <a:srgbClr val="0F2445"/>
                </a:solidFill>
                <a:latin typeface="Segoe UI"/>
                <a:ea typeface="Microsoft YaHei"/>
              </a:rPr>
              <a:t>Orchestration stays central, operations sit next to the files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819656"/>
            <a:ext cx="10874959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200" b="0">
                <a:solidFill>
                  <a:srgbClr val="5F708C"/>
                </a:solidFill>
                <a:latin typeface="Segoe UI"/>
                <a:ea typeface="Microsoft YaHei"/>
              </a:rPr>
              <a:t>Tools face a single ExecutionBackend; local and SSH expose exactly the same contract.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2322576"/>
            <a:ext cx="4160520" cy="2139696"/>
          </a:xfrm>
          <a:prstGeom prst="roundRect">
            <a:avLst/>
          </a:prstGeom>
          <a:solidFill>
            <a:srgbClr val="F2F5FE"/>
          </a:solidFill>
          <a:ln w="15875">
            <a:solidFill>
              <a:srgbClr val="2757E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2450592"/>
            <a:ext cx="3611879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200" b="1">
                <a:solidFill>
                  <a:srgbClr val="2757E8"/>
                </a:solidFill>
                <a:latin typeface="Segoe UI"/>
                <a:ea typeface="Microsoft YaHei"/>
              </a:rPr>
              <a:t>Control plane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72807" y="2322576"/>
            <a:ext cx="4160520" cy="2139696"/>
          </a:xfrm>
          <a:prstGeom prst="roundRect">
            <a:avLst/>
          </a:prstGeom>
          <a:solidFill>
            <a:srgbClr val="F1FAF7"/>
          </a:solidFill>
          <a:ln w="15875">
            <a:solidFill>
              <a:srgbClr val="17A67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47127" y="2450592"/>
            <a:ext cx="3611879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200" b="1">
                <a:solidFill>
                  <a:srgbClr val="17A673"/>
                </a:solidFill>
                <a:latin typeface="Segoe UI"/>
                <a:ea typeface="Microsoft YaHei"/>
              </a:rPr>
              <a:t>Execution plane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2834640"/>
            <a:ext cx="1732788" cy="5852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2889504"/>
            <a:ext cx="1549908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980" b="1">
                <a:solidFill>
                  <a:srgbClr val="0F2445"/>
                </a:solidFill>
                <a:latin typeface="Segoe UI"/>
                <a:ea typeface="Microsoft YaHei"/>
              </a:rPr>
              <a:t>Sessions &amp; models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7552" y="3108960"/>
            <a:ext cx="158648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819" b="0">
                <a:solidFill>
                  <a:srgbClr val="5F708C"/>
                </a:solidFill>
                <a:latin typeface="Segoe UI"/>
                <a:ea typeface="Microsoft YaHei"/>
              </a:rPr>
              <a:t>Orchestration and provider strategy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830068" y="2834640"/>
            <a:ext cx="1732788" cy="5852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921508" y="2889504"/>
            <a:ext cx="1549908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980" b="1">
                <a:solidFill>
                  <a:srgbClr val="0F2445"/>
                </a:solidFill>
                <a:latin typeface="Segoe UI"/>
                <a:ea typeface="Microsoft YaHei"/>
              </a:rPr>
              <a:t>Permissions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03220" y="3108960"/>
            <a:ext cx="158648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819" b="0">
                <a:solidFill>
                  <a:srgbClr val="5F708C"/>
                </a:solidFill>
                <a:latin typeface="Segoe UI"/>
                <a:ea typeface="Microsoft YaHei"/>
              </a:rPr>
              <a:t>Environment selection too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" y="3566160"/>
            <a:ext cx="1732788" cy="5852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3621024"/>
            <a:ext cx="1549908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980" b="1">
                <a:solidFill>
                  <a:srgbClr val="0F2445"/>
                </a:solidFill>
                <a:latin typeface="Segoe UI"/>
                <a:ea typeface="Microsoft YaHei"/>
              </a:rPr>
              <a:t>Worker lifecycle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7552" y="3840480"/>
            <a:ext cx="158648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819" b="0">
                <a:solidFill>
                  <a:srgbClr val="5F708C"/>
                </a:solidFill>
                <a:latin typeface="Segoe UI"/>
                <a:ea typeface="Microsoft YaHei"/>
              </a:rPr>
              <a:t>Start, health check, disposal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830068" y="3566160"/>
            <a:ext cx="1732788" cy="5852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921508" y="3621024"/>
            <a:ext cx="1549908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980" b="1">
                <a:solidFill>
                  <a:srgbClr val="0F2445"/>
                </a:solidFill>
                <a:latin typeface="Segoe UI"/>
                <a:ea typeface="Microsoft YaHei"/>
              </a:rPr>
              <a:t>RuntimeBroker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03220" y="3840480"/>
            <a:ext cx="158648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819" b="0">
                <a:solidFill>
                  <a:srgbClr val="5F708C"/>
                </a:solidFill>
                <a:latin typeface="Segoe UI"/>
                <a:ea typeface="Microsoft YaHei"/>
              </a:rPr>
              <a:t>Reuse by environmentId::cwd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628839" y="2834640"/>
            <a:ext cx="1732788" cy="5852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20279" y="2889504"/>
            <a:ext cx="1549908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980" b="1">
                <a:solidFill>
                  <a:srgbClr val="0F2445"/>
                </a:solidFill>
                <a:latin typeface="Segoe UI"/>
                <a:ea typeface="Microsoft YaHei"/>
              </a:rPr>
              <a:t>Filesystem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01991" y="3108960"/>
            <a:ext cx="158648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819" b="0">
                <a:solidFill>
                  <a:srgbClr val="5F708C"/>
                </a:solidFill>
                <a:latin typeface="Segoe UI"/>
                <a:ea typeface="Microsoft YaHei"/>
              </a:rPr>
              <a:t>Reads, writes, path checks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544507" y="2834640"/>
            <a:ext cx="1732788" cy="5852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35947" y="2889504"/>
            <a:ext cx="1549908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980" b="1">
                <a:solidFill>
                  <a:srgbClr val="0F2445"/>
                </a:solidFill>
                <a:latin typeface="Segoe UI"/>
                <a:ea typeface="Microsoft YaHei"/>
              </a:rPr>
              <a:t>Shell &amp; ripgrep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17659" y="3108960"/>
            <a:ext cx="158648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819" b="0">
                <a:solidFill>
                  <a:srgbClr val="5F708C"/>
                </a:solidFill>
                <a:latin typeface="Segoe UI"/>
                <a:ea typeface="Microsoft YaHei"/>
              </a:rPr>
              <a:t>Commands run next to the files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628839" y="3566160"/>
            <a:ext cx="1732788" cy="5852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720279" y="3621024"/>
            <a:ext cx="1549908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980" b="1">
                <a:solidFill>
                  <a:srgbClr val="0F2445"/>
                </a:solidFill>
                <a:latin typeface="Segoe UI"/>
                <a:ea typeface="Microsoft YaHei"/>
              </a:rPr>
              <a:t>Background work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01991" y="3840480"/>
            <a:ext cx="158648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819" b="0">
                <a:solidFill>
                  <a:srgbClr val="5F708C"/>
                </a:solidFill>
                <a:latin typeface="Segoe UI"/>
                <a:ea typeface="Microsoft YaHei"/>
              </a:rPr>
              <a:t>Long processes are hosted here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544507" y="3566160"/>
            <a:ext cx="1732788" cy="5852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35947" y="3621024"/>
            <a:ext cx="1549908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980" b="1">
                <a:solidFill>
                  <a:srgbClr val="0F2445"/>
                </a:solidFill>
                <a:latin typeface="Segoe UI"/>
                <a:ea typeface="Microsoft YaHei"/>
              </a:rPr>
              <a:t>Language servers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17659" y="3840480"/>
            <a:ext cx="158648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819" b="0">
                <a:solidFill>
                  <a:srgbClr val="5F708C"/>
                </a:solidFill>
                <a:latin typeface="Segoe UI"/>
                <a:ea typeface="Microsoft YaHei"/>
              </a:rPr>
              <a:t>LSP runs beside the workspace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6095847" y="2139696"/>
            <a:ext cx="0" cy="2487168"/>
          </a:xfrm>
          <a:prstGeom prst="line">
            <a:avLst/>
          </a:prstGeom>
          <a:ln w="15875">
            <a:solidFill>
              <a:srgbClr val="92A0B8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ectangle 40"/>
          <p:cNvSpPr/>
          <p:nvPr/>
        </p:nvSpPr>
        <p:spPr>
          <a:xfrm>
            <a:off x="5638647" y="2459736"/>
            <a:ext cx="914400" cy="237744"/>
          </a:xfrm>
          <a:prstGeom prst="rect">
            <a:avLst/>
          </a:prstGeom>
          <a:solidFill>
            <a:srgbClr val="F6F8FC"/>
          </a:solidFill>
          <a:ln w="12700">
            <a:solidFill>
              <a:srgbClr val="F6F8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638647" y="2459736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1150" b="1">
                <a:solidFill>
                  <a:srgbClr val="D64560"/>
                </a:solidFill>
                <a:latin typeface="Segoe UI"/>
                <a:ea typeface="Microsoft YaHei"/>
              </a:rPr>
              <a:t>RPC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818888" y="2999232"/>
            <a:ext cx="2553919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880" b="1">
                <a:solidFill>
                  <a:srgbClr val="2757E8"/>
                </a:solidFill>
                <a:latin typeface="Segoe UI"/>
                <a:ea typeface="Microsoft YaHei"/>
              </a:rPr>
              <a:t>Operation + request ID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4946903" y="3291840"/>
            <a:ext cx="2297888" cy="0"/>
          </a:xfrm>
          <a:prstGeom prst="line">
            <a:avLst/>
          </a:prstGeom>
          <a:ln w="19050">
            <a:solidFill>
              <a:srgbClr val="2757E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H="1">
            <a:off x="4946903" y="3931920"/>
            <a:ext cx="2297888" cy="0"/>
          </a:xfrm>
          <a:prstGeom prst="line">
            <a:avLst/>
          </a:prstGeom>
          <a:ln w="19050">
            <a:solidFill>
              <a:srgbClr val="17A67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4818888" y="4005072"/>
            <a:ext cx="2553919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880" b="1">
                <a:solidFill>
                  <a:srgbClr val="17A673"/>
                </a:solidFill>
                <a:latin typeface="Segoe UI"/>
                <a:ea typeface="Microsoft YaHei"/>
              </a:rPr>
              <a:t>Results correlate back by ID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044287" y="4398264"/>
            <a:ext cx="2103120" cy="237744"/>
          </a:xfrm>
          <a:prstGeom prst="rect">
            <a:avLst/>
          </a:prstGeom>
          <a:solidFill>
            <a:srgbClr val="F6F8FC"/>
          </a:solidFill>
          <a:ln w="12700">
            <a:solidFill>
              <a:srgbClr val="F6F8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044287" y="4398264"/>
            <a:ext cx="210312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850" b="1">
                <a:solidFill>
                  <a:srgbClr val="92A0B8"/>
                </a:solidFill>
                <a:latin typeface="Segoe UI"/>
                <a:ea typeface="Microsoft YaHei"/>
              </a:rPr>
              <a:t>Process / machine boundary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99516" y="4754879"/>
            <a:ext cx="3950208" cy="1463040"/>
          </a:xfrm>
          <a:prstGeom prst="roundRect">
            <a:avLst/>
          </a:prstGeom>
          <a:solidFill>
            <a:srgbClr val="E2E8F3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658368" y="4700016"/>
            <a:ext cx="3950208" cy="1463040"/>
          </a:xfrm>
          <a:prstGeom prst="roundRect">
            <a:avLst/>
          </a:prstGeom>
          <a:solidFill>
            <a:srgbClr val="0F2445"/>
          </a:solidFill>
          <a:ln w="12700">
            <a:solidFill>
              <a:srgbClr val="0F24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32688" y="4882896"/>
            <a:ext cx="3401568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950" b="1">
                <a:solidFill>
                  <a:srgbClr val="12B5C4"/>
                </a:solidFill>
                <a:latin typeface="Segoe UI"/>
                <a:ea typeface="Microsoft YaHei"/>
              </a:rPr>
              <a:t>Workspace handle = environment ID + path inside it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32688" y="5193792"/>
            <a:ext cx="3401568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950" b="0">
                <a:solidFill>
                  <a:srgbClr val="D6E1F5"/>
                </a:solidFill>
                <a:latin typeface="Consolas"/>
                <a:ea typeface="Consolas"/>
              </a:rPr>
              <a:t>{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950" b="0">
                <a:solidFill>
                  <a:srgbClr val="D6E1F5"/>
                </a:solidFill>
                <a:latin typeface="Consolas"/>
                <a:ea typeface="Consolas"/>
              </a:rPr>
              <a:t>  environmentId: 'local' | 'ssh:&lt;host&gt;',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950" b="0">
                <a:solidFill>
                  <a:srgbClr val="D6E1F5"/>
                </a:solidFill>
                <a:latin typeface="Consolas"/>
                <a:ea typeface="Consolas"/>
              </a:rPr>
              <a:t>  cwd: '/path/inside/that/environment'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950" b="0">
                <a:solidFill>
                  <a:srgbClr val="D6E1F5"/>
                </a:solidFill>
                <a:latin typeface="Consolas"/>
                <a:ea typeface="Consolas"/>
              </a:rPr>
              <a:t>}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864607" y="4700016"/>
            <a:ext cx="6668719" cy="320040"/>
          </a:xfrm>
          <a:prstGeom prst="rect">
            <a:avLst/>
          </a:prstGeom>
          <a:solidFill>
            <a:srgbClr val="ECF1FA"/>
          </a:solidFill>
          <a:ln w="12700">
            <a:solidFill>
              <a:srgbClr val="ECF1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864607" y="4782312"/>
            <a:ext cx="45720" cy="155448"/>
          </a:xfrm>
          <a:prstGeom prst="rect">
            <a:avLst/>
          </a:prstGeom>
          <a:solidFill>
            <a:srgbClr val="D64560"/>
          </a:solidFill>
          <a:ln w="12700">
            <a:solidFill>
              <a:srgbClr val="D645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047488" y="4700016"/>
            <a:ext cx="12344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00" b="1">
                <a:solidFill>
                  <a:srgbClr val="0F2445"/>
                </a:solidFill>
                <a:latin typeface="Segoe UI"/>
                <a:ea typeface="Microsoft YaHei"/>
              </a:rPr>
              <a:t>Bind timeout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318504" y="4700016"/>
            <a:ext cx="5031943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950" b="0">
                <a:solidFill>
                  <a:srgbClr val="5F708C"/>
                </a:solidFill>
                <a:latin typeface="Segoe UI"/>
                <a:ea typeface="Microsoft YaHei"/>
              </a:rPr>
              <a:t>15 seconds locally, 90 over SSH; a failed chdir fails the bind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864607" y="5148072"/>
            <a:ext cx="45720" cy="155448"/>
          </a:xfrm>
          <a:prstGeom prst="rect">
            <a:avLst/>
          </a:prstGeom>
          <a:solidFill>
            <a:srgbClr val="D64560"/>
          </a:solidFill>
          <a:ln w="12700">
            <a:solidFill>
              <a:srgbClr val="D645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047488" y="5065776"/>
            <a:ext cx="12344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00" b="1">
                <a:solidFill>
                  <a:srgbClr val="0F2445"/>
                </a:solidFill>
                <a:latin typeface="Segoe UI"/>
                <a:ea typeface="Microsoft YaHei"/>
              </a:rPr>
              <a:t>Path guard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318504" y="5065776"/>
            <a:ext cx="5031943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950" b="0">
                <a:solidFill>
                  <a:srgbClr val="5F708C"/>
                </a:solidFill>
                <a:latin typeface="Segoe UI"/>
                <a:ea typeface="Microsoft YaHei"/>
              </a:rPr>
              <a:t>Paths outside the workspace are rejected before sending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864607" y="5431536"/>
            <a:ext cx="6668719" cy="320040"/>
          </a:xfrm>
          <a:prstGeom prst="rect">
            <a:avLst/>
          </a:prstGeom>
          <a:solidFill>
            <a:srgbClr val="ECF1FA"/>
          </a:solidFill>
          <a:ln w="12700">
            <a:solidFill>
              <a:srgbClr val="ECF1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4864607" y="5513831"/>
            <a:ext cx="45720" cy="155448"/>
          </a:xfrm>
          <a:prstGeom prst="rect">
            <a:avLst/>
          </a:prstGeom>
          <a:solidFill>
            <a:srgbClr val="D64560"/>
          </a:solidFill>
          <a:ln w="12700">
            <a:solidFill>
              <a:srgbClr val="D645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047488" y="5431536"/>
            <a:ext cx="12344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00" b="1">
                <a:solidFill>
                  <a:srgbClr val="0F2445"/>
                </a:solidFill>
                <a:latin typeface="Segoe UI"/>
                <a:ea typeface="Microsoft YaHei"/>
              </a:rPr>
              <a:t>Fail-closed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318504" y="5431536"/>
            <a:ext cx="5031943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950" b="0">
                <a:solidFill>
                  <a:srgbClr val="5F708C"/>
                </a:solidFill>
                <a:latin typeface="Segoe UI"/>
                <a:ea typeface="Microsoft YaHei"/>
              </a:rPr>
              <a:t>A failed SSH probe, deploy, or bind aborts — no local substitute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864607" y="5879592"/>
            <a:ext cx="45720" cy="155448"/>
          </a:xfrm>
          <a:prstGeom prst="rect">
            <a:avLst/>
          </a:prstGeom>
          <a:solidFill>
            <a:srgbClr val="D64560"/>
          </a:solidFill>
          <a:ln w="12700">
            <a:solidFill>
              <a:srgbClr val="D645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047488" y="5797296"/>
            <a:ext cx="12344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00" b="1">
                <a:solidFill>
                  <a:srgbClr val="0F2445"/>
                </a:solidFill>
                <a:latin typeface="Segoe UI"/>
                <a:ea typeface="Microsoft YaHei"/>
              </a:rPr>
              <a:t>Remote scope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318504" y="5797296"/>
            <a:ext cx="5031943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950" b="0">
                <a:solidFill>
                  <a:srgbClr val="5F708C"/>
                </a:solidFill>
                <a:latin typeface="Segoe UI"/>
                <a:ea typeface="Microsoft YaHei"/>
              </a:rPr>
              <a:t>Plugins and skills load centrally; rules and memory skip the remote tree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58368" y="365760"/>
            <a:ext cx="329184" cy="329184"/>
          </a:xfrm>
          <a:prstGeom prst="ellipse">
            <a:avLst/>
          </a:prstGeom>
          <a:solidFill>
            <a:srgbClr val="2757E8"/>
          </a:solidFill>
          <a:ln w="12700">
            <a:solidFill>
              <a:srgbClr val="2757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65760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Segoe UI"/>
                <a:ea typeface="Microsoft YaHei"/>
              </a:rPr>
              <a:t>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74904"/>
            <a:ext cx="219456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1">
                <a:solidFill>
                  <a:srgbClr val="0F2445"/>
                </a:solidFill>
                <a:latin typeface="Segoe UI"/>
                <a:ea typeface="Microsoft YaHei"/>
              </a:rPr>
              <a:t>CODING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12687" y="374904"/>
            <a:ext cx="45720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2000"/>
              </a:lnSpc>
              <a:spcAft>
                <a:spcPts val="0"/>
              </a:spcAft>
            </a:pPr>
            <a:r>
              <a:rPr sz="1000" b="0">
                <a:solidFill>
                  <a:srgbClr val="5F708C"/>
                </a:solidFill>
                <a:latin typeface="Segoe UI"/>
                <a:ea typeface="Microsoft YaHei"/>
              </a:rPr>
              <a:t>SECTION 02 ·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76127" y="374904"/>
            <a:ext cx="4572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2000"/>
              </a:lnSpc>
              <a:spcAft>
                <a:spcPts val="0"/>
              </a:spcAft>
            </a:pPr>
            <a:r>
              <a:rPr sz="1000" b="1">
                <a:solidFill>
                  <a:srgbClr val="92A0B8"/>
                </a:solidFill>
                <a:latin typeface="Segoe UI"/>
                <a:ea typeface="Microsoft YaHei"/>
              </a:rPr>
              <a:t>18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6382512"/>
            <a:ext cx="10874959" cy="10972"/>
          </a:xfrm>
          <a:prstGeom prst="rect">
            <a:avLst/>
          </a:prstGeom>
          <a:solidFill>
            <a:srgbClr val="D8E0EE"/>
          </a:solidFill>
          <a:ln w="12700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914400"/>
            <a:ext cx="10874959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1">
                <a:solidFill>
                  <a:srgbClr val="12B5C4"/>
                </a:solidFill>
                <a:latin typeface="Segoe UI"/>
                <a:ea typeface="Microsoft YaHei"/>
              </a:rPr>
              <a:t>PROTOCOL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197864"/>
            <a:ext cx="402336" cy="41148"/>
          </a:xfrm>
          <a:prstGeom prst="rect">
            <a:avLst/>
          </a:prstGeom>
          <a:solidFill>
            <a:srgbClr val="12B5C4"/>
          </a:solidFill>
          <a:ln w="12700">
            <a:solidFill>
              <a:srgbClr val="12B5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1316736"/>
            <a:ext cx="1087495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2500" b="1">
                <a:solidFill>
                  <a:srgbClr val="0F2445"/>
                </a:solidFill>
                <a:latin typeface="Segoe UI"/>
                <a:ea typeface="Microsoft YaHei"/>
              </a:rPr>
              <a:t>A typed boundary between the engine and its clients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819656"/>
            <a:ext cx="10874959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200" b="0">
                <a:solidFill>
                  <a:srgbClr val="5F708C"/>
                </a:solidFill>
                <a:latin typeface="Segoe UI"/>
                <a:ea typeface="Microsoft YaHei"/>
              </a:rPr>
              <a:t>Zod schemas in protocol/src define separate incoming and outgoing message unions.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9516" y="2304288"/>
            <a:ext cx="4846320" cy="2578608"/>
          </a:xfrm>
          <a:prstGeom prst="roundRect">
            <a:avLst/>
          </a:prstGeom>
          <a:solidFill>
            <a:srgbClr val="E2E8F3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58368" y="2249424"/>
            <a:ext cx="4846320" cy="2578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0976" y="2487168"/>
            <a:ext cx="4261104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300" b="1">
                <a:solidFill>
                  <a:srgbClr val="0F2445"/>
                </a:solidFill>
                <a:latin typeface="Segoe UI"/>
                <a:ea typeface="Microsoft YaHei"/>
              </a:rPr>
              <a:t>Three transports, one exit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50976" y="2999232"/>
            <a:ext cx="54864" cy="457200"/>
          </a:xfrm>
          <a:prstGeom prst="rect">
            <a:avLst/>
          </a:prstGeom>
          <a:solidFill>
            <a:srgbClr val="2757E8"/>
          </a:solidFill>
          <a:ln w="12700">
            <a:solidFill>
              <a:srgbClr val="2757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33856" y="2926080"/>
            <a:ext cx="68580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50" b="1">
                <a:solidFill>
                  <a:srgbClr val="0F2445"/>
                </a:solidFill>
                <a:latin typeface="Segoe UI"/>
                <a:ea typeface="Microsoft YaHei"/>
              </a:rPr>
              <a:t>HTTP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56232" y="2926080"/>
            <a:ext cx="3264408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980" b="0">
                <a:solidFill>
                  <a:srgbClr val="5F708C"/>
                </a:solidFill>
                <a:latin typeface="Segoe UI"/>
                <a:ea typeface="Microsoft YaHei"/>
              </a:rPr>
              <a:t>SSE event names plus the same outgoing messages as JSON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50976" y="3602736"/>
            <a:ext cx="54864" cy="457200"/>
          </a:xfrm>
          <a:prstGeom prst="rect">
            <a:avLst/>
          </a:prstGeom>
          <a:solidFill>
            <a:srgbClr val="17A673"/>
          </a:solidFill>
          <a:ln w="12700">
            <a:solidFill>
              <a:srgbClr val="17A6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33856" y="3529584"/>
            <a:ext cx="68580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50" b="1">
                <a:solidFill>
                  <a:srgbClr val="0F2445"/>
                </a:solidFill>
                <a:latin typeface="Segoe UI"/>
                <a:ea typeface="Microsoft YaHei"/>
              </a:rPr>
              <a:t>stdio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56232" y="3529584"/>
            <a:ext cx="3264408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980" b="0">
                <a:solidFill>
                  <a:srgbClr val="5F708C"/>
                </a:solidFill>
                <a:latin typeface="Segoe UI"/>
                <a:ea typeface="Microsoft YaHei"/>
              </a:rPr>
              <a:t>One NDJSON message per line; stdout stays open between turns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50976" y="4206240"/>
            <a:ext cx="54864" cy="457200"/>
          </a:xfrm>
          <a:prstGeom prst="rect">
            <a:avLst/>
          </a:prstGeom>
          <a:solidFill>
            <a:srgbClr val="7A57DE"/>
          </a:solidFill>
          <a:ln w="12700">
            <a:solidFill>
              <a:srgbClr val="7A5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33856" y="4133088"/>
            <a:ext cx="68580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50" b="1">
                <a:solidFill>
                  <a:srgbClr val="0F2445"/>
                </a:solidFill>
                <a:latin typeface="Segoe UI"/>
                <a:ea typeface="Microsoft YaHei"/>
              </a:rPr>
              <a:t>ACP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56232" y="4133088"/>
            <a:ext cx="3264408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980" b="0">
                <a:solidFill>
                  <a:srgbClr val="5F708C"/>
                </a:solidFill>
                <a:latin typeface="Segoe UI"/>
                <a:ea typeface="Microsoft YaHei"/>
              </a:rPr>
              <a:t>Not just reframing: engine messages become ACP session updates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5029199"/>
            <a:ext cx="4846320" cy="1133856"/>
          </a:xfrm>
          <a:prstGeom prst="roundRect">
            <a:avLst/>
          </a:prstGeom>
          <a:solidFill>
            <a:srgbClr val="ECF1FA"/>
          </a:solidFill>
          <a:ln w="12700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58368" y="5157215"/>
            <a:ext cx="54864" cy="877824"/>
          </a:xfrm>
          <a:prstGeom prst="rect">
            <a:avLst/>
          </a:prstGeom>
          <a:solidFill>
            <a:srgbClr val="12B5C4"/>
          </a:solidFill>
          <a:ln w="12700">
            <a:solidFill>
              <a:srgbClr val="12B5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6112" y="5029199"/>
            <a:ext cx="4389120" cy="11338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>
                <a:solidFill>
                  <a:srgbClr val="0F2445"/>
                </a:solidFill>
                <a:latin typeface="Segoe UI"/>
                <a:ea typeface="Microsoft YaHei"/>
              </a:rPr>
              <a:t>WireEmitter is the engine's one transport-neutral output: it stamps correlation context, then emits stream, tool, progress, control, and result events. Worker stdio is a separate control-plane-to-worker contract that evolves independently.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15583" y="2231136"/>
            <a:ext cx="5717743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300" b="1">
                <a:solidFill>
                  <a:srgbClr val="0F2445"/>
                </a:solidFill>
                <a:latin typeface="Segoe UI"/>
                <a:ea typeface="Microsoft YaHei"/>
              </a:rPr>
              <a:t>Correlation IDs: the only reliable way to stitch concurrent work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815583" y="2578608"/>
            <a:ext cx="5717743" cy="411480"/>
          </a:xfrm>
          <a:prstGeom prst="rect">
            <a:avLst/>
          </a:prstGeom>
          <a:solidFill>
            <a:srgbClr val="ECF1FA"/>
          </a:solidFill>
          <a:ln w="12700">
            <a:solidFill>
              <a:srgbClr val="ECF1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815583" y="2660903"/>
            <a:ext cx="45720" cy="246888"/>
          </a:xfrm>
          <a:prstGeom prst="rect">
            <a:avLst/>
          </a:prstGeom>
          <a:solidFill>
            <a:srgbClr val="12B5C4"/>
          </a:solidFill>
          <a:ln w="12700">
            <a:solidFill>
              <a:srgbClr val="12B5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98464" y="2578608"/>
            <a:ext cx="16916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00" b="1">
                <a:solidFill>
                  <a:srgbClr val="0F2445"/>
                </a:solidFill>
                <a:latin typeface="Segoe UI"/>
                <a:ea typeface="Microsoft YaHei"/>
              </a:rPr>
              <a:t>session_id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26679" y="2578608"/>
            <a:ext cx="3623767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0">
                <a:solidFill>
                  <a:srgbClr val="5F708C"/>
                </a:solidFill>
                <a:latin typeface="Segoe UI"/>
                <a:ea typeface="Microsoft YaHei"/>
              </a:rPr>
              <a:t>Associates every event with one conversation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815583" y="3118103"/>
            <a:ext cx="45720" cy="246888"/>
          </a:xfrm>
          <a:prstGeom prst="rect">
            <a:avLst/>
          </a:prstGeom>
          <a:solidFill>
            <a:srgbClr val="12B5C4"/>
          </a:solidFill>
          <a:ln w="12700">
            <a:solidFill>
              <a:srgbClr val="12B5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98464" y="3035808"/>
            <a:ext cx="16916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00" b="1">
                <a:solidFill>
                  <a:srgbClr val="0F2445"/>
                </a:solidFill>
                <a:latin typeface="Segoe UI"/>
                <a:ea typeface="Microsoft YaHei"/>
              </a:rPr>
              <a:t>tool_use_id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26679" y="3035808"/>
            <a:ext cx="3623767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0">
                <a:solidFill>
                  <a:srgbClr val="5F708C"/>
                </a:solidFill>
                <a:latin typeface="Segoe UI"/>
                <a:ea typeface="Microsoft YaHei"/>
              </a:rPr>
              <a:t>Joins calls, progress, timing, and results under concurrency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815583" y="3493008"/>
            <a:ext cx="5717743" cy="411480"/>
          </a:xfrm>
          <a:prstGeom prst="rect">
            <a:avLst/>
          </a:prstGeom>
          <a:solidFill>
            <a:srgbClr val="ECF1FA"/>
          </a:solidFill>
          <a:ln w="12700">
            <a:solidFill>
              <a:srgbClr val="ECF1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815583" y="3575303"/>
            <a:ext cx="45720" cy="246888"/>
          </a:xfrm>
          <a:prstGeom prst="rect">
            <a:avLst/>
          </a:prstGeom>
          <a:solidFill>
            <a:srgbClr val="12B5C4"/>
          </a:solidFill>
          <a:ln w="12700">
            <a:solidFill>
              <a:srgbClr val="12B5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998464" y="3493008"/>
            <a:ext cx="16916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00" b="1">
                <a:solidFill>
                  <a:srgbClr val="0F2445"/>
                </a:solidFill>
                <a:latin typeface="Segoe UI"/>
                <a:ea typeface="Microsoft YaHei"/>
              </a:rPr>
              <a:t>request_id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26679" y="3493008"/>
            <a:ext cx="3623767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0">
                <a:solidFill>
                  <a:srgbClr val="5F708C"/>
                </a:solidFill>
                <a:latin typeface="Segoe UI"/>
                <a:ea typeface="Microsoft YaHei"/>
              </a:rPr>
              <a:t>Joins a control request to its response or cancellation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815583" y="4032504"/>
            <a:ext cx="45720" cy="246888"/>
          </a:xfrm>
          <a:prstGeom prst="rect">
            <a:avLst/>
          </a:prstGeom>
          <a:solidFill>
            <a:srgbClr val="12B5C4"/>
          </a:solidFill>
          <a:ln w="12700">
            <a:solidFill>
              <a:srgbClr val="12B5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998464" y="3950208"/>
            <a:ext cx="16916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00" b="1">
                <a:solidFill>
                  <a:srgbClr val="0F2445"/>
                </a:solidFill>
                <a:latin typeface="Segoe UI"/>
                <a:ea typeface="Microsoft YaHei"/>
              </a:rPr>
              <a:t>parent_tool_use_id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26679" y="3950208"/>
            <a:ext cx="3623767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0">
                <a:solidFill>
                  <a:srgbClr val="5F708C"/>
                </a:solidFill>
                <a:latin typeface="Segoe UI"/>
                <a:ea typeface="Microsoft YaHei"/>
              </a:rPr>
              <a:t>Marks nested work, such as calls inside a subagent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815583" y="4407408"/>
            <a:ext cx="5717743" cy="411480"/>
          </a:xfrm>
          <a:prstGeom prst="rect">
            <a:avLst/>
          </a:prstGeom>
          <a:solidFill>
            <a:srgbClr val="ECF1FA"/>
          </a:solidFill>
          <a:ln w="12700">
            <a:solidFill>
              <a:srgbClr val="ECF1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815583" y="4489704"/>
            <a:ext cx="45720" cy="246888"/>
          </a:xfrm>
          <a:prstGeom prst="rect">
            <a:avLst/>
          </a:prstGeom>
          <a:solidFill>
            <a:srgbClr val="12B5C4"/>
          </a:solidFill>
          <a:ln w="12700">
            <a:solidFill>
              <a:srgbClr val="12B5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998464" y="4407408"/>
            <a:ext cx="16916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00" b="1">
                <a:solidFill>
                  <a:srgbClr val="0F2445"/>
                </a:solidFill>
                <a:latin typeface="Segoe UI"/>
                <a:ea typeface="Microsoft YaHei"/>
              </a:rPr>
              <a:t>system/init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726679" y="4407408"/>
            <a:ext cx="3623767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0">
                <a:solidFill>
                  <a:srgbClr val="5F708C"/>
                </a:solidFill>
                <a:latin typeface="Segoe UI"/>
                <a:ea typeface="Microsoft YaHei"/>
              </a:rPr>
              <a:t>Announces protocol version, permission mode, working directory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815583" y="4956048"/>
            <a:ext cx="5717743" cy="640080"/>
          </a:xfrm>
          <a:prstGeom prst="roundRect">
            <a:avLst/>
          </a:prstGeom>
          <a:solidFill>
            <a:srgbClr val="ECF1FA"/>
          </a:solidFill>
          <a:ln w="12700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815583" y="5084064"/>
            <a:ext cx="54864" cy="384047"/>
          </a:xfrm>
          <a:prstGeom prst="rect">
            <a:avLst/>
          </a:prstGeom>
          <a:solidFill>
            <a:srgbClr val="D64560"/>
          </a:solidFill>
          <a:ln w="12700">
            <a:solidFill>
              <a:srgbClr val="D645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053327" y="4956048"/>
            <a:ext cx="5260543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>
                <a:solidFill>
                  <a:srgbClr val="0F2445"/>
                </a:solidFill>
                <a:latin typeface="Segoe UI"/>
                <a:ea typeface="Microsoft YaHei"/>
              </a:rPr>
              <a:t>Any non-protocol output on stdout corrupts NDJSON and ACP JSON-RPC framing — startup, worker, and diagnostic logs all belong on stderr.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815583" y="5724144"/>
            <a:ext cx="5717743" cy="658368"/>
          </a:xfrm>
          <a:prstGeom prst="roundRect">
            <a:avLst/>
          </a:prstGeom>
          <a:solidFill>
            <a:srgbClr val="ECF1FA"/>
          </a:solidFill>
          <a:ln w="12700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5815583" y="5852159"/>
            <a:ext cx="54864" cy="402335"/>
          </a:xfrm>
          <a:prstGeom prst="rect">
            <a:avLst/>
          </a:prstGeom>
          <a:solidFill>
            <a:srgbClr val="D68A22"/>
          </a:solidFill>
          <a:ln w="12700">
            <a:solidFill>
              <a:srgbClr val="D68A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053327" y="5724144"/>
            <a:ext cx="5260543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>
                <a:solidFill>
                  <a:srgbClr val="0F2445"/>
                </a:solidFill>
                <a:latin typeface="Segoe UI"/>
                <a:ea typeface="Microsoft YaHei"/>
              </a:rPr>
              <a:t>Never join tool activity by tool name: only tool_use_id is unique under concurrency. Breaking contract changes require a protocol version bump.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58368" y="365760"/>
            <a:ext cx="329184" cy="329184"/>
          </a:xfrm>
          <a:prstGeom prst="ellipse">
            <a:avLst/>
          </a:prstGeom>
          <a:solidFill>
            <a:srgbClr val="2757E8"/>
          </a:solidFill>
          <a:ln w="12700">
            <a:solidFill>
              <a:srgbClr val="2757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65760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Segoe UI"/>
                <a:ea typeface="Microsoft YaHei"/>
              </a:rPr>
              <a:t>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74904"/>
            <a:ext cx="219456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1">
                <a:solidFill>
                  <a:srgbClr val="0F2445"/>
                </a:solidFill>
                <a:latin typeface="Segoe UI"/>
                <a:ea typeface="Microsoft YaHei"/>
              </a:rPr>
              <a:t>CODING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12687" y="374904"/>
            <a:ext cx="45720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2000"/>
              </a:lnSpc>
              <a:spcAft>
                <a:spcPts val="0"/>
              </a:spcAft>
            </a:pPr>
            <a:r>
              <a:rPr sz="1000" b="0">
                <a:solidFill>
                  <a:srgbClr val="5F708C"/>
                </a:solidFill>
                <a:latin typeface="Segoe UI"/>
                <a:ea typeface="Microsoft YaHei"/>
              </a:rPr>
              <a:t>SECTION 02 ·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76127" y="374904"/>
            <a:ext cx="4572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2000"/>
              </a:lnSpc>
              <a:spcAft>
                <a:spcPts val="0"/>
              </a:spcAft>
            </a:pPr>
            <a:r>
              <a:rPr sz="1000" b="1">
                <a:solidFill>
                  <a:srgbClr val="92A0B8"/>
                </a:solidFill>
                <a:latin typeface="Segoe UI"/>
                <a:ea typeface="Microsoft YaHei"/>
              </a:rPr>
              <a:t>19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6382512"/>
            <a:ext cx="10874959" cy="10972"/>
          </a:xfrm>
          <a:prstGeom prst="rect">
            <a:avLst/>
          </a:prstGeom>
          <a:solidFill>
            <a:srgbClr val="D8E0EE"/>
          </a:solidFill>
          <a:ln w="12700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914400"/>
            <a:ext cx="10874959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1">
                <a:solidFill>
                  <a:srgbClr val="7A57DE"/>
                </a:solidFill>
                <a:latin typeface="Segoe UI"/>
                <a:ea typeface="Microsoft YaHei"/>
              </a:rPr>
              <a:t>ACP IMPLEMENTATION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197864"/>
            <a:ext cx="402336" cy="41148"/>
          </a:xfrm>
          <a:prstGeom prst="rect">
            <a:avLst/>
          </a:prstGeom>
          <a:solidFill>
            <a:srgbClr val="7A57DE"/>
          </a:solidFill>
          <a:ln w="12700">
            <a:solidFill>
              <a:srgbClr val="7A5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1316736"/>
            <a:ext cx="1087495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2500" b="1">
                <a:solidFill>
                  <a:srgbClr val="0F2445"/>
                </a:solidFill>
                <a:latin typeface="Segoe UI"/>
                <a:ea typeface="Microsoft YaHei"/>
              </a:rPr>
              <a:t>One adapter that explains the engine to the editor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819656"/>
            <a:ext cx="10874959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200" b="0">
                <a:solidFill>
                  <a:srgbClr val="5F708C"/>
                </a:solidFill>
                <a:latin typeface="Segoe UI"/>
                <a:ea typeface="Microsoft YaHei"/>
              </a:rPr>
              <a:t>Inside src/acp/: session management, convergence on the shared turn host, outbound translation, permission bridge.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231136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300" b="1">
                <a:solidFill>
                  <a:srgbClr val="0F2445"/>
                </a:solidFill>
                <a:latin typeface="Segoe UI"/>
                <a:ea typeface="Microsoft YaHei"/>
              </a:rPr>
              <a:t>Component responsibilities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2578608"/>
            <a:ext cx="5029200" cy="374904"/>
          </a:xfrm>
          <a:prstGeom prst="rect">
            <a:avLst/>
          </a:prstGeom>
          <a:solidFill>
            <a:srgbClr val="ECF1FA"/>
          </a:solidFill>
          <a:ln w="12700">
            <a:solidFill>
              <a:srgbClr val="ECF1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" y="2660903"/>
            <a:ext cx="45720" cy="210312"/>
          </a:xfrm>
          <a:prstGeom prst="rect">
            <a:avLst/>
          </a:prstGeom>
          <a:solidFill>
            <a:srgbClr val="7A57DE"/>
          </a:solidFill>
          <a:ln w="12700">
            <a:solidFill>
              <a:srgbClr val="7A5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7" y="2578608"/>
            <a:ext cx="1691640" cy="3749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1">
                <a:solidFill>
                  <a:srgbClr val="0F2445"/>
                </a:solidFill>
                <a:latin typeface="Segoe UI"/>
                <a:ea typeface="Microsoft YaHei"/>
              </a:rPr>
              <a:t>BaizeAcpAgent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69464" y="2578608"/>
            <a:ext cx="2935224" cy="3749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00" b="0">
                <a:solidFill>
                  <a:srgbClr val="5F708C"/>
                </a:solidFill>
                <a:latin typeface="Segoe UI"/>
                <a:ea typeface="Microsoft YaHei"/>
              </a:rPr>
              <a:t>initialize / newSession / prompt / setSessionMode / cancel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3081527"/>
            <a:ext cx="45720" cy="210312"/>
          </a:xfrm>
          <a:prstGeom prst="rect">
            <a:avLst/>
          </a:prstGeom>
          <a:solidFill>
            <a:srgbClr val="7A57DE"/>
          </a:solidFill>
          <a:ln w="12700">
            <a:solidFill>
              <a:srgbClr val="7A5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7" y="2999232"/>
            <a:ext cx="1691640" cy="3749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1">
                <a:solidFill>
                  <a:srgbClr val="0F2445"/>
                </a:solidFill>
                <a:latin typeface="Segoe UI"/>
                <a:ea typeface="Microsoft YaHei"/>
              </a:rPr>
              <a:t>AcpSessionRegistry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69464" y="2999232"/>
            <a:ext cx="2935224" cy="3749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00" b="0">
                <a:solidFill>
                  <a:srgbClr val="5F708C"/>
                </a:solidFill>
                <a:latin typeface="Segoe UI"/>
                <a:ea typeface="Microsoft YaHei"/>
              </a:rPr>
              <a:t>Tracks sessions and cwd by sessionId, handles cancellation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" y="3419856"/>
            <a:ext cx="5029200" cy="374904"/>
          </a:xfrm>
          <a:prstGeom prst="rect">
            <a:avLst/>
          </a:prstGeom>
          <a:solidFill>
            <a:srgbClr val="ECF1FA"/>
          </a:solidFill>
          <a:ln w="12700">
            <a:solidFill>
              <a:srgbClr val="ECF1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58368" y="3502151"/>
            <a:ext cx="45720" cy="210312"/>
          </a:xfrm>
          <a:prstGeom prst="rect">
            <a:avLst/>
          </a:prstGeom>
          <a:solidFill>
            <a:srgbClr val="7A57DE"/>
          </a:solidFill>
          <a:ln w="12700">
            <a:solidFill>
              <a:srgbClr val="7A5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7" y="3419856"/>
            <a:ext cx="1691640" cy="3749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1">
                <a:solidFill>
                  <a:srgbClr val="0F2445"/>
                </a:solidFill>
                <a:latin typeface="Segoe UI"/>
                <a:ea typeface="Microsoft YaHei"/>
              </a:rPr>
              <a:t>runAcpPromptTurn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69464" y="3419856"/>
            <a:ext cx="2935224" cy="3749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00" b="0">
                <a:solidFill>
                  <a:srgbClr val="5F708C"/>
                </a:solidFill>
                <a:latin typeface="Segoe UI"/>
                <a:ea typeface="Microsoft YaHei"/>
              </a:rPr>
              <a:t>Converges an ACP prompt onto the shared turn host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8" y="3922776"/>
            <a:ext cx="45720" cy="210312"/>
          </a:xfrm>
          <a:prstGeom prst="rect">
            <a:avLst/>
          </a:prstGeom>
          <a:solidFill>
            <a:srgbClr val="7A57DE"/>
          </a:solidFill>
          <a:ln w="12700">
            <a:solidFill>
              <a:srgbClr val="7A5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1247" y="3840480"/>
            <a:ext cx="1691640" cy="3749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1">
                <a:solidFill>
                  <a:srgbClr val="0F2445"/>
                </a:solidFill>
                <a:latin typeface="Segoe UI"/>
                <a:ea typeface="Microsoft YaHei"/>
              </a:rPr>
              <a:t>AcpTurnSink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69464" y="3840480"/>
            <a:ext cx="2935224" cy="3749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00" b="0">
                <a:solidFill>
                  <a:srgbClr val="5F708C"/>
                </a:solidFill>
                <a:latin typeface="Segoe UI"/>
                <a:ea typeface="Microsoft YaHei"/>
              </a:rPr>
              <a:t>Implements ProtocolSink, translates outbound wire messages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4261104"/>
            <a:ext cx="5029200" cy="374904"/>
          </a:xfrm>
          <a:prstGeom prst="rect">
            <a:avLst/>
          </a:prstGeom>
          <a:solidFill>
            <a:srgbClr val="ECF1FA"/>
          </a:solidFill>
          <a:ln w="12700">
            <a:solidFill>
              <a:srgbClr val="ECF1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8368" y="4343400"/>
            <a:ext cx="45720" cy="210312"/>
          </a:xfrm>
          <a:prstGeom prst="rect">
            <a:avLst/>
          </a:prstGeom>
          <a:solidFill>
            <a:srgbClr val="7A57DE"/>
          </a:solidFill>
          <a:ln w="12700">
            <a:solidFill>
              <a:srgbClr val="7A5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1247" y="4261104"/>
            <a:ext cx="1691640" cy="3749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1">
                <a:solidFill>
                  <a:srgbClr val="0F2445"/>
                </a:solidFill>
                <a:latin typeface="Segoe UI"/>
                <a:ea typeface="Microsoft YaHei"/>
              </a:rPr>
              <a:t>permission-bridge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569464" y="4261104"/>
            <a:ext cx="2935224" cy="3749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00" b="0">
                <a:solidFill>
                  <a:srgbClr val="5F708C"/>
                </a:solidFill>
                <a:latin typeface="Segoe UI"/>
                <a:ea typeface="Microsoft YaHei"/>
              </a:rPr>
              <a:t>control_request → client prompt → decision back to the engine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4764024"/>
            <a:ext cx="45720" cy="210312"/>
          </a:xfrm>
          <a:prstGeom prst="rect">
            <a:avLst/>
          </a:prstGeom>
          <a:solidFill>
            <a:srgbClr val="7A57DE"/>
          </a:solidFill>
          <a:ln w="12700">
            <a:solidFill>
              <a:srgbClr val="7A5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1247" y="4681728"/>
            <a:ext cx="1691640" cy="3749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1">
                <a:solidFill>
                  <a:srgbClr val="0F2445"/>
                </a:solidFill>
                <a:latin typeface="Segoe UI"/>
                <a:ea typeface="Microsoft YaHei"/>
              </a:rPr>
              <a:t>tool-kind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569464" y="4681728"/>
            <a:ext cx="2935224" cy="3749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00" b="0">
                <a:solidFill>
                  <a:srgbClr val="5F708C"/>
                </a:solidFill>
                <a:latin typeface="Segoe UI"/>
                <a:ea typeface="Microsoft YaHei"/>
              </a:rPr>
              <a:t>Maps tool names and args to a title, kind, and file locations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" y="5102352"/>
            <a:ext cx="5029200" cy="374904"/>
          </a:xfrm>
          <a:prstGeom prst="rect">
            <a:avLst/>
          </a:prstGeom>
          <a:solidFill>
            <a:srgbClr val="ECF1FA"/>
          </a:solidFill>
          <a:ln w="12700">
            <a:solidFill>
              <a:srgbClr val="ECF1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58368" y="5184648"/>
            <a:ext cx="45720" cy="210312"/>
          </a:xfrm>
          <a:prstGeom prst="rect">
            <a:avLst/>
          </a:prstGeom>
          <a:solidFill>
            <a:srgbClr val="7A57DE"/>
          </a:solidFill>
          <a:ln w="12700">
            <a:solidFill>
              <a:srgbClr val="7A5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1247" y="5102352"/>
            <a:ext cx="1691640" cy="3749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1">
                <a:solidFill>
                  <a:srgbClr val="0F2445"/>
                </a:solidFill>
                <a:latin typeface="Segoe UI"/>
                <a:ea typeface="Microsoft YaHei"/>
              </a:rPr>
              <a:t>prompt-input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569464" y="5102352"/>
            <a:ext cx="2935224" cy="3749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00" b="0">
                <a:solidFill>
                  <a:srgbClr val="5F708C"/>
                </a:solidFill>
                <a:latin typeface="Segoe UI"/>
                <a:ea typeface="Microsoft YaHei"/>
              </a:rPr>
              <a:t>Splits ACP content blocks into text and image input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58368" y="5650992"/>
            <a:ext cx="5029200" cy="512064"/>
          </a:xfrm>
          <a:prstGeom prst="roundRect">
            <a:avLst/>
          </a:prstGeom>
          <a:solidFill>
            <a:srgbClr val="ECF1FA"/>
          </a:solidFill>
          <a:ln w="12700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58368" y="5779007"/>
            <a:ext cx="54864" cy="256032"/>
          </a:xfrm>
          <a:prstGeom prst="rect">
            <a:avLst/>
          </a:prstGeom>
          <a:solidFill>
            <a:srgbClr val="7A57DE"/>
          </a:solidFill>
          <a:ln w="12700">
            <a:solidFill>
              <a:srgbClr val="7A5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96112" y="5650992"/>
            <a:ext cx="457200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>
                <a:solidFill>
                  <a:srgbClr val="0F2445"/>
                </a:solidFill>
                <a:latin typeface="Segoe UI"/>
                <a:ea typeface="Microsoft YaHei"/>
              </a:rPr>
              <a:t>Capabilities declared: loadSession=false, image input and embedded context enabled, MCP over http and sse; the mode set is fixed to Agent, Ask, and Plan.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98464" y="2231136"/>
            <a:ext cx="5534863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300" b="1">
                <a:solidFill>
                  <a:srgbClr val="0F2445"/>
                </a:solidFill>
                <a:latin typeface="Segoe UI"/>
                <a:ea typeface="Microsoft YaHei"/>
              </a:rPr>
              <a:t>Outbound message mapping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998464" y="2578608"/>
            <a:ext cx="5534863" cy="374904"/>
          </a:xfrm>
          <a:prstGeom prst="rect">
            <a:avLst/>
          </a:prstGeom>
          <a:solidFill>
            <a:srgbClr val="ECF1FA"/>
          </a:solidFill>
          <a:ln w="12700">
            <a:solidFill>
              <a:srgbClr val="ECF1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998464" y="2660903"/>
            <a:ext cx="45720" cy="210312"/>
          </a:xfrm>
          <a:prstGeom prst="rect">
            <a:avLst/>
          </a:prstGeom>
          <a:solidFill>
            <a:srgbClr val="12B5C4"/>
          </a:solidFill>
          <a:ln w="12700">
            <a:solidFill>
              <a:srgbClr val="12B5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181344" y="2578608"/>
            <a:ext cx="2057400" cy="3749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1">
                <a:solidFill>
                  <a:srgbClr val="0F2445"/>
                </a:solidFill>
                <a:latin typeface="Segoe UI"/>
                <a:ea typeface="Microsoft YaHei"/>
              </a:rPr>
              <a:t>stream_event · text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75320" y="2578608"/>
            <a:ext cx="3075127" cy="3749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00" b="0">
                <a:solidFill>
                  <a:srgbClr val="5F708C"/>
                </a:solidFill>
                <a:latin typeface="Segoe UI"/>
                <a:ea typeface="Microsoft YaHei"/>
              </a:rPr>
              <a:t>agent_message_chunk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998464" y="3081527"/>
            <a:ext cx="45720" cy="210312"/>
          </a:xfrm>
          <a:prstGeom prst="rect">
            <a:avLst/>
          </a:prstGeom>
          <a:solidFill>
            <a:srgbClr val="12B5C4"/>
          </a:solidFill>
          <a:ln w="12700">
            <a:solidFill>
              <a:srgbClr val="12B5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81344" y="2999232"/>
            <a:ext cx="2057400" cy="3749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1">
                <a:solidFill>
                  <a:srgbClr val="0F2445"/>
                </a:solidFill>
                <a:latin typeface="Segoe UI"/>
                <a:ea typeface="Microsoft YaHei"/>
              </a:rPr>
              <a:t>stream_event · reasoning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75320" y="2999232"/>
            <a:ext cx="3075127" cy="3749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00" b="0">
                <a:solidFill>
                  <a:srgbClr val="5F708C"/>
                </a:solidFill>
                <a:latin typeface="Segoe UI"/>
                <a:ea typeface="Microsoft YaHei"/>
              </a:rPr>
              <a:t>agent_thought_chunk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998464" y="3419856"/>
            <a:ext cx="5534863" cy="374904"/>
          </a:xfrm>
          <a:prstGeom prst="rect">
            <a:avLst/>
          </a:prstGeom>
          <a:solidFill>
            <a:srgbClr val="ECF1FA"/>
          </a:solidFill>
          <a:ln w="12700">
            <a:solidFill>
              <a:srgbClr val="ECF1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5998464" y="3502151"/>
            <a:ext cx="45720" cy="210312"/>
          </a:xfrm>
          <a:prstGeom prst="rect">
            <a:avLst/>
          </a:prstGeom>
          <a:solidFill>
            <a:srgbClr val="12B5C4"/>
          </a:solidFill>
          <a:ln w="12700">
            <a:solidFill>
              <a:srgbClr val="12B5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181344" y="3419856"/>
            <a:ext cx="2057400" cy="3749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1">
                <a:solidFill>
                  <a:srgbClr val="0F2445"/>
                </a:solidFill>
                <a:latin typeface="Segoe UI"/>
                <a:ea typeface="Microsoft YaHei"/>
              </a:rPr>
              <a:t>tool_call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75320" y="3419856"/>
            <a:ext cx="3075127" cy="3749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00" b="0">
                <a:solidFill>
                  <a:srgbClr val="5F708C"/>
                </a:solidFill>
                <a:latin typeface="Segoe UI"/>
                <a:ea typeface="Microsoft YaHei"/>
              </a:rPr>
              <a:t>tool_call (pending, with locations and rawInput)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998464" y="3922776"/>
            <a:ext cx="45720" cy="210312"/>
          </a:xfrm>
          <a:prstGeom prst="rect">
            <a:avLst/>
          </a:prstGeom>
          <a:solidFill>
            <a:srgbClr val="12B5C4"/>
          </a:solidFill>
          <a:ln w="12700">
            <a:solidFill>
              <a:srgbClr val="12B5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181344" y="3840480"/>
            <a:ext cx="2057400" cy="3749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1">
                <a:solidFill>
                  <a:srgbClr val="0F2445"/>
                </a:solidFill>
                <a:latin typeface="Segoe UI"/>
                <a:ea typeface="Microsoft YaHei"/>
              </a:rPr>
              <a:t>tool_progress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275320" y="3840480"/>
            <a:ext cx="3075127" cy="3749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00" b="0">
                <a:solidFill>
                  <a:srgbClr val="5F708C"/>
                </a:solidFill>
                <a:latin typeface="Segoe UI"/>
                <a:ea typeface="Microsoft YaHei"/>
              </a:rPr>
              <a:t>tool_call_update (in_progress)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998464" y="4261104"/>
            <a:ext cx="5534863" cy="374904"/>
          </a:xfrm>
          <a:prstGeom prst="rect">
            <a:avLst/>
          </a:prstGeom>
          <a:solidFill>
            <a:srgbClr val="ECF1FA"/>
          </a:solidFill>
          <a:ln w="12700">
            <a:solidFill>
              <a:srgbClr val="ECF1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998464" y="4343400"/>
            <a:ext cx="45720" cy="210312"/>
          </a:xfrm>
          <a:prstGeom prst="rect">
            <a:avLst/>
          </a:prstGeom>
          <a:solidFill>
            <a:srgbClr val="12B5C4"/>
          </a:solidFill>
          <a:ln w="12700">
            <a:solidFill>
              <a:srgbClr val="12B5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181344" y="4261104"/>
            <a:ext cx="2057400" cy="3749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1">
                <a:solidFill>
                  <a:srgbClr val="0F2445"/>
                </a:solidFill>
                <a:latin typeface="Segoe UI"/>
                <a:ea typeface="Microsoft YaHei"/>
              </a:rPr>
              <a:t>tool_result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275320" y="4261104"/>
            <a:ext cx="3075127" cy="3749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00" b="0">
                <a:solidFill>
                  <a:srgbClr val="5F708C"/>
                </a:solidFill>
                <a:latin typeface="Segoe UI"/>
                <a:ea typeface="Microsoft YaHei"/>
              </a:rPr>
              <a:t>tool_call_update (completed / failed + rawOutput)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998464" y="4764024"/>
            <a:ext cx="45720" cy="210312"/>
          </a:xfrm>
          <a:prstGeom prst="rect">
            <a:avLst/>
          </a:prstGeom>
          <a:solidFill>
            <a:srgbClr val="12B5C4"/>
          </a:solidFill>
          <a:ln w="12700">
            <a:solidFill>
              <a:srgbClr val="12B5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181344" y="4681728"/>
            <a:ext cx="2057400" cy="3749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1">
                <a:solidFill>
                  <a:srgbClr val="0F2445"/>
                </a:solidFill>
                <a:latin typeface="Segoe UI"/>
                <a:ea typeface="Microsoft YaHei"/>
              </a:rPr>
              <a:t>system · todo_update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275320" y="4681728"/>
            <a:ext cx="3075127" cy="3749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00" b="0">
                <a:solidFill>
                  <a:srgbClr val="5F708C"/>
                </a:solidFill>
                <a:latin typeface="Segoe UI"/>
                <a:ea typeface="Microsoft YaHei"/>
              </a:rPr>
              <a:t>plan (cancelled entries filtered out)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998464" y="5102352"/>
            <a:ext cx="5534863" cy="374904"/>
          </a:xfrm>
          <a:prstGeom prst="rect">
            <a:avLst/>
          </a:prstGeom>
          <a:solidFill>
            <a:srgbClr val="ECF1FA"/>
          </a:solidFill>
          <a:ln w="12700">
            <a:solidFill>
              <a:srgbClr val="ECF1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998464" y="5184648"/>
            <a:ext cx="45720" cy="210312"/>
          </a:xfrm>
          <a:prstGeom prst="rect">
            <a:avLst/>
          </a:prstGeom>
          <a:solidFill>
            <a:srgbClr val="12B5C4"/>
          </a:solidFill>
          <a:ln w="12700">
            <a:solidFill>
              <a:srgbClr val="12B5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181344" y="5102352"/>
            <a:ext cx="2057400" cy="3749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1">
                <a:solidFill>
                  <a:srgbClr val="0F2445"/>
                </a:solidFill>
                <a:latin typeface="Segoe UI"/>
                <a:ea typeface="Microsoft YaHei"/>
              </a:rPr>
              <a:t>system · mode_changed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275320" y="5102352"/>
            <a:ext cx="3075127" cy="3749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00" b="0">
                <a:solidFill>
                  <a:srgbClr val="5F708C"/>
                </a:solidFill>
                <a:latin typeface="Segoe UI"/>
                <a:ea typeface="Microsoft YaHei"/>
              </a:rPr>
              <a:t>current_mode_update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998464" y="5605272"/>
            <a:ext cx="45720" cy="210312"/>
          </a:xfrm>
          <a:prstGeom prst="rect">
            <a:avLst/>
          </a:prstGeom>
          <a:solidFill>
            <a:srgbClr val="12B5C4"/>
          </a:solidFill>
          <a:ln w="12700">
            <a:solidFill>
              <a:srgbClr val="12B5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181344" y="5522976"/>
            <a:ext cx="2057400" cy="3749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1">
                <a:solidFill>
                  <a:srgbClr val="0F2445"/>
                </a:solidFill>
                <a:latin typeface="Segoe UI"/>
                <a:ea typeface="Microsoft YaHei"/>
              </a:rPr>
              <a:t>result · error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275320" y="5522976"/>
            <a:ext cx="3075127" cy="3749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00" b="0">
                <a:solidFill>
                  <a:srgbClr val="5F708C"/>
                </a:solidFill>
                <a:latin typeface="Segoe UI"/>
                <a:ea typeface="Microsoft YaHei"/>
              </a:rPr>
              <a:t>Surfaced to the user as an agent_message_chunk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998464" y="5943600"/>
            <a:ext cx="5534863" cy="374904"/>
          </a:xfrm>
          <a:prstGeom prst="rect">
            <a:avLst/>
          </a:prstGeom>
          <a:solidFill>
            <a:srgbClr val="ECF1FA"/>
          </a:solidFill>
          <a:ln w="12700">
            <a:solidFill>
              <a:srgbClr val="ECF1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5998464" y="6025896"/>
            <a:ext cx="45720" cy="210312"/>
          </a:xfrm>
          <a:prstGeom prst="rect">
            <a:avLst/>
          </a:prstGeom>
          <a:solidFill>
            <a:srgbClr val="12B5C4"/>
          </a:solidFill>
          <a:ln w="12700">
            <a:solidFill>
              <a:srgbClr val="12B5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181344" y="5943600"/>
            <a:ext cx="2057400" cy="3749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1">
                <a:solidFill>
                  <a:srgbClr val="0F2445"/>
                </a:solidFill>
                <a:latin typeface="Segoe UI"/>
                <a:ea typeface="Microsoft YaHei"/>
              </a:rPr>
              <a:t>Repeated tool_use_id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275320" y="5943600"/>
            <a:ext cx="3075127" cy="3749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00" b="0">
                <a:solidFill>
                  <a:srgbClr val="5F708C"/>
                </a:solidFill>
                <a:latin typeface="Segoe UI"/>
                <a:ea typeface="Microsoft YaHei"/>
              </a:rPr>
              <a:t>Emits tool_call_update instead of a new card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58368" y="365760"/>
            <a:ext cx="329184" cy="329184"/>
          </a:xfrm>
          <a:prstGeom prst="ellipse">
            <a:avLst/>
          </a:prstGeom>
          <a:solidFill>
            <a:srgbClr val="2757E8"/>
          </a:solidFill>
          <a:ln w="12700">
            <a:solidFill>
              <a:srgbClr val="2757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65760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Segoe UI"/>
                <a:ea typeface="Microsoft YaHei"/>
              </a:rPr>
              <a:t>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74904"/>
            <a:ext cx="219456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1">
                <a:solidFill>
                  <a:srgbClr val="0F2445"/>
                </a:solidFill>
                <a:latin typeface="Segoe UI"/>
                <a:ea typeface="Microsoft YaHei"/>
              </a:rPr>
              <a:t>CODING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12687" y="374904"/>
            <a:ext cx="45720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2000"/>
              </a:lnSpc>
              <a:spcAft>
                <a:spcPts val="0"/>
              </a:spcAft>
            </a:pPr>
            <a:r>
              <a:rPr sz="1000" b="0">
                <a:solidFill>
                  <a:srgbClr val="5F708C"/>
                </a:solidFill>
                <a:latin typeface="Segoe UI"/>
                <a:ea typeface="Microsoft YaHei"/>
              </a:rPr>
              <a:t>SECTION 02 ·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76127" y="374904"/>
            <a:ext cx="4572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2000"/>
              </a:lnSpc>
              <a:spcAft>
                <a:spcPts val="0"/>
              </a:spcAft>
            </a:pPr>
            <a:r>
              <a:rPr sz="1000" b="1">
                <a:solidFill>
                  <a:srgbClr val="92A0B8"/>
                </a:solidFill>
                <a:latin typeface="Segoe UI"/>
                <a:ea typeface="Microsoft YaHei"/>
              </a:rPr>
              <a:t>20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6382512"/>
            <a:ext cx="10874959" cy="10972"/>
          </a:xfrm>
          <a:prstGeom prst="rect">
            <a:avLst/>
          </a:prstGeom>
          <a:solidFill>
            <a:srgbClr val="D8E0EE"/>
          </a:solidFill>
          <a:ln w="12700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914400"/>
            <a:ext cx="10874959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1">
                <a:solidFill>
                  <a:srgbClr val="D68A22"/>
                </a:solidFill>
                <a:latin typeface="Segoe UI"/>
                <a:ea typeface="Microsoft YaHei"/>
              </a:rPr>
              <a:t>MEMORY AND COMPACTION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197864"/>
            <a:ext cx="402336" cy="41148"/>
          </a:xfrm>
          <a:prstGeom prst="rect">
            <a:avLst/>
          </a:prstGeom>
          <a:solidFill>
            <a:srgbClr val="D68A22"/>
          </a:solidFill>
          <a:ln w="12700">
            <a:solidFill>
              <a:srgbClr val="D68A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1316736"/>
            <a:ext cx="1087495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2500" b="1">
                <a:solidFill>
                  <a:srgbClr val="0F2445"/>
                </a:solidFill>
                <a:latin typeface="Segoe UI"/>
                <a:ea typeface="Microsoft YaHei"/>
              </a:rPr>
              <a:t>Recall takes two lanes; compaction has three levels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819656"/>
            <a:ext cx="10874959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200" b="0">
                <a:solidFill>
                  <a:srgbClr val="5F708C"/>
                </a:solidFill>
                <a:latin typeface="Segoe UI"/>
                <a:ea typeface="Microsoft YaHei"/>
              </a:rPr>
              <a:t>Both are designed so they never block the main turn.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212848"/>
            <a:ext cx="10874959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250" b="1">
                <a:solidFill>
                  <a:srgbClr val="0F2445"/>
                </a:solidFill>
                <a:latin typeface="Segoe UI"/>
                <a:ea typeface="Microsoft YaHei"/>
              </a:rPr>
              <a:t>Auto memory recall: two lanes that never merge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182112"/>
            <a:ext cx="1234440" cy="5486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2B5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3182112"/>
            <a:ext cx="10515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1050" b="1">
                <a:solidFill>
                  <a:srgbClr val="0F2445"/>
                </a:solidFill>
                <a:latin typeface="Segoe UI"/>
                <a:ea typeface="Microsoft YaHei"/>
              </a:rPr>
              <a:t>Recall request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167128" y="3081527"/>
            <a:ext cx="2148840" cy="841248"/>
          </a:xfrm>
          <a:prstGeom prst="roundRect">
            <a:avLst/>
          </a:prstGeom>
          <a:solidFill>
            <a:srgbClr val="E2E8F3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130552" y="3035808"/>
            <a:ext cx="2148840" cy="84124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757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240280" y="3163824"/>
            <a:ext cx="192938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1200" b="1">
                <a:solidFill>
                  <a:srgbClr val="0F2445"/>
                </a:solidFill>
                <a:latin typeface="Segoe UI"/>
                <a:ea typeface="Microsoft YaHei"/>
              </a:rPr>
              <a:t>Fast Lane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58568" y="3438144"/>
            <a:ext cx="189280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880" b="0">
                <a:solidFill>
                  <a:srgbClr val="5F708C"/>
                </a:solidFill>
                <a:latin typeface="Segoe UI"/>
                <a:ea typeface="Microsoft YaHei"/>
              </a:rPr>
              <a:t>Scores filename and metadata, no model call</a:t>
            </a:r>
          </a:p>
        </p:txBody>
      </p:sp>
      <p:sp>
        <p:nvSpPr>
          <p:cNvPr id="19" name="Diamond 18"/>
          <p:cNvSpPr/>
          <p:nvPr/>
        </p:nvSpPr>
        <p:spPr>
          <a:xfrm>
            <a:off x="4553712" y="2953511"/>
            <a:ext cx="1874519" cy="1005840"/>
          </a:xfrm>
          <a:prstGeom prst="diamond">
            <a:avLst/>
          </a:prstGeom>
          <a:solidFill>
            <a:srgbClr val="FFFFFF"/>
          </a:solidFill>
          <a:ln w="15875">
            <a:solidFill>
              <a:srgbClr val="D68A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72380" y="2953511"/>
            <a:ext cx="1237183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950" b="1">
                <a:solidFill>
                  <a:srgbClr val="0F2445"/>
                </a:solidFill>
                <a:latin typeface="Segoe UI"/>
                <a:ea typeface="Microsoft YaHei"/>
              </a:rPr>
              <a:t>Strong hit?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892808" y="3456432"/>
            <a:ext cx="201168" cy="0"/>
          </a:xfrm>
          <a:prstGeom prst="line">
            <a:avLst/>
          </a:prstGeom>
          <a:ln w="15875">
            <a:solidFill>
              <a:srgbClr val="92A0B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279392" y="3456432"/>
            <a:ext cx="237744" cy="0"/>
          </a:xfrm>
          <a:prstGeom prst="line">
            <a:avLst/>
          </a:prstGeom>
          <a:ln w="15875">
            <a:solidFill>
              <a:srgbClr val="92A0B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6940295" y="2587751"/>
            <a:ext cx="2286000" cy="841248"/>
          </a:xfrm>
          <a:prstGeom prst="roundRect">
            <a:avLst/>
          </a:prstGeom>
          <a:solidFill>
            <a:srgbClr val="E2E8F3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903719" y="2542032"/>
            <a:ext cx="2286000" cy="84124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7A6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13447" y="2670048"/>
            <a:ext cx="2066543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1150" b="1">
                <a:solidFill>
                  <a:srgbClr val="0F2445"/>
                </a:solidFill>
                <a:latin typeface="Segoe UI"/>
                <a:ea typeface="Microsoft YaHei"/>
              </a:rPr>
              <a:t>Fast Lane hit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31735" y="2944368"/>
            <a:ext cx="2029967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880" b="0">
                <a:solidFill>
                  <a:srgbClr val="5F708C"/>
                </a:solidFill>
                <a:latin typeface="Segoe UI"/>
                <a:ea typeface="Microsoft YaHei"/>
              </a:rPr>
              <a:t>Exact match or ≥0.82 leading by 0.12; up to 3 files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428231" y="3456432"/>
            <a:ext cx="237744" cy="0"/>
          </a:xfrm>
          <a:prstGeom prst="line">
            <a:avLst/>
          </a:prstGeom>
          <a:ln w="17780">
            <a:solidFill>
              <a:srgbClr val="17A67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6665975" y="2962656"/>
            <a:ext cx="0" cy="493776"/>
          </a:xfrm>
          <a:prstGeom prst="line">
            <a:avLst/>
          </a:prstGeom>
          <a:ln w="17780">
            <a:solidFill>
              <a:srgbClr val="17A67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6665975" y="2962656"/>
            <a:ext cx="201168" cy="0"/>
          </a:xfrm>
          <a:prstGeom prst="line">
            <a:avLst/>
          </a:prstGeom>
          <a:ln w="17780">
            <a:solidFill>
              <a:srgbClr val="17A67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9189719" y="2962656"/>
            <a:ext cx="36577" cy="0"/>
          </a:xfrm>
          <a:prstGeom prst="line">
            <a:avLst/>
          </a:prstGeom>
          <a:ln w="15875">
            <a:solidFill>
              <a:srgbClr val="92A0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9226296" y="2962656"/>
            <a:ext cx="0" cy="493776"/>
          </a:xfrm>
          <a:prstGeom prst="line">
            <a:avLst/>
          </a:prstGeom>
          <a:ln w="15875">
            <a:solidFill>
              <a:srgbClr val="92A0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9226296" y="3456432"/>
            <a:ext cx="201168" cy="0"/>
          </a:xfrm>
          <a:prstGeom prst="line">
            <a:avLst/>
          </a:prstGeom>
          <a:ln w="15875">
            <a:solidFill>
              <a:srgbClr val="92A0B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6464807" y="3090672"/>
            <a:ext cx="402336" cy="237744"/>
          </a:xfrm>
          <a:prstGeom prst="rect">
            <a:avLst/>
          </a:prstGeom>
          <a:solidFill>
            <a:srgbClr val="F6F8FC"/>
          </a:solidFill>
          <a:ln w="12700">
            <a:solidFill>
              <a:srgbClr val="F6F8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64807" y="3090672"/>
            <a:ext cx="402336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850" b="1">
                <a:solidFill>
                  <a:srgbClr val="17A673"/>
                </a:solidFill>
                <a:latin typeface="Segoe UI"/>
                <a:ea typeface="Microsoft YaHei"/>
              </a:rPr>
              <a:t>Yes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940295" y="3575303"/>
            <a:ext cx="2286000" cy="841248"/>
          </a:xfrm>
          <a:prstGeom prst="roundRect">
            <a:avLst/>
          </a:prstGeom>
          <a:solidFill>
            <a:srgbClr val="E2E8F3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903719" y="3529584"/>
            <a:ext cx="2286000" cy="84124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7A5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013447" y="3657600"/>
            <a:ext cx="2066543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1150" b="1">
                <a:solidFill>
                  <a:srgbClr val="0F2445"/>
                </a:solidFill>
                <a:latin typeface="Segoe UI"/>
                <a:ea typeface="Microsoft YaHei"/>
              </a:rPr>
              <a:t>Semantic Lane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31735" y="3931920"/>
            <a:ext cx="2029967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880" b="0">
                <a:solidFill>
                  <a:srgbClr val="5F708C"/>
                </a:solidFill>
                <a:latin typeface="Segoe UI"/>
                <a:ea typeface="Microsoft YaHei"/>
              </a:rPr>
              <a:t>Small model ranks, up to 5; queries under 10 chars skip it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6428231" y="3456432"/>
            <a:ext cx="237744" cy="0"/>
          </a:xfrm>
          <a:prstGeom prst="line">
            <a:avLst/>
          </a:prstGeom>
          <a:ln w="17780">
            <a:solidFill>
              <a:srgbClr val="7A57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6665975" y="3456432"/>
            <a:ext cx="0" cy="493776"/>
          </a:xfrm>
          <a:prstGeom prst="line">
            <a:avLst/>
          </a:prstGeom>
          <a:ln w="17780">
            <a:solidFill>
              <a:srgbClr val="7A57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6665975" y="3950208"/>
            <a:ext cx="201168" cy="0"/>
          </a:xfrm>
          <a:prstGeom prst="line">
            <a:avLst/>
          </a:prstGeom>
          <a:ln w="17780">
            <a:solidFill>
              <a:srgbClr val="7A57D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9189719" y="3950208"/>
            <a:ext cx="36577" cy="0"/>
          </a:xfrm>
          <a:prstGeom prst="line">
            <a:avLst/>
          </a:prstGeom>
          <a:ln w="15875">
            <a:solidFill>
              <a:srgbClr val="92A0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9226296" y="3456432"/>
            <a:ext cx="0" cy="493776"/>
          </a:xfrm>
          <a:prstGeom prst="line">
            <a:avLst/>
          </a:prstGeom>
          <a:ln w="15875">
            <a:solidFill>
              <a:srgbClr val="92A0B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9226296" y="3456432"/>
            <a:ext cx="201168" cy="0"/>
          </a:xfrm>
          <a:prstGeom prst="line">
            <a:avLst/>
          </a:prstGeom>
          <a:ln w="15875">
            <a:solidFill>
              <a:srgbClr val="92A0B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ectangle 44"/>
          <p:cNvSpPr/>
          <p:nvPr/>
        </p:nvSpPr>
        <p:spPr>
          <a:xfrm>
            <a:off x="6464807" y="3584448"/>
            <a:ext cx="402336" cy="237744"/>
          </a:xfrm>
          <a:prstGeom prst="rect">
            <a:avLst/>
          </a:prstGeom>
          <a:solidFill>
            <a:srgbClr val="F6F8FC"/>
          </a:solidFill>
          <a:ln w="12700">
            <a:solidFill>
              <a:srgbClr val="F6F8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64807" y="3584448"/>
            <a:ext cx="402336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850" b="1">
                <a:solidFill>
                  <a:srgbClr val="7A57DE"/>
                </a:solidFill>
                <a:latin typeface="Segoe UI"/>
                <a:ea typeface="Microsoft YaHei"/>
              </a:rPr>
              <a:t>No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500615" y="3081527"/>
            <a:ext cx="2057400" cy="841248"/>
          </a:xfrm>
          <a:prstGeom prst="roundRect">
            <a:avLst/>
          </a:prstGeom>
          <a:solidFill>
            <a:srgbClr val="E2E8F3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9464040" y="3035808"/>
            <a:ext cx="2057400" cy="84124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645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573767" y="3163824"/>
            <a:ext cx="1837943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1150" b="1">
                <a:solidFill>
                  <a:srgbClr val="0F2445"/>
                </a:solidFill>
                <a:latin typeface="Segoe UI"/>
                <a:ea typeface="Microsoft YaHei"/>
              </a:rPr>
              <a:t>Attach to context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592056" y="3438144"/>
            <a:ext cx="180136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880" b="0">
                <a:solidFill>
                  <a:srgbClr val="5F708C"/>
                </a:solidFill>
                <a:latin typeface="Segoe UI"/>
                <a:ea typeface="Microsoft YaHei"/>
              </a:rPr>
              <a:t>Selected topic files ride along this turn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58368" y="4517136"/>
            <a:ext cx="3503066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49808" y="4517136"/>
            <a:ext cx="332018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900" b="1">
                <a:solidFill>
                  <a:srgbClr val="0F2445"/>
                </a:solidFill>
                <a:latin typeface="Segoe UI"/>
                <a:ea typeface="Microsoft YaHei"/>
              </a:rPr>
              <a:t>Normal turns never wait; explicit recall waits 4s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344314" y="4517136"/>
            <a:ext cx="3503066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435754" y="4517136"/>
            <a:ext cx="332018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900" b="1">
                <a:solidFill>
                  <a:srgbClr val="0F2445"/>
                </a:solidFill>
                <a:latin typeface="Segoe UI"/>
                <a:ea typeface="Microsoft YaHei"/>
              </a:rPr>
              <a:t>Files already surfaced this session are filtered out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030260" y="4517136"/>
            <a:ext cx="3503066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121700" y="4517136"/>
            <a:ext cx="332018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900" b="1">
                <a:solidFill>
                  <a:srgbClr val="0F2445"/>
                </a:solidFill>
                <a:latin typeface="Segoe UI"/>
                <a:ea typeface="Microsoft YaHei"/>
              </a:rPr>
              <a:t>All Fast Lane or all Semantic Lane, never a mix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58368" y="4956048"/>
            <a:ext cx="10874959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250" b="1">
                <a:solidFill>
                  <a:srgbClr val="0F2445"/>
                </a:solidFill>
                <a:latin typeface="Segoe UI"/>
                <a:ea typeface="Microsoft YaHei"/>
              </a:rPr>
              <a:t>Three levels of compaction: do as little as possible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99516" y="5285231"/>
            <a:ext cx="3442106" cy="932688"/>
          </a:xfrm>
          <a:prstGeom prst="roundRect">
            <a:avLst/>
          </a:prstGeom>
          <a:solidFill>
            <a:srgbClr val="E2E8F3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658368" y="5230368"/>
            <a:ext cx="3442106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96112" y="5321807"/>
            <a:ext cx="2966618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1">
                <a:solidFill>
                  <a:srgbClr val="0F2445"/>
                </a:solidFill>
                <a:latin typeface="Segoe UI"/>
                <a:ea typeface="Microsoft YaHei"/>
              </a:rPr>
              <a:t>Micro compact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896112" y="5577840"/>
            <a:ext cx="1669084" cy="237744"/>
          </a:xfrm>
          <a:prstGeom prst="roundRect">
            <a:avLst/>
          </a:prstGeom>
          <a:solidFill>
            <a:srgbClr val="D9F3F6"/>
          </a:solidFill>
          <a:ln w="12700">
            <a:solidFill>
              <a:srgbClr val="A5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41832" y="5577840"/>
            <a:ext cx="1577644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800" b="1">
                <a:solidFill>
                  <a:srgbClr val="0F2445"/>
                </a:solidFill>
                <a:latin typeface="Segoe UI"/>
                <a:ea typeface="Microsoft YaHei"/>
              </a:rPr>
              <a:t>Old payloads cleared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2610916" y="5577840"/>
            <a:ext cx="1251813" cy="237744"/>
          </a:xfrm>
          <a:prstGeom prst="roundRect">
            <a:avLst/>
          </a:prstGeom>
          <a:solidFill>
            <a:srgbClr val="12B5C4"/>
          </a:solidFill>
          <a:ln w="12700">
            <a:solidFill>
              <a:srgbClr val="12B5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656636" y="5577840"/>
            <a:ext cx="1160373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Segoe UI"/>
                <a:ea typeface="Microsoft YaHei"/>
              </a:rPr>
              <a:t>Pairs kept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96112" y="5870448"/>
            <a:ext cx="2966618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880" b="0">
                <a:solidFill>
                  <a:srgbClr val="5F708C"/>
                </a:solidFill>
                <a:latin typeface="Segoe UI"/>
                <a:ea typeface="Microsoft YaHei"/>
              </a:rPr>
              <a:t>In-process projection only, no boundary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4415942" y="5285231"/>
            <a:ext cx="3442106" cy="932688"/>
          </a:xfrm>
          <a:prstGeom prst="roundRect">
            <a:avLst/>
          </a:prstGeom>
          <a:solidFill>
            <a:srgbClr val="E2E8F3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4374794" y="5230368"/>
            <a:ext cx="3442106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612538" y="5321807"/>
            <a:ext cx="2966618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1">
                <a:solidFill>
                  <a:srgbClr val="0F2445"/>
                </a:solidFill>
                <a:latin typeface="Segoe UI"/>
                <a:ea typeface="Microsoft YaHei"/>
              </a:rPr>
              <a:t>Session compact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4612538" y="5577840"/>
            <a:ext cx="1251813" cy="237744"/>
          </a:xfrm>
          <a:prstGeom prst="roundRect">
            <a:avLst/>
          </a:prstGeom>
          <a:solidFill>
            <a:srgbClr val="2757E8"/>
          </a:solidFill>
          <a:ln w="12700">
            <a:solidFill>
              <a:srgbClr val="2757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658258" y="5577840"/>
            <a:ext cx="1160373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Segoe UI"/>
                <a:ea typeface="Microsoft YaHei"/>
              </a:rPr>
              <a:t>summary.md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5910072" y="5577840"/>
            <a:ext cx="1669084" cy="237744"/>
          </a:xfrm>
          <a:prstGeom prst="roundRect">
            <a:avLst/>
          </a:prstGeom>
          <a:solidFill>
            <a:srgbClr val="DCE4FB"/>
          </a:solidFill>
          <a:ln w="12700">
            <a:solidFill>
              <a:srgbClr val="ADBF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955792" y="5577840"/>
            <a:ext cx="1577644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800" b="1">
                <a:solidFill>
                  <a:srgbClr val="0F2445"/>
                </a:solidFill>
                <a:latin typeface="Segoe UI"/>
                <a:ea typeface="Microsoft YaHei"/>
              </a:rPr>
              <a:t>Pairing-safe tail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612538" y="5870448"/>
            <a:ext cx="2966618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880" b="0">
                <a:solidFill>
                  <a:srgbClr val="5F708C"/>
                </a:solidFill>
                <a:latin typeface="Segoe UI"/>
                <a:ea typeface="Microsoft YaHei"/>
              </a:rPr>
              <a:t>Reuses session memory, appends a boundary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8132368" y="5285231"/>
            <a:ext cx="3442106" cy="932688"/>
          </a:xfrm>
          <a:prstGeom prst="roundRect">
            <a:avLst/>
          </a:prstGeom>
          <a:solidFill>
            <a:srgbClr val="E2E8F3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ounded Rectangle 74"/>
          <p:cNvSpPr/>
          <p:nvPr/>
        </p:nvSpPr>
        <p:spPr>
          <a:xfrm>
            <a:off x="8091220" y="5230368"/>
            <a:ext cx="3442106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8328964" y="5321807"/>
            <a:ext cx="2966618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1">
                <a:solidFill>
                  <a:srgbClr val="0F2445"/>
                </a:solidFill>
                <a:latin typeface="Segoe UI"/>
                <a:ea typeface="Microsoft YaHei"/>
              </a:rPr>
              <a:t>Full compact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8328964" y="5577840"/>
            <a:ext cx="1251813" cy="237744"/>
          </a:xfrm>
          <a:prstGeom prst="roundRect">
            <a:avLst/>
          </a:prstGeom>
          <a:solidFill>
            <a:srgbClr val="7A57DE"/>
          </a:solidFill>
          <a:ln w="12700">
            <a:solidFill>
              <a:srgbClr val="7A5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374684" y="5577840"/>
            <a:ext cx="1160373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Segoe UI"/>
                <a:ea typeface="Microsoft YaHei"/>
              </a:rPr>
              <a:t>Model summary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9626498" y="5577840"/>
            <a:ext cx="1669084" cy="237744"/>
          </a:xfrm>
          <a:prstGeom prst="roundRect">
            <a:avLst/>
          </a:prstGeom>
          <a:solidFill>
            <a:srgbClr val="EAE4FA"/>
          </a:solidFill>
          <a:ln w="12700">
            <a:solidFill>
              <a:srgbClr val="CCBF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9672218" y="5577840"/>
            <a:ext cx="1577644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800" b="1">
                <a:solidFill>
                  <a:srgbClr val="0F2445"/>
                </a:solidFill>
                <a:latin typeface="Segoe UI"/>
                <a:ea typeface="Microsoft YaHei"/>
              </a:rPr>
              <a:t>boundary + tail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328964" y="5870448"/>
            <a:ext cx="2966618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880" b="0">
                <a:solidFill>
                  <a:srgbClr val="5F708C"/>
                </a:solidFill>
                <a:latin typeface="Segoe UI"/>
                <a:ea typeface="Microsoft YaHei"/>
              </a:rPr>
              <a:t>Only when notes are missing or stale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58368" y="365760"/>
            <a:ext cx="329184" cy="329184"/>
          </a:xfrm>
          <a:prstGeom prst="ellipse">
            <a:avLst/>
          </a:prstGeom>
          <a:solidFill>
            <a:srgbClr val="2757E8"/>
          </a:solidFill>
          <a:ln w="12700">
            <a:solidFill>
              <a:srgbClr val="2757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65760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Segoe UI"/>
                <a:ea typeface="Microsoft YaHei"/>
              </a:rPr>
              <a:t>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74904"/>
            <a:ext cx="219456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1">
                <a:solidFill>
                  <a:srgbClr val="0F2445"/>
                </a:solidFill>
                <a:latin typeface="Segoe UI"/>
                <a:ea typeface="Microsoft YaHei"/>
              </a:rPr>
              <a:t>CODING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12687" y="374904"/>
            <a:ext cx="45720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2000"/>
              </a:lnSpc>
              <a:spcAft>
                <a:spcPts val="0"/>
              </a:spcAft>
            </a:pPr>
            <a:r>
              <a:rPr sz="1000" b="0">
                <a:solidFill>
                  <a:srgbClr val="5F708C"/>
                </a:solidFill>
                <a:latin typeface="Segoe UI"/>
                <a:ea typeface="Microsoft YaHei"/>
              </a:rPr>
              <a:t>SECTION 02 ·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76127" y="374904"/>
            <a:ext cx="4572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2000"/>
              </a:lnSpc>
              <a:spcAft>
                <a:spcPts val="0"/>
              </a:spcAft>
            </a:pPr>
            <a:r>
              <a:rPr sz="1000" b="1">
                <a:solidFill>
                  <a:srgbClr val="92A0B8"/>
                </a:solidFill>
                <a:latin typeface="Segoe UI"/>
                <a:ea typeface="Microsoft YaHei"/>
              </a:rPr>
              <a:t>21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6382512"/>
            <a:ext cx="10874959" cy="10972"/>
          </a:xfrm>
          <a:prstGeom prst="rect">
            <a:avLst/>
          </a:prstGeom>
          <a:solidFill>
            <a:srgbClr val="D8E0EE"/>
          </a:solidFill>
          <a:ln w="12700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914400"/>
            <a:ext cx="10874959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1">
                <a:solidFill>
                  <a:srgbClr val="D64560"/>
                </a:solidFill>
                <a:latin typeface="Segoe UI"/>
                <a:ea typeface="Microsoft YaHei"/>
              </a:rPr>
              <a:t>FAILURE BOUNDARIES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197864"/>
            <a:ext cx="402336" cy="41148"/>
          </a:xfrm>
          <a:prstGeom prst="rect">
            <a:avLst/>
          </a:prstGeom>
          <a:solidFill>
            <a:srgbClr val="D64560"/>
          </a:solidFill>
          <a:ln w="12700">
            <a:solidFill>
              <a:srgbClr val="D645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1316736"/>
            <a:ext cx="1087495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2500" b="1">
                <a:solidFill>
                  <a:srgbClr val="0F2445"/>
                </a:solidFill>
                <a:latin typeface="Segoe UI"/>
                <a:ea typeface="Microsoft YaHei"/>
              </a:rPr>
              <a:t>Where the system falls back when things break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819656"/>
            <a:ext cx="10874959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200" b="0">
                <a:solidFill>
                  <a:srgbClr val="5F708C"/>
                </a:solidFill>
                <a:latin typeface="Segoe UI"/>
                <a:ea typeface="Microsoft YaHei"/>
              </a:rPr>
              <a:t>These boundaries are designed in, not patched on afterwards.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2304288"/>
            <a:ext cx="10874959" cy="411480"/>
          </a:xfrm>
          <a:prstGeom prst="rect">
            <a:avLst/>
          </a:prstGeom>
          <a:solidFill>
            <a:srgbClr val="ECF1FA"/>
          </a:solidFill>
          <a:ln w="12700">
            <a:solidFill>
              <a:srgbClr val="ECF1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8368" y="2386584"/>
            <a:ext cx="45720" cy="246888"/>
          </a:xfrm>
          <a:prstGeom prst="rect">
            <a:avLst/>
          </a:prstGeom>
          <a:solidFill>
            <a:srgbClr val="D64560"/>
          </a:solidFill>
          <a:ln w="12700">
            <a:solidFill>
              <a:srgbClr val="D645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7" y="2304288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50" b="1">
                <a:solidFill>
                  <a:srgbClr val="0F2445"/>
                </a:solidFill>
                <a:latin typeface="Segoe UI"/>
                <a:ea typeface="Microsoft YaHei"/>
              </a:rPr>
              <a:t>User interrupt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06624" y="2304288"/>
            <a:ext cx="8643823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00" b="0">
                <a:solidFill>
                  <a:srgbClr val="5F708C"/>
                </a:solidFill>
                <a:latin typeface="Segoe UI"/>
                <a:ea typeface="Microsoft YaHei"/>
              </a:rPr>
              <a:t>Usable partial output is committed and the interruption recorded; the turn ends as aborted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2843784"/>
            <a:ext cx="45720" cy="246888"/>
          </a:xfrm>
          <a:prstGeom prst="rect">
            <a:avLst/>
          </a:prstGeom>
          <a:solidFill>
            <a:srgbClr val="D64560"/>
          </a:solidFill>
          <a:ln w="12700">
            <a:solidFill>
              <a:srgbClr val="D645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7" y="2761488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50" b="1">
                <a:solidFill>
                  <a:srgbClr val="0F2445"/>
                </a:solidFill>
                <a:latin typeface="Segoe UI"/>
                <a:ea typeface="Microsoft YaHei"/>
              </a:rPr>
              <a:t>Tool errors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06624" y="2761488"/>
            <a:ext cx="8643823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00" b="0">
                <a:solidFill>
                  <a:srgbClr val="5F708C"/>
                </a:solidFill>
                <a:latin typeface="Segoe UI"/>
                <a:ea typeface="Microsoft YaHei"/>
              </a:rPr>
              <a:t>Unknown tools, denials, exceptions, and timeouts become isError results; a failed Bash also cancels siblings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3218688"/>
            <a:ext cx="10874959" cy="411480"/>
          </a:xfrm>
          <a:prstGeom prst="rect">
            <a:avLst/>
          </a:prstGeom>
          <a:solidFill>
            <a:srgbClr val="ECF1FA"/>
          </a:solidFill>
          <a:ln w="12700">
            <a:solidFill>
              <a:srgbClr val="ECF1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8368" y="3300984"/>
            <a:ext cx="45720" cy="246888"/>
          </a:xfrm>
          <a:prstGeom prst="rect">
            <a:avLst/>
          </a:prstGeom>
          <a:solidFill>
            <a:srgbClr val="D64560"/>
          </a:solidFill>
          <a:ln w="12700">
            <a:solidFill>
              <a:srgbClr val="D645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7" y="3218688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50" b="1">
                <a:solidFill>
                  <a:srgbClr val="0F2445"/>
                </a:solidFill>
                <a:latin typeface="Segoe UI"/>
                <a:ea typeface="Microsoft YaHei"/>
              </a:rPr>
              <a:t>Context overflow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06624" y="3218688"/>
            <a:ext cx="8643823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00" b="0">
                <a:solidFill>
                  <a:srgbClr val="5F708C"/>
                </a:solidFill>
                <a:latin typeface="Segoe UI"/>
                <a:ea typeface="Microsoft YaHei"/>
              </a:rPr>
              <a:t>One reactive compaction retry; only a second failure propagates as an error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3758183"/>
            <a:ext cx="45720" cy="246888"/>
          </a:xfrm>
          <a:prstGeom prst="rect">
            <a:avLst/>
          </a:prstGeom>
          <a:solidFill>
            <a:srgbClr val="D64560"/>
          </a:solidFill>
          <a:ln w="12700">
            <a:solidFill>
              <a:srgbClr val="D645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1247" y="3675887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50" b="1">
                <a:solidFill>
                  <a:srgbClr val="0F2445"/>
                </a:solidFill>
                <a:latin typeface="Segoe UI"/>
                <a:ea typeface="Microsoft YaHei"/>
              </a:rPr>
              <a:t>Step limit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06624" y="3675887"/>
            <a:ext cx="8643823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00" b="0">
                <a:solidFill>
                  <a:srgbClr val="5F708C"/>
                </a:solidFill>
                <a:latin typeface="Segoe UI"/>
                <a:ea typeface="Microsoft YaHei"/>
              </a:rPr>
              <a:t>Tools are disabled and one final answer is forced; if that fails the wire reports the limit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" y="4133087"/>
            <a:ext cx="10874959" cy="411480"/>
          </a:xfrm>
          <a:prstGeom prst="rect">
            <a:avLst/>
          </a:prstGeom>
          <a:solidFill>
            <a:srgbClr val="ECF1FA"/>
          </a:solidFill>
          <a:ln w="12700">
            <a:solidFill>
              <a:srgbClr val="ECF1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58368" y="4215383"/>
            <a:ext cx="45720" cy="246888"/>
          </a:xfrm>
          <a:prstGeom prst="rect">
            <a:avLst/>
          </a:prstGeom>
          <a:solidFill>
            <a:srgbClr val="D64560"/>
          </a:solidFill>
          <a:ln w="12700">
            <a:solidFill>
              <a:srgbClr val="D645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1247" y="4133087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50" b="1">
                <a:solidFill>
                  <a:srgbClr val="0F2445"/>
                </a:solidFill>
                <a:latin typeface="Segoe UI"/>
                <a:ea typeface="Microsoft YaHei"/>
              </a:rPr>
              <a:t>Remote unavailable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06624" y="4133087"/>
            <a:ext cx="8643823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00" b="0">
                <a:solidFill>
                  <a:srgbClr val="5F708C"/>
                </a:solidFill>
                <a:latin typeface="Segoe UI"/>
                <a:ea typeface="Microsoft YaHei"/>
              </a:rPr>
              <a:t>Fail-closed: remote preparation aborts rather than running file and shell work locally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4672583"/>
            <a:ext cx="45720" cy="246888"/>
          </a:xfrm>
          <a:prstGeom prst="rect">
            <a:avLst/>
          </a:prstGeom>
          <a:solidFill>
            <a:srgbClr val="D64560"/>
          </a:solidFill>
          <a:ln w="12700">
            <a:solidFill>
              <a:srgbClr val="D645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1247" y="4590288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50" b="1">
                <a:solidFill>
                  <a:srgbClr val="0F2445"/>
                </a:solidFill>
                <a:latin typeface="Segoe UI"/>
                <a:ea typeface="Microsoft YaHei"/>
              </a:rPr>
              <a:t>Concurrent writes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06624" y="4590288"/>
            <a:ext cx="8643823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00" b="0">
                <a:solidFill>
                  <a:srgbClr val="5F708C"/>
                </a:solidFill>
                <a:latin typeface="Segoe UI"/>
                <a:ea typeface="Microsoft YaHei"/>
              </a:rPr>
              <a:t>One active turn per session, so a transcript is never rewritten concurrently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5047488"/>
            <a:ext cx="10874959" cy="411480"/>
          </a:xfrm>
          <a:prstGeom prst="rect">
            <a:avLst/>
          </a:prstGeom>
          <a:solidFill>
            <a:srgbClr val="ECF1FA"/>
          </a:solidFill>
          <a:ln w="12700">
            <a:solidFill>
              <a:srgbClr val="ECF1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58368" y="5129783"/>
            <a:ext cx="45720" cy="246888"/>
          </a:xfrm>
          <a:prstGeom prst="rect">
            <a:avLst/>
          </a:prstGeom>
          <a:solidFill>
            <a:srgbClr val="D64560"/>
          </a:solidFill>
          <a:ln w="12700">
            <a:solidFill>
              <a:srgbClr val="D645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41247" y="5047488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50" b="1">
                <a:solidFill>
                  <a:srgbClr val="0F2445"/>
                </a:solidFill>
                <a:latin typeface="Segoe UI"/>
                <a:ea typeface="Microsoft YaHei"/>
              </a:rPr>
              <a:t>Extension errors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706624" y="5047488"/>
            <a:ext cx="8643823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00" b="0">
                <a:solidFill>
                  <a:srgbClr val="5F708C"/>
                </a:solidFill>
                <a:latin typeface="Segoe UI"/>
                <a:ea typeface="Microsoft YaHei"/>
              </a:rPr>
              <a:t>Malformed plugin manifests, skills, or MCP JSON report their source; other extensions keep loading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" y="5586983"/>
            <a:ext cx="45720" cy="246888"/>
          </a:xfrm>
          <a:prstGeom prst="rect">
            <a:avLst/>
          </a:prstGeom>
          <a:solidFill>
            <a:srgbClr val="D64560"/>
          </a:solidFill>
          <a:ln w="12700">
            <a:solidFill>
              <a:srgbClr val="D645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41247" y="5504688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50" b="1">
                <a:solidFill>
                  <a:srgbClr val="0F2445"/>
                </a:solidFill>
                <a:latin typeface="Segoe UI"/>
                <a:ea typeface="Microsoft YaHei"/>
              </a:rPr>
              <a:t>MCP offline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706624" y="5504688"/>
            <a:ext cx="8643823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00" b="0">
                <a:solidFill>
                  <a:srgbClr val="5F708C"/>
                </a:solidFill>
                <a:latin typeface="Segoe UI"/>
                <a:ea typeface="Microsoft YaHei"/>
              </a:rPr>
              <a:t>That server's tools go missing; config changes replace the pooled manager, not a live connection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58368" y="5961888"/>
            <a:ext cx="10874959" cy="411480"/>
          </a:xfrm>
          <a:prstGeom prst="rect">
            <a:avLst/>
          </a:prstGeom>
          <a:solidFill>
            <a:srgbClr val="ECF1FA"/>
          </a:solidFill>
          <a:ln w="12700">
            <a:solidFill>
              <a:srgbClr val="ECF1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58368" y="6044183"/>
            <a:ext cx="45720" cy="246888"/>
          </a:xfrm>
          <a:prstGeom prst="rect">
            <a:avLst/>
          </a:prstGeom>
          <a:solidFill>
            <a:srgbClr val="D64560"/>
          </a:solidFill>
          <a:ln w="12700">
            <a:solidFill>
              <a:srgbClr val="D645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41247" y="5961888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50" b="1">
                <a:solidFill>
                  <a:srgbClr val="0F2445"/>
                </a:solidFill>
                <a:latin typeface="Segoe UI"/>
                <a:ea typeface="Microsoft YaHei"/>
              </a:rPr>
              <a:t>Protocol mismatch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706624" y="5961888"/>
            <a:ext cx="8643823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00" b="0">
                <a:solidFill>
                  <a:srgbClr val="5F708C"/>
                </a:solidFill>
                <a:latin typeface="Segoe UI"/>
                <a:ea typeface="Microsoft YaHei"/>
              </a:rPr>
              <a:t>Adapters reject invalid messages; breaking contract changes require a protocol version bump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58368" y="365760"/>
            <a:ext cx="329184" cy="329184"/>
          </a:xfrm>
          <a:prstGeom prst="ellipse">
            <a:avLst/>
          </a:prstGeom>
          <a:solidFill>
            <a:srgbClr val="2757E8"/>
          </a:solidFill>
          <a:ln w="12700">
            <a:solidFill>
              <a:srgbClr val="2757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65760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Segoe UI"/>
                <a:ea typeface="Microsoft YaHei"/>
              </a:rPr>
              <a:t>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74904"/>
            <a:ext cx="219456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1">
                <a:solidFill>
                  <a:srgbClr val="0F2445"/>
                </a:solidFill>
                <a:latin typeface="Segoe UI"/>
                <a:ea typeface="Microsoft YaHei"/>
              </a:rPr>
              <a:t>CODING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12687" y="374904"/>
            <a:ext cx="45720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2000"/>
              </a:lnSpc>
              <a:spcAft>
                <a:spcPts val="0"/>
              </a:spcAft>
            </a:pPr>
            <a:r>
              <a:rPr sz="1000" b="0">
                <a:solidFill>
                  <a:srgbClr val="5F708C"/>
                </a:solidFill>
                <a:latin typeface="Segoe UI"/>
                <a:ea typeface="Microsoft YaHei"/>
              </a:rPr>
              <a:t>WRAP 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76127" y="374904"/>
            <a:ext cx="4572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2000"/>
              </a:lnSpc>
              <a:spcAft>
                <a:spcPts val="0"/>
              </a:spcAft>
            </a:pPr>
            <a:r>
              <a:rPr sz="1000" b="1">
                <a:solidFill>
                  <a:srgbClr val="92A0B8"/>
                </a:solidFill>
                <a:latin typeface="Segoe UI"/>
                <a:ea typeface="Microsoft YaHei"/>
              </a:rPr>
              <a:t>22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6382512"/>
            <a:ext cx="10874959" cy="10972"/>
          </a:xfrm>
          <a:prstGeom prst="rect">
            <a:avLst/>
          </a:prstGeom>
          <a:solidFill>
            <a:srgbClr val="D8E0EE"/>
          </a:solidFill>
          <a:ln w="12700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207008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1100" b="1">
                <a:solidFill>
                  <a:srgbClr val="12B5C4"/>
                </a:solidFill>
                <a:latin typeface="Segoe UI"/>
                <a:ea typeface="Microsoft YaHei"/>
              </a:rPr>
              <a:t>WRAP UP</a:t>
            </a:r>
          </a:p>
        </p:txBody>
      </p:sp>
      <p:sp>
        <p:nvSpPr>
          <p:cNvPr id="9" name="Rectangle 8"/>
          <p:cNvSpPr/>
          <p:nvPr/>
        </p:nvSpPr>
        <p:spPr>
          <a:xfrm>
            <a:off x="5858103" y="1517904"/>
            <a:ext cx="475488" cy="45720"/>
          </a:xfrm>
          <a:prstGeom prst="rect">
            <a:avLst/>
          </a:prstGeom>
          <a:solidFill>
            <a:srgbClr val="12B5C4"/>
          </a:solidFill>
          <a:ln w="12700">
            <a:solidFill>
              <a:srgbClr val="12B5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1773936"/>
            <a:ext cx="10874959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3200" b="1">
                <a:solidFill>
                  <a:srgbClr val="0F2445"/>
                </a:solidFill>
                <a:latin typeface="Segoe UI"/>
                <a:ea typeface="Microsoft YaHei"/>
              </a:rPr>
              <a:t>Three sentences to remember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9516" y="2670048"/>
            <a:ext cx="3442106" cy="1481328"/>
          </a:xfrm>
          <a:prstGeom prst="roundRect">
            <a:avLst/>
          </a:prstGeom>
          <a:solidFill>
            <a:srgbClr val="E2E8F3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8368" y="2615184"/>
            <a:ext cx="3442106" cy="1481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8368" y="2852928"/>
            <a:ext cx="73152" cy="1005840"/>
          </a:xfrm>
          <a:prstGeom prst="rect">
            <a:avLst/>
          </a:prstGeom>
          <a:solidFill>
            <a:srgbClr val="2757E8"/>
          </a:solidFill>
          <a:ln w="12700">
            <a:solidFill>
              <a:srgbClr val="2757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2415" y="2852928"/>
            <a:ext cx="54864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00" b="1">
                <a:solidFill>
                  <a:srgbClr val="2757E8"/>
                </a:solidFill>
                <a:latin typeface="Segoe UI"/>
                <a:ea typeface="Microsoft YaHei"/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2415" y="3163824"/>
            <a:ext cx="271058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700" b="1">
                <a:solidFill>
                  <a:srgbClr val="0F2445"/>
                </a:solidFill>
                <a:latin typeface="Segoe UI"/>
                <a:ea typeface="Microsoft YaHei"/>
              </a:rPr>
              <a:t>One engine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2415" y="3529584"/>
            <a:ext cx="2710586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>
                <a:solidFill>
                  <a:srgbClr val="5F708C"/>
                </a:solidFill>
                <a:latin typeface="Segoe UI"/>
                <a:ea typeface="Microsoft YaHei"/>
              </a:rPr>
              <a:t>Desktop, Web, IDE, and API all converge on the same turn host and query loop. The entry point never changes behavior.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15942" y="2670048"/>
            <a:ext cx="3442106" cy="1481328"/>
          </a:xfrm>
          <a:prstGeom prst="roundRect">
            <a:avLst/>
          </a:prstGeom>
          <a:solidFill>
            <a:srgbClr val="E2E8F3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374794" y="2615184"/>
            <a:ext cx="3442106" cy="1481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74794" y="2852928"/>
            <a:ext cx="73152" cy="1005840"/>
          </a:xfrm>
          <a:prstGeom prst="rect">
            <a:avLst/>
          </a:prstGeom>
          <a:solidFill>
            <a:srgbClr val="7A57DE"/>
          </a:solidFill>
          <a:ln w="12700">
            <a:solidFill>
              <a:srgbClr val="7A5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58842" y="2852928"/>
            <a:ext cx="54864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00" b="1">
                <a:solidFill>
                  <a:srgbClr val="7A57DE"/>
                </a:solidFill>
                <a:latin typeface="Segoe UI"/>
                <a:ea typeface="Microsoft YaHei"/>
              </a:rP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8842" y="3163824"/>
            <a:ext cx="271058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700" b="1">
                <a:solidFill>
                  <a:srgbClr val="0F2445"/>
                </a:solidFill>
                <a:latin typeface="Segoe UI"/>
                <a:ea typeface="Microsoft YaHei"/>
              </a:rPr>
              <a:t>Explicit boundaries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8842" y="3529584"/>
            <a:ext cx="2710586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>
                <a:solidFill>
                  <a:srgbClr val="5F708C"/>
                </a:solidFill>
                <a:latin typeface="Segoe UI"/>
                <a:ea typeface="Microsoft YaHei"/>
              </a:rPr>
              <a:t>The permission gate, the execution plane, and the protocol schema keep capability and risk separately managed.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32368" y="2670048"/>
            <a:ext cx="3442106" cy="1481328"/>
          </a:xfrm>
          <a:prstGeom prst="roundRect">
            <a:avLst/>
          </a:prstGeom>
          <a:solidFill>
            <a:srgbClr val="E2E8F3"/>
          </a:solidFill>
          <a:ln w="12700">
            <a:solidFill>
              <a:srgbClr val="E2E8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091220" y="2615184"/>
            <a:ext cx="3442106" cy="1481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091220" y="2852928"/>
            <a:ext cx="73152" cy="1005840"/>
          </a:xfrm>
          <a:prstGeom prst="rect">
            <a:avLst/>
          </a:prstGeom>
          <a:solidFill>
            <a:srgbClr val="17A673"/>
          </a:solidFill>
          <a:ln w="12700">
            <a:solidFill>
              <a:srgbClr val="17A6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75268" y="2852928"/>
            <a:ext cx="54864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100" b="1">
                <a:solidFill>
                  <a:srgbClr val="17A673"/>
                </a:solidFill>
                <a:latin typeface="Segoe UI"/>
                <a:ea typeface="Microsoft YaHei"/>
              </a:rPr>
              <a:t>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75268" y="3163824"/>
            <a:ext cx="271058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700" b="1">
                <a:solidFill>
                  <a:srgbClr val="0F2445"/>
                </a:solidFill>
                <a:latin typeface="Segoe UI"/>
                <a:ea typeface="Microsoft YaHei"/>
              </a:rPr>
              <a:t>Extensible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75268" y="3529584"/>
            <a:ext cx="2710586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>
                <a:solidFill>
                  <a:srgbClr val="5F708C"/>
                </a:solidFill>
                <a:latin typeface="Segoe UI"/>
                <a:ea typeface="Microsoft YaHei"/>
              </a:rPr>
              <a:t>Tools, skills, subagents, and MCP plug in without touching the core loop, and most are rebuilt every turn.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4370832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1100" b="1">
                <a:solidFill>
                  <a:srgbClr val="5F708C"/>
                </a:solidFill>
                <a:latin typeface="Segoe UI"/>
                <a:ea typeface="Microsoft YaHei"/>
              </a:rPr>
              <a:t>Live demos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4718304"/>
            <a:ext cx="3442106" cy="475488"/>
          </a:xfrm>
          <a:prstGeom prst="roundRect">
            <a:avLst/>
          </a:prstGeom>
          <a:solidFill>
            <a:srgbClr val="ECF1FA"/>
          </a:solidFill>
          <a:ln w="12700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4718304"/>
            <a:ext cx="3442106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1050" b="1">
                <a:solidFill>
                  <a:srgbClr val="0F2445"/>
                </a:solidFill>
                <a:latin typeface="Segoe UI"/>
                <a:ea typeface="Microsoft YaHei"/>
              </a:rPr>
              <a:t>DEMO 01   Run a real change from the IDE sidebar over ACP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374794" y="4718304"/>
            <a:ext cx="3442106" cy="475488"/>
          </a:xfrm>
          <a:prstGeom prst="roundRect">
            <a:avLst/>
          </a:prstGeom>
          <a:solidFill>
            <a:srgbClr val="ECF1FA"/>
          </a:solidFill>
          <a:ln w="12700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74794" y="4718304"/>
            <a:ext cx="3442106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1050" b="1">
                <a:solidFill>
                  <a:srgbClr val="0F2445"/>
                </a:solidFill>
                <a:latin typeface="Segoe UI"/>
                <a:ea typeface="Microsoft YaHei"/>
              </a:rPr>
              <a:t>DEMO 02   Verify a login flow with browser automation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091220" y="4718304"/>
            <a:ext cx="3442106" cy="475488"/>
          </a:xfrm>
          <a:prstGeom prst="roundRect">
            <a:avLst/>
          </a:prstGeom>
          <a:solidFill>
            <a:srgbClr val="ECF1FA"/>
          </a:solidFill>
          <a:ln w="12700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091220" y="4718304"/>
            <a:ext cx="3442106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1050" b="1">
                <a:solidFill>
                  <a:srgbClr val="0F2445"/>
                </a:solidFill>
                <a:latin typeface="Segoe UI"/>
                <a:ea typeface="Microsoft YaHei"/>
              </a:rPr>
              <a:t>DEMO 03   Search and edit inside an SSH remote workspace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58368" y="5650992"/>
            <a:ext cx="10874959" cy="10972"/>
          </a:xfrm>
          <a:prstGeom prst="rect">
            <a:avLst/>
          </a:prstGeom>
          <a:solidFill>
            <a:srgbClr val="D8E0EE"/>
          </a:solidFill>
          <a:ln w="12700">
            <a:solidFill>
              <a:srgbClr val="D8E0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8368" y="5852160"/>
            <a:ext cx="10874959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1100" b="0">
                <a:solidFill>
                  <a:srgbClr val="5F708C"/>
                </a:solidFill>
                <a:latin typeface="Segoe UI"/>
                <a:ea typeface="Microsoft YaHei"/>
              </a:rPr>
              <a:t>Questions  ·  Coding Agent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