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DD3F0520-AAEF-4944-80B5-4626E0BAC943}">
          <p14:sldIdLst>
            <p14:sldId id="256"/>
            <p14:sldId id="257"/>
          </p14:sldIdLst>
        </p14:section>
        <p14:section name="Section 01 · 能力全景" id="{7CD21857-2174-405F-9BF7-0DB6FDDE60F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ection 02 · 架构与关键实现" id="{08572C28-1680-41E1-B936-45F81F3969AB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收尾" id="{471287D3-8BA8-48AC-A588-C5FD2FC74F69}">
          <p14:sldIdLst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12B5C4"/>
                </a:solidFill>
                <a:latin typeface="Segoe UI"/>
                <a:ea typeface="Microsoft YaHei"/>
              </a:rPr>
              <a:t>产品与架构介绍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475488" cy="4572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56816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0F2445"/>
                </a:solidFill>
                <a:latin typeface="Segoe UI"/>
                <a:ea typeface="Microsoft YaHei"/>
              </a:rPr>
              <a:t>能力全景与架构实现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295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F708C"/>
                </a:solidFill>
                <a:latin typeface="Segoe UI"/>
                <a:ea typeface="Microsoft YaHei"/>
              </a:rPr>
              <a:t>桌面端、Web、IDE 与 API 共用同一个 Agent 引擎。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114800"/>
            <a:ext cx="3108960" cy="475488"/>
          </a:xfrm>
          <a:prstGeom prst="round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114800"/>
            <a:ext cx="3108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Microsoft YaHei"/>
              </a:rPr>
              <a:t>本地可运行 · 可私有部署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248656"/>
            <a:ext cx="4937760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48640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自有模型  ·  自有数据  ·  源码级可扩展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0468" y="1426464"/>
            <a:ext cx="5544007" cy="210312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89320" y="1371600"/>
            <a:ext cx="554400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645920"/>
            <a:ext cx="82296" cy="155448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6824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SECTION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066543"/>
            <a:ext cx="472104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F2445"/>
                </a:solidFill>
                <a:latin typeface="Segoe UI"/>
                <a:ea typeface="Microsoft YaHei"/>
              </a:rPr>
              <a:t>能力全景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596896"/>
            <a:ext cx="4721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F708C"/>
                </a:solidFill>
                <a:latin typeface="Segoe UI"/>
                <a:ea typeface="Microsoft YaHei"/>
              </a:rPr>
              <a:t>Agent 能做什么：编码、浏览器自动化、扩展体系、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F708C"/>
                </a:solidFill>
                <a:latin typeface="Segoe UI"/>
                <a:ea typeface="Microsoft YaHei"/>
              </a:rPr>
              <a:t>多端接入与 ACP、记忆与上下文、工程化保障。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0468" y="3803903"/>
            <a:ext cx="5544007" cy="210312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89320" y="3749039"/>
            <a:ext cx="554400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4023359"/>
            <a:ext cx="82296" cy="155448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059935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SECTION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443983"/>
            <a:ext cx="472104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F2445"/>
                </a:solidFill>
                <a:latin typeface="Segoe UI"/>
                <a:ea typeface="Microsoft YaHei"/>
              </a:rPr>
              <a:t>架构与关键实现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4974336"/>
            <a:ext cx="4721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F708C"/>
                </a:solidFill>
                <a:latin typeface="Segoe UI"/>
                <a:ea typeface="Microsoft YaHei"/>
              </a:rPr>
              <a:t>一次对话如何跑完：Turn Host、Query Loop、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F708C"/>
                </a:solidFill>
                <a:latin typeface="Segoe UI"/>
                <a:ea typeface="Microsoft YaHei"/>
              </a:rPr>
              <a:t>工具流水线、执行平面、协议层与 ACP 实现。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2757E8"/>
                </a:solidFill>
                <a:latin typeface="Segoe UI"/>
                <a:ea typeface="Microsoft YaHei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两个 Section，一条主线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先讲清楚能力边界，再回答这些能力是怎么实现的。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5282031" cy="3913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5282031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249424"/>
            <a:ext cx="5282031" cy="54864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523744"/>
            <a:ext cx="46419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SECTION 01 · 能力全景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99923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299923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能力总览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37642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37642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编码核心能力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" y="337642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753611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3753611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浏览器自动化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" y="3753611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13080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13080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扩展体系：子代理 / 技能 / MCP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" y="413080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50799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9616" y="450799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记忆与上下文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" y="450799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885181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4885181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多端接入：一套引擎四种入口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" y="4885181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26237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9616" y="526237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ACP：在 IDE 里直接用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" y="526237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63956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9616" y="563956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工程化与安全能力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" y="563956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2443" y="2304288"/>
            <a:ext cx="5282031" cy="3913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51295" y="2249424"/>
            <a:ext cx="5282031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1295" y="2249424"/>
            <a:ext cx="5282031" cy="5486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0479" y="2523744"/>
            <a:ext cx="46419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SECTION 02 · 架构与关键实现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0479" y="299923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2543" y="299923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系统总览：分层与边界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0479" y="333451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2543" y="333451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一条消息的端到端路径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0479" y="333451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0479" y="366979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2543" y="366979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Agent Loop 的职责划分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0479" y="366979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0479" y="400507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92543" y="400507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工具流水线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0479" y="400507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0479" y="4340351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92543" y="4340351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执行平面：控制面与执行面分离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0479" y="4340351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0479" y="467563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92543" y="467563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协议层与关联 ID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0479" y="467563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0479" y="501091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92543" y="501091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ACP 实现细节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0479" y="501091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0479" y="534619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92543" y="534619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记忆与压缩的实现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0479" y="534619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0479" y="568147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92543" y="568147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失败边界与可靠性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0479" y="568147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5F708C"/>
                </a:solidFill>
                <a:latin typeface="Segoe UI"/>
                <a:ea typeface="Microsoft YaHei"/>
              </a:rPr>
              <a:t>SECTION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600" b="1">
                <a:solidFill>
                  <a:srgbClr val="2757E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389120"/>
            <a:ext cx="1280160" cy="4572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072384"/>
            <a:ext cx="749807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800" b="1">
                <a:solidFill>
                  <a:srgbClr val="0F2445"/>
                </a:solidFill>
                <a:latin typeface="Segoe UI"/>
                <a:ea typeface="Microsoft YaHei"/>
              </a:rPr>
              <a:t>能力全景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3840480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F708C"/>
                </a:solidFill>
                <a:latin typeface="Segoe UI"/>
                <a:ea typeface="Microsoft YaHei"/>
              </a:rPr>
              <a:t>Agent 能做什么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编码 · 浏览器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9441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9441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扩展 · 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8363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8363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多端 · ACP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7285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7285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记忆 · 权限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能力全景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2757E8"/>
                </a:solidFill>
                <a:latin typeface="Segoe UI"/>
                <a:ea typeface="Microsoft YaHei"/>
              </a:rPr>
              <a:t>能力总览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六块能力，构成一个能干活的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每一块都能单独使用，也能在一次对话里串起来。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64008" cy="146304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2757E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编码助手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读写与精确编辑文件，按片段改而不是整文件覆盖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ripgrep 级检索 + LSP 结构化代码智能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跨平台执行命令，长任务自动转后台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984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869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698" y="2432304"/>
            <a:ext cx="64008" cy="146304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301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浏览器自动化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快照式操作真实网页：导航、点击、填表、截图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可复用本机 Chrome 的 cookie 与登录态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能看网络请求，识别页面没报错的隐性失败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017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902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9028" y="2432304"/>
            <a:ext cx="64008" cy="146304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7A57DE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扩展体系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Skills、Slash Commands、子代理、MCP、插件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全部是 Markdown 或配置，不用改核心循环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按插件 / 用户 / 项目 / 托管四级优先级合并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17136"/>
            <a:ext cx="64008" cy="146304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多端接入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Electron 桌面端、Web UI、CLI stdio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ACP 接入 VS Code / Cursor / IntelliJ 侧栏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HTTP API 与 TypeScript / Python SDK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984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6869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68698" y="4517136"/>
            <a:ext cx="64008" cy="1463040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301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8A22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301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记忆与上下文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301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项目规则常驻，跨会话记忆按需召回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会话摘要记录本次进度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上下文自动压缩，完整历史永不丢失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017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7902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79028" y="4517136"/>
            <a:ext cx="64008" cy="1463040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34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4560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334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工程化保障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334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文件系统权限边界与部署模式收敛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定时任务、后台任务、大输出外置存储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所有失败都被收敛在工具边界上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能力全景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2757E8"/>
                </a:solidFill>
                <a:latin typeface="Segoe UI"/>
                <a:ea typeface="Microsoft YaHei"/>
              </a:rPr>
              <a:t>编码核心能力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从看懂代码到改完验证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工具不是一堆 API，而是一条「检索 → 理解 → 修改 → 验证」的链路。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64008" cy="146304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2757E8"/>
                </a:solidFill>
                <a:latin typeface="Segoe UI"/>
                <a:ea typeface="Microsoft YaHei"/>
              </a:rPr>
              <a:t>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Read / Write / 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按行区间读取，避免整文件灌进上下文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精确字符串替换，冲突会直接失败而不是猜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写入后自动回灌 LSP 诊断到下一步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984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869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698" y="2432304"/>
            <a:ext cx="64008" cy="146304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301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Glob / Grep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ripgrep 后端，支持正则、文件类型、上下文行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在 worker 侧就近执行，远端工作区同样适用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结果可只回文件名，控制上下文开销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017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902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9028" y="2432304"/>
            <a:ext cx="64008" cy="146304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Bash / PowerShell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跨平台 shell，保留 cwd 与会话状态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长命令转后台任务，不阻塞 Agent 主路径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失败会取消同一并行组里的兄弟调用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17136"/>
            <a:ext cx="64008" cy="146304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7A57DE"/>
                </a:solidFill>
                <a:latin typeface="Segoe UI"/>
                <a:ea typeface="Microsoft YaHei"/>
              </a:rPr>
              <a:t>代码智能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LSP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定义、引用、实现、符号、悬停信息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语言服务器跑在工作区旁边，不在控制机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Write / Edit 之后被动诊断自动附加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984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6869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68698" y="4517136"/>
            <a:ext cx="64008" cy="1463040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301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8A22"/>
                </a:solidFill>
                <a:latin typeface="Segoe UI"/>
                <a:ea typeface="Microsoft YaHei"/>
              </a:rPr>
              <a:t>并行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301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子代理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301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Explore：只读并行检索，结构化汇报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Plan：只读架构规划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general-purpose：读写 + shell + web 的开放任务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017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7902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79028" y="4517136"/>
            <a:ext cx="64008" cy="1463040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34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4560"/>
                </a:solidFill>
                <a:latin typeface="Segoe UI"/>
                <a:ea typeface="Microsoft YaHei"/>
              </a:rPr>
              <a:t>过程可见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334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计划与澄清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334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TodoWrite 把多步任务显式列出来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AskUserQuestion 在真正需要决策时才打断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Plan 模式先出方案，批准后才动手改代码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能力全景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12B5C4"/>
                </a:solidFill>
                <a:latin typeface="Segoe UI"/>
                <a:ea typeface="Microsoft YaHei"/>
              </a:rPr>
              <a:t>浏览器自动化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看快照，选元素，做动作，再看一次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Agent 不靠像素点坐标，而是靠带 ref 的元素快照来操作页面。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423160"/>
            <a:ext cx="2362123" cy="8961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377440"/>
            <a:ext cx="2362123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505456"/>
            <a:ext cx="214266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① navigate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779776"/>
            <a:ext cx="210609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打开页面并返回第一份快照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2555" y="2423160"/>
            <a:ext cx="2362123" cy="8961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95979" y="2377440"/>
            <a:ext cx="2362123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5707" y="2505456"/>
            <a:ext cx="214266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②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995" y="2779776"/>
            <a:ext cx="210609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带 ref 的元素树，不是像素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75355" y="2825496"/>
            <a:ext cx="347472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70167" y="2423160"/>
            <a:ext cx="2362123" cy="8961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3591" y="2377440"/>
            <a:ext cx="2362123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3319" y="2505456"/>
            <a:ext cx="214266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③ 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2779776"/>
            <a:ext cx="210609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fill_form / click 按 ref 定位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12967" y="2825496"/>
            <a:ext cx="347472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07779" y="2423160"/>
            <a:ext cx="2362123" cy="8961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71203" y="2377440"/>
            <a:ext cx="2362123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0931" y="2505456"/>
            <a:ext cx="214266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④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219" y="2779776"/>
            <a:ext cx="210609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用新快照与网络记录判断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50579" y="2825496"/>
            <a:ext cx="347472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352265" y="3273552"/>
            <a:ext cx="0" cy="384048"/>
          </a:xfrm>
          <a:prstGeom prst="line">
            <a:avLst/>
          </a:prstGeom>
          <a:ln w="19050">
            <a:solidFill>
              <a:srgbClr val="12B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677041" y="3657600"/>
            <a:ext cx="5675224" cy="0"/>
          </a:xfrm>
          <a:prstGeom prst="line">
            <a:avLst/>
          </a:prstGeom>
          <a:ln w="19050">
            <a:solidFill>
              <a:srgbClr val="12B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677041" y="3273552"/>
            <a:ext cx="0" cy="384048"/>
          </a:xfrm>
          <a:prstGeom prst="line">
            <a:avLst/>
          </a:prstGeom>
          <a:ln w="19050">
            <a:solidFill>
              <a:srgbClr val="12B5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280213" y="3538728"/>
            <a:ext cx="2468880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0213" y="353872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ref 会失效 → 重新快照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9516" y="3986783"/>
            <a:ext cx="3442106" cy="22311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31920"/>
            <a:ext cx="3442106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293004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两种模式，同一套工具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553712"/>
            <a:ext cx="54864" cy="64008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517136"/>
            <a:ext cx="265572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Isolated 模式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773168"/>
            <a:ext cx="26557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Agent 独占的 Chrome profile，零配置开箱即用，适合本地服务与公开站点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5376672"/>
            <a:ext cx="54864" cy="64008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340096"/>
            <a:ext cx="265572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Extension 模式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596128"/>
            <a:ext cx="26557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通过扩展接管你自己的 Chrome，带上已有 cookie 与登录态，适合内网后台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15942" y="3986783"/>
            <a:ext cx="3442106" cy="22311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74794" y="3931920"/>
            <a:ext cx="3442106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30826" y="4114800"/>
            <a:ext cx="293004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验证的三种结果</a:t>
            </a:r>
          </a:p>
        </p:txBody>
      </p:sp>
      <p:sp>
        <p:nvSpPr>
          <p:cNvPr id="48" name="Oval 47"/>
          <p:cNvSpPr/>
          <p:nvPr/>
        </p:nvSpPr>
        <p:spPr>
          <a:xfrm>
            <a:off x="4630826" y="4535423"/>
            <a:ext cx="219456" cy="219456"/>
          </a:xfrm>
          <a:prstGeom prst="ellipse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30826" y="4535423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41722" y="4517136"/>
            <a:ext cx="258257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17A673"/>
                </a:solidFill>
                <a:latin typeface="Segoe UI"/>
                <a:ea typeface="Microsoft YaHei"/>
              </a:rPr>
              <a:t>成功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41722" y="4736592"/>
            <a:ext cx="258257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新快照里出现预期内容，例如 heading "Welcome back"</a:t>
            </a:r>
          </a:p>
        </p:txBody>
      </p:sp>
      <p:sp>
        <p:nvSpPr>
          <p:cNvPr id="52" name="Oval 51"/>
          <p:cNvSpPr/>
          <p:nvPr/>
        </p:nvSpPr>
        <p:spPr>
          <a:xfrm>
            <a:off x="4630826" y="5084063"/>
            <a:ext cx="219456" cy="219456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30826" y="5084063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  <a:ea typeface="Microsoft YaHe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41722" y="5065775"/>
            <a:ext cx="258257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D68A22"/>
                </a:solidFill>
                <a:latin typeface="Segoe UI"/>
                <a:ea typeface="Microsoft YaHei"/>
              </a:rPr>
              <a:t>可见失败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41722" y="5285231"/>
            <a:ext cx="258257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快照里直接出现错误提示</a:t>
            </a:r>
          </a:p>
        </p:txBody>
      </p:sp>
      <p:sp>
        <p:nvSpPr>
          <p:cNvPr id="56" name="Oval 55"/>
          <p:cNvSpPr/>
          <p:nvPr/>
        </p:nvSpPr>
        <p:spPr>
          <a:xfrm>
            <a:off x="4630826" y="5632703"/>
            <a:ext cx="219456" cy="219456"/>
          </a:xfrm>
          <a:prstGeom prst="ellipse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30826" y="5632703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  <a:ea typeface="Microsoft YaHe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41722" y="5614416"/>
            <a:ext cx="258257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D64560"/>
                </a:solidFill>
                <a:latin typeface="Segoe UI"/>
                <a:ea typeface="Microsoft YaHei"/>
              </a:rPr>
              <a:t>隐性失败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41722" y="5833872"/>
            <a:ext cx="258257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页面不报错，但 browser_network 显示 POST /api/login 失败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91220" y="3931920"/>
            <a:ext cx="3442106" cy="1014984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91220" y="4059935"/>
            <a:ext cx="54864" cy="758952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8964" y="3931920"/>
            <a:ext cx="2984906" cy="1014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0F2445"/>
                </a:solidFill>
                <a:latin typeface="Segoe UI"/>
                <a:ea typeface="Microsoft YaHei"/>
              </a:rPr>
              <a:t>browser_lock 在用户与 Agent 之间显式切换控制权：需要人工登录或验证码时把页面交给用户，完成之后再把控制权交还给 Agent，同一个会话继续往下跑。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91220" y="5148072"/>
            <a:ext cx="3442106" cy="1014984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91220" y="5276088"/>
            <a:ext cx="54864" cy="758952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8964" y="5148072"/>
            <a:ext cx="2984906" cy="1014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0F2445"/>
                </a:solidFill>
                <a:latin typeface="Segoe UI"/>
                <a:ea typeface="Microsoft YaHei"/>
              </a:rPr>
              <a:t>快照给的是可操作元素，截图只给像素。超大快照落盘，只回传有界预览；原始 browser_cdp 被限制使用。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能力全景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7A57DE"/>
                </a:solidFill>
                <a:latin typeface="Segoe UI"/>
                <a:ea typeface="Microsoft YaHei"/>
              </a:rPr>
              <a:t>扩展体系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五种扩展方式，都不需要动核心循环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绝大多数扩展在每一个 user turn 重新组装，改完即时生效。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3454298" cy="1975104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3454298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64008" cy="160934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7A57DE"/>
                </a:solidFill>
                <a:latin typeface="Segoe UI"/>
                <a:ea typeface="Microsoft YaHei"/>
              </a:rPr>
              <a:t>延伸上下文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Subagents 子代理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99232"/>
            <a:ext cx="2942234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独立的 prompt、模型档位与工具集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不继承父对话，派发提示必须自包含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结果投影回父级的那一次工具调用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9846" y="2304288"/>
            <a:ext cx="3454298" cy="1975104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8698" y="2249424"/>
            <a:ext cx="3454298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698" y="2432304"/>
            <a:ext cx="64008" cy="1609344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301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2757E8"/>
                </a:solidFill>
                <a:latin typeface="Segoe UI"/>
                <a:ea typeface="Microsoft YaHei"/>
              </a:rPr>
              <a:t>复用指令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Skills 技能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2999232"/>
            <a:ext cx="2942234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Markdown 定义，懒加载 SKILL.md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inline 展开进当前对话，或 fork 独立运行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原始参数会被追加，不会丢用户请求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0176" y="2304288"/>
            <a:ext cx="3454298" cy="1975104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9028" y="2249424"/>
            <a:ext cx="3454298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9028" y="2432304"/>
            <a:ext cx="64008" cy="1609344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统一入口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Slash Commands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999232"/>
            <a:ext cx="2942234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内置命令、Markdown 模板与技能共用一套注册表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支持 $ARGUMENTS、位置参数与命名参数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! 执行 shell、@ 引入文件，在展开阶段完成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" y="4535424"/>
            <a:ext cx="5309463" cy="122529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480560"/>
            <a:ext cx="530946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663440"/>
            <a:ext cx="64008" cy="859536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626864"/>
            <a:ext cx="479739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外部能力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864608"/>
            <a:ext cx="479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F2445"/>
                </a:solidFill>
                <a:latin typeface="Segoe UI"/>
                <a:ea typeface="Microsoft YaHei"/>
              </a:rPr>
              <a:t>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230368"/>
            <a:ext cx="47973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外部服务器的工具进入同一个工具注册表，默认延迟加载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按「工作目录 + 配置哈希」池化复用，空闲 30 分钟后关闭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5011" y="4535424"/>
            <a:ext cx="5309463" cy="122529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23863" y="4480560"/>
            <a:ext cx="530946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3863" y="4663440"/>
            <a:ext cx="64008" cy="859536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8183" y="4626864"/>
            <a:ext cx="479739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8A22"/>
                </a:solidFill>
                <a:latin typeface="Segoe UI"/>
                <a:ea typeface="Microsoft YaHei"/>
              </a:rPr>
              <a:t>打包分发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8183" y="4864608"/>
            <a:ext cx="479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F2445"/>
                </a:solidFill>
                <a:latin typeface="Segoe UI"/>
                <a:ea typeface="Microsoft YaHei"/>
              </a:rPr>
              <a:t>Plugins 插件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8183" y="5230368"/>
            <a:ext cx="47973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声明式插件：一个目录打包 agents / commands / skills / MCP 配置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代码插件：进程启动时注册工具、中间件与事件监听，改动需重启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925312"/>
            <a:ext cx="10874959" cy="56692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6053328"/>
            <a:ext cx="54864" cy="310896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5925312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0F2445"/>
                </a:solidFill>
                <a:latin typeface="Segoe UI"/>
                <a:ea typeface="Microsoft YaHei"/>
              </a:rPr>
              <a:t>命名与优先级：插件 &lt; 用户 &lt; 项目 &lt; 托管；内置命令名不可被覆盖，同名冲突时技能优先于命令，重复的子代理类型会直接报错。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能力全景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8A22"/>
                </a:solidFill>
                <a:latin typeface="Segoe UI"/>
                <a:ea typeface="Microsoft YaHei"/>
              </a:rPr>
              <a:t>记忆与上下文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四种机制，四种生命周期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它们解决的是不同问题，不能互相替代。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267712"/>
            <a:ext cx="17769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92A0B8"/>
                </a:solidFill>
                <a:latin typeface="Segoe UI"/>
                <a:ea typeface="Microsoft YaHei"/>
              </a:rPr>
              <a:t>会话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8160" y="2267712"/>
            <a:ext cx="17769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92A0B8"/>
                </a:solidFill>
                <a:latin typeface="Segoe UI"/>
                <a:ea typeface="Microsoft YaHei"/>
              </a:rPr>
              <a:t>会话 2（当前）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578608"/>
            <a:ext cx="9144" cy="2596896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5144" y="2267712"/>
            <a:ext cx="17769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92A0B8"/>
                </a:solidFill>
                <a:latin typeface="Segoe UI"/>
                <a:ea typeface="Microsoft YaHei"/>
              </a:rPr>
              <a:t>会话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5144" y="2578608"/>
            <a:ext cx="9144" cy="2596896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88336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Project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96896" y="2779776"/>
            <a:ext cx="5239512" cy="329184"/>
          </a:xfrm>
          <a:prstGeom prst="roundRect">
            <a:avLst/>
          </a:prstGeom>
          <a:solidFill>
            <a:srgbClr val="2757E8"/>
          </a:solidFill>
          <a:ln w="12700">
            <a:solidFill>
              <a:srgbClr val="A9B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6624" y="2779776"/>
            <a:ext cx="5020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Segoe UI"/>
                <a:ea typeface="Microsoft YaHei"/>
              </a:rPr>
              <a:t>常驻系统提示，跨所有会话生效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10128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Auto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96896" y="3401568"/>
            <a:ext cx="5239512" cy="329184"/>
          </a:xfrm>
          <a:prstGeom prst="roundRect">
            <a:avLst/>
          </a:prstGeom>
          <a:solidFill>
            <a:srgbClr val="E2DAF8"/>
          </a:solidFill>
          <a:ln w="12700">
            <a:solidFill>
              <a:srgbClr val="CAB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6624" y="3401568"/>
            <a:ext cx="502005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19" b="1">
                <a:solidFill>
                  <a:srgbClr val="0F2445"/>
                </a:solidFill>
                <a:latin typeface="Segoe UI"/>
                <a:ea typeface="Microsoft YaHei"/>
              </a:rPr>
              <a:t>项目级主题文件，跨会话共享，按需召回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931920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Session Memory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3880" y="4023359"/>
            <a:ext cx="1685544" cy="329184"/>
          </a:xfrm>
          <a:prstGeom prst="roundRect">
            <a:avLst/>
          </a:prstGeom>
          <a:solidFill>
            <a:srgbClr val="12B5C4"/>
          </a:solidFill>
          <a:ln w="12700">
            <a:solidFill>
              <a:srgbClr val="A0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3608" y="4023359"/>
            <a:ext cx="14660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Segoe UI"/>
                <a:ea typeface="Microsoft YaHei"/>
              </a:rPr>
              <a:t>只属于这一场会话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553712"/>
            <a:ext cx="1783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Compaction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3880" y="4645152"/>
            <a:ext cx="1685544" cy="329184"/>
          </a:xfrm>
          <a:prstGeom prst="roundRect">
            <a:avLst/>
          </a:prstGeom>
          <a:solidFill>
            <a:srgbClr val="CCEBE0"/>
          </a:solidFill>
          <a:ln w="12700">
            <a:solidFill>
              <a:srgbClr val="A2D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3608" y="4645152"/>
            <a:ext cx="14660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19" b="1">
                <a:solidFill>
                  <a:srgbClr val="0F2445"/>
                </a:solidFill>
                <a:latin typeface="Segoe UI"/>
                <a:ea typeface="Microsoft YaHei"/>
              </a:rPr>
              <a:t>只作用于本轮上下文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2249424"/>
            <a:ext cx="3376879" cy="6355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2359152"/>
            <a:ext cx="54864" cy="416052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2322576"/>
            <a:ext cx="2937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项目规则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2560320"/>
            <a:ext cx="2937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人工维护的常驻指令；带 paths: 的规则命中路径后才附加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3012948"/>
            <a:ext cx="3376879" cy="6355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6448" y="3122676"/>
            <a:ext cx="54864" cy="41605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3086100"/>
            <a:ext cx="2937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自动记忆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323844"/>
            <a:ext cx="2937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存偏好与非代码事实，不存能从源码直接读到的东西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6448" y="3776472"/>
            <a:ext cx="3376879" cy="6355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56448" y="3886200"/>
            <a:ext cx="54864" cy="41605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3849624"/>
            <a:ext cx="2937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会话记忆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4087368"/>
            <a:ext cx="2937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进度台账 summary.md，主要消费者是压缩，不是知识库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6448" y="4539996"/>
            <a:ext cx="3376879" cy="6355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56448" y="4649724"/>
            <a:ext cx="54864" cy="416052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4613148"/>
            <a:ext cx="2937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压缩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4850892"/>
            <a:ext cx="2937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只裁剪送模型的投影；它读会话记忆，从不拿自动记忆当摘要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468112"/>
            <a:ext cx="10692079" cy="0"/>
          </a:xfrm>
          <a:prstGeom prst="line">
            <a:avLst/>
          </a:prstGeom>
          <a:ln w="25400">
            <a:solidFill>
              <a:srgbClr val="D8E0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949157" y="5399532"/>
            <a:ext cx="137160" cy="137160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289" y="5614416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进入 turn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289" y="58521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规则塑造行为，自动记忆按需附加主题文件</a:t>
            </a:r>
          </a:p>
        </p:txBody>
      </p:sp>
      <p:sp>
        <p:nvSpPr>
          <p:cNvPr id="49" name="Oval 48"/>
          <p:cNvSpPr/>
          <p:nvPr/>
        </p:nvSpPr>
        <p:spPr>
          <a:xfrm>
            <a:off x="4667897" y="5399532"/>
            <a:ext cx="137160" cy="137160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38029" y="5614416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对话进行中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38029" y="58521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会话记忆持续记录当前进度</a:t>
            </a:r>
          </a:p>
        </p:txBody>
      </p:sp>
      <p:sp>
        <p:nvSpPr>
          <p:cNvPr id="52" name="Oval 51"/>
          <p:cNvSpPr/>
          <p:nvPr/>
        </p:nvSpPr>
        <p:spPr>
          <a:xfrm>
            <a:off x="7386637" y="5399532"/>
            <a:ext cx="137160" cy="137160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56769" y="5614416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每个模型步之前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6769" y="58521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活跃上下文放不下就压缩</a:t>
            </a:r>
          </a:p>
        </p:txBody>
      </p:sp>
      <p:sp>
        <p:nvSpPr>
          <p:cNvPr id="55" name="Oval 54"/>
          <p:cNvSpPr/>
          <p:nvPr/>
        </p:nvSpPr>
        <p:spPr>
          <a:xfrm>
            <a:off x="10105377" y="5399532"/>
            <a:ext cx="137160" cy="137160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75509" y="5614416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turn 成功结束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75509" y="58521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抽取长期知识写回自动记忆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能力全景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17A673"/>
                </a:solidFill>
                <a:latin typeface="Segoe UI"/>
                <a:ea typeface="Microsoft YaHei"/>
              </a:rPr>
              <a:t>多端接入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四种入口，同一个 runChatTurn()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换入口不换能力：会话、工具与协议类型在所有入口上保持一致。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249424"/>
            <a:ext cx="1999427" cy="54864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2757E8"/>
                </a:solidFill>
                <a:latin typeface="Segoe UI"/>
                <a:ea typeface="Microsoft YaHei"/>
              </a:rPr>
              <a:t>桌面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Electron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开箱即用的本地应用，浏览器自动化默认落点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8399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77251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77251" y="2249424"/>
            <a:ext cx="1999427" cy="54864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3555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12B5C4"/>
                </a:solidFill>
                <a:latin typeface="Segoe UI"/>
                <a:ea typeface="Microsoft YaHei"/>
              </a:rPr>
              <a:t>浏览器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5267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Web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5267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SSE 流式输出，Docker 私有化部署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7282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96134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6134" y="2249424"/>
            <a:ext cx="1999427" cy="5486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2438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7A57DE"/>
                </a:solidFill>
                <a:latin typeface="Segoe UI"/>
                <a:ea typeface="Microsoft YaHei"/>
              </a:rPr>
              <a:t>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4150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ACP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4150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VS Code / Cursor / IntelliJ 侧栏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56165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017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017" y="2249424"/>
            <a:ext cx="1999427" cy="54864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61321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17A673"/>
                </a:solidFill>
                <a:latin typeface="Segoe UI"/>
                <a:ea typeface="Microsoft YaHei"/>
              </a:rPr>
              <a:t>自动化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033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HTTP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033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REST + SSE，TypeScript 与 Python SDK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75048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33900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3900" y="2249424"/>
            <a:ext cx="1999427" cy="54864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80204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D68A22"/>
                </a:solidFill>
                <a:latin typeface="Segoe UI"/>
                <a:ea typeface="Microsoft YaHei"/>
              </a:rPr>
              <a:t>脚本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1916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CLI stdio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61916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每行一条 NDJSON，适合管道与 CI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658081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876964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95847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314730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533613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58081" y="3621024"/>
            <a:ext cx="8875532" cy="0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95847" y="3621024"/>
            <a:ext cx="0" cy="310896"/>
          </a:xfrm>
          <a:prstGeom prst="line">
            <a:avLst/>
          </a:prstGeom>
          <a:ln w="22225">
            <a:solidFill>
              <a:srgbClr val="17A6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210915" y="3986783"/>
            <a:ext cx="5852160" cy="8595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169767" y="3931920"/>
            <a:ext cx="5852160" cy="859536"/>
          </a:xfrm>
          <a:prstGeom prst="roundRect">
            <a:avLst/>
          </a:prstGeom>
          <a:solidFill>
            <a:srgbClr val="0F2445"/>
          </a:solidFill>
          <a:ln w="12700">
            <a:solidFill>
              <a:srgbClr val="0F2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52647" y="407822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  <a:ea typeface="Microsoft YaHei"/>
              </a:rPr>
              <a:t>runChatTurn()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4087" y="44256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B0C4E6"/>
                </a:solidFill>
                <a:latin typeface="Segoe UI"/>
                <a:ea typeface="Microsoft YaHei"/>
              </a:rPr>
              <a:t>同一个 Agent 引擎：同一套会话、工具与协议类型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5065776"/>
            <a:ext cx="3442106" cy="1097280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" y="5212080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一致的会话模型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" y="5504688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会话、工具与 wire 类型复用同一套定义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任意入口创建的会话都能在别处继续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74794" y="5065776"/>
            <a:ext cx="3442106" cy="1097280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12538" y="5212080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按工作区解析配置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2538" y="5504688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设置按当前 cwd 解析，项目之间可以不同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用户级与项目级合并，项目级优先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91220" y="5065776"/>
            <a:ext cx="3442106" cy="1097280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8964" y="5212080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适配器只做翻译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8964" y="5504688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HTTP / stdio / ACP 不实现 Agent 逻辑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新增一种客户端 = 新增一个适配器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能力全景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7A57DE"/>
                </a:solidFill>
                <a:latin typeface="Segoe UI"/>
                <a:ea typeface="Microsoft YaHei"/>
              </a:rPr>
              <a:t>ACP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在 VS Code / Cursor / IntelliJ 里直接用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Agent Client Protocol：写一次适配，接入所有支持 ACP 的编辑器。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4663440" cy="192024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4663440" cy="1920240"/>
          </a:xfrm>
          <a:prstGeom prst="roundRect">
            <a:avLst/>
          </a:prstGeom>
          <a:solidFill>
            <a:srgbClr val="0F2445"/>
          </a:solidFill>
          <a:ln w="12700">
            <a:solidFill>
              <a:srgbClr val="0F2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3230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VS Code / Cursor 用户设置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743200"/>
            <a:ext cx="4114800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"acp.agents": {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"Coding Agent": {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  "command": "npx",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  "args": ["tsx", "&lt;repo&gt;/start.js", "--acp"],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  "env": {}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}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389120"/>
            <a:ext cx="4590288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args 必须以 tsx 开头，后跟 start.js 的绝对路径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缺了 tsx 侧栏会显示 Failed to load sessions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追加 "--workspace", "&lt;path&gt;" 固定默认工作区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终端自检：npm run acp -- --workspace &lt;path&gt;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IntelliJ 侧同样走 ACP，配置形态完全一致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2231136"/>
            <a:ext cx="588233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侧栏里你会得到什么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2578608"/>
            <a:ext cx="5882335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2660903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2578608"/>
            <a:ext cx="13716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流式回答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2578608"/>
            <a:ext cx="410839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文本增量实时渲染，不用等整段生成完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50992" y="3081527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2999232"/>
            <a:ext cx="13716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思考过程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999232"/>
            <a:ext cx="410839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推理内容单独成流，与正式回答区分开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419856"/>
            <a:ext cx="5882335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3502151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3872" y="3419856"/>
            <a:ext cx="13716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工具卡片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3419856"/>
            <a:ext cx="410839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调用、进行中、成功或失败三态，带参数与文件位置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3922776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3872" y="3840480"/>
            <a:ext cx="13716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任务计划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3840480"/>
            <a:ext cx="410839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TodoWrite 直接映射成编辑器里的 plan 面板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50992" y="4261104"/>
            <a:ext cx="5882335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50992" y="4343400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3872" y="4261104"/>
            <a:ext cx="13716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权限询问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261104"/>
            <a:ext cx="410839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越界操作弹窗确认，决定回传后才继续执行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50992" y="4764024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3872" y="4681728"/>
            <a:ext cx="13716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模式切换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048" y="4681728"/>
            <a:ext cx="410839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Agent / Ask / Plan 三种模式在侧栏直接切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50992" y="5102352"/>
            <a:ext cx="5882335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50992" y="5184648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3872" y="5102352"/>
            <a:ext cx="13716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图片输入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2048" y="5102352"/>
            <a:ext cx="410839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支持图片与嵌入式上下文块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50992" y="5650992"/>
            <a:ext cx="5882335" cy="512064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50992" y="5779007"/>
            <a:ext cx="54864" cy="25603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88736" y="5650992"/>
            <a:ext cx="542513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0F2445"/>
                </a:solidFill>
                <a:latin typeface="Segoe UI"/>
                <a:ea typeface="Microsoft YaHei"/>
              </a:rPr>
              <a:t>ACP 适配器不只是换封帧格式，它把引擎的内部消息翻译成编辑器能直接渲染的 session update 结构。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能力全景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4560"/>
                </a:solidFill>
                <a:latin typeface="Segoe UI"/>
                <a:ea typeface="Microsoft YaHei"/>
              </a:rPr>
              <a:t>工程化与安全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让 Agent 敢在真项目里跑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能力越强，边界越要显式。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64008" cy="1463040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4560"/>
                </a:solidFill>
                <a:latin typeface="Segoe UI"/>
                <a:ea typeface="Microsoft YaHei"/>
              </a:rPr>
              <a:t>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文件系统权限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Read / Grep / Glob / LSP / Edit / Write 统一过闸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词法路径与真实路径双重校验，软链接也要查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deny 规则最先执行，永远赢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984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869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698" y="2432304"/>
            <a:ext cx="64008" cy="146304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301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2757E8"/>
                </a:solidFill>
                <a:latin typeface="Segoe UI"/>
                <a:ea typeface="Microsoft YaHei"/>
              </a:rPr>
              <a:t>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三种默认行为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default：越界时询问，可选 Allow / Always allow / Reject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dontAsk：无法确认的一律拒绝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bypassPermissions：放行外部路径，deny 仍然生效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017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902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9028" y="2432304"/>
            <a:ext cx="64008" cy="146304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7A57DE"/>
                </a:solidFill>
                <a:latin typeface="Segoe UI"/>
                <a:ea typeface="Microsoft YaHei"/>
              </a:rPr>
              <a:t>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SSO 场景收敛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AUTH_ENABLED=true 时强制 dontAsk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allow 与附加目录失效，deny 保留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注意：这是应用层边界，不是操作系统沙箱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17136"/>
            <a:ext cx="64008" cy="146304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调度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定时任务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一次性时间点，或五段 cron 按本地时间求值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进程内最多 50 个任务，同会话串行执行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周期任务带确定性抖动，创建七天后过期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984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6869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68698" y="4517136"/>
            <a:ext cx="64008" cy="146304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301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长任务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301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后台任务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301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长命令移出阻塞的 Agent 路径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需要显式轮询或终止，worker 退出时强杀残留子进程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017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7902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79028" y="4517136"/>
            <a:ext cx="64008" cy="1463040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34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8A22"/>
                </a:solidFill>
                <a:latin typeface="Segoe UI"/>
                <a:ea typeface="Microsoft YaHei"/>
              </a:rPr>
              <a:t>上下文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334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大输出外置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334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claim-check：模型只看有界预览与一个引用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完整结果写入会话级工具存储，需要时再读回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· 保住 prompt cache 前缀，一条啰嗦命令不污染后续每步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5F708C"/>
                </a:solidFill>
                <a:latin typeface="Segoe UI"/>
                <a:ea typeface="Microsoft YaHei"/>
              </a:rPr>
              <a:t>SECTION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600" b="1">
                <a:solidFill>
                  <a:srgbClr val="7A57DE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389120"/>
            <a:ext cx="1280160" cy="4572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072384"/>
            <a:ext cx="749807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800" b="1">
                <a:solidFill>
                  <a:srgbClr val="0F2445"/>
                </a:solidFill>
                <a:latin typeface="Segoe UI"/>
                <a:ea typeface="Microsoft YaHei"/>
              </a:rPr>
              <a:t>架构与关键实现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3840480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F708C"/>
                </a:solidFill>
                <a:latin typeface="Segoe UI"/>
                <a:ea typeface="Microsoft YaHei"/>
              </a:rPr>
              <a:t>一次对话是怎么跑完的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Turn · 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9441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9441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Tools · 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8363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8363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执行平面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7285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7285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协议 · ACP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7A57DE"/>
                </a:solidFill>
                <a:latin typeface="Segoe UI"/>
                <a:ea typeface="Microsoft YaHei"/>
              </a:rPr>
              <a:t>系统总览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六层结构，每层只做一件事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所有入口向下收敛到同一个 turn host 与 query 循环。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24942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249424"/>
            <a:ext cx="73152" cy="560832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49424"/>
            <a:ext cx="269748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接入层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249424"/>
            <a:ext cx="500451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Electron 桌面端   ·   Web UI   ·   VS Code / Cursor   ·   IntelliJ   ·   CLI   ·   SDK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1998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19984"/>
            <a:ext cx="73152" cy="56083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919984"/>
            <a:ext cx="269748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适配器 Adapters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919984"/>
            <a:ext cx="500451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HTTP + SSE   ·   stdio NDJSON   ·   ACP   ·   worker —— 只做翻译，不实现 Agent 逻辑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9054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590544"/>
            <a:ext cx="73152" cy="56083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590544"/>
            <a:ext cx="269748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Turn Host  runChatTurn()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8" y="3590544"/>
            <a:ext cx="500451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turn 级设置与中间件   ·   中止传播   ·   记忆旁路   ·   传输收尾   ·   消息持久化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6110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261104"/>
            <a:ext cx="73152" cy="560832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61104"/>
            <a:ext cx="269748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Query Loop  query()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608" y="4261104"/>
            <a:ext cx="500451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preTurn → runStep → postTurn   ·   拥有循环计数、活跃工具集与停止原因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3166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31664"/>
            <a:ext cx="73152" cy="560832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931664"/>
            <a:ext cx="269748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工具层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931664"/>
            <a:ext cx="500451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assembleToolPool   ·   canUseTool 权限闸   ·   StreamingToolExecutor 并发执行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0222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602224"/>
            <a:ext cx="73152" cy="560832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602224"/>
            <a:ext cx="269748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执行平面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5602224"/>
            <a:ext cx="500451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本地 worker 或 SSH worker —— 文件系统、Shell、ripgrep、后台进程、LSP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47327" y="2249424"/>
            <a:ext cx="2286000" cy="3913632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85071" y="2468880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横切关注点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5071" y="2852928"/>
            <a:ext cx="1810512" cy="3090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Models：多 Provider 策略可插拔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Sessions：追加式 transcript，持久化与回放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Protocol：protocol/src 的 Zod schema 定义引擎与客户端契约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Permissions：文件系统闸门与会话交互模式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Extensions：技能、命令、子代理、MCP、插件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2757E8"/>
                </a:solidFill>
                <a:latin typeface="Segoe UI"/>
                <a:ea typeface="Microsoft YaHei"/>
              </a:rPr>
              <a:t>端到端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一条消息从进来到落库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五个阶段，职责不重叠。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① 入口选择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src/entrypoints/cli.ts 判定 HTTP、stdio、ACP 还是 worker 模式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2703515" y="3200400"/>
            <a:ext cx="128016" cy="128016"/>
          </a:xfrm>
          <a:prstGeom prst="triangle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18399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77251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77251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07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② 适配器归一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07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把客户端输入归一成一次 turn 并调用与传输无关的 runChatTurn()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4922398" y="3200400"/>
            <a:ext cx="128016" cy="128016"/>
          </a:xfrm>
          <a:prstGeom prst="triangle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37282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96134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6134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15590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③ 准备上下文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5590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prepareChatTurn() 解析 slash、规则、插件、技能、MCP、权限与执行后端，拼出工具池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7141281" y="3200400"/>
            <a:ext cx="128016" cy="128016"/>
          </a:xfrm>
          <a:prstGeom prst="triangle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56165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017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017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473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④ 循环推进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473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query() 让模型步与工具步交替，直到模型不再请求工具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9360164" y="3200400"/>
            <a:ext cx="128016" cy="128016"/>
          </a:xfrm>
          <a:prstGeom prst="triangle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75048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33900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3900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53356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⑤ 收尾落库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3356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runChatTurn() 持久化新会话消息，发出完成事件并释放后端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9516" y="4590288"/>
            <a:ext cx="3454298" cy="1627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8368" y="4535424"/>
            <a:ext cx="345429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4535424"/>
            <a:ext cx="3454298" cy="5486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4809744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Wire 事件不是持久化层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5193792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客户端看到的流式事件是「实时视图」。真正的会话消息在循环更新完历史之后，由 turn host 统一落库。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09846" y="4590288"/>
            <a:ext cx="3454298" cy="1627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368698" y="4535424"/>
            <a:ext cx="345429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68698" y="4535424"/>
            <a:ext cx="3454298" cy="54864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43018" y="4809744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一个会话只有一个活跃 turn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43018" y="5193792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同一份 transcript 不允许被并发修改。第二个请求要么排队，要么被拒绝，避免历史交错。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0176" y="4590288"/>
            <a:ext cx="3454298" cy="1627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079028" y="4535424"/>
            <a:ext cx="345429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79028" y="4535424"/>
            <a:ext cx="3454298" cy="54864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3348" y="4809744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远端解析 fail-closed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3348" y="5193792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远端工作区不可用时，准备阶段直接抛错中止，绝不把文件与 shell 操作回落到控制机执行。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17A673"/>
                </a:solidFill>
                <a:latin typeface="Segoe UI"/>
                <a:ea typeface="Microsoft YaHei"/>
              </a:rPr>
              <a:t>AGENT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Agent 不是一次模型调用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模型只负责「提议」，是否继续由循环决定。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532887"/>
            <a:ext cx="2048256" cy="8595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2048256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6151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preTurn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89503"/>
            <a:ext cx="1792224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从最近压缩边界取消息，按需压缩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8415" y="2532887"/>
            <a:ext cx="2048256" cy="8595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39" y="2487168"/>
            <a:ext cx="2048256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6151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runStep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889503"/>
            <a:ext cx="1792224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投影给 Provider，流式消费，并发跑安全工具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61488" y="2916935"/>
            <a:ext cx="457199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61888" y="2532887"/>
            <a:ext cx="2048256" cy="8595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25312" y="2487168"/>
            <a:ext cx="2048256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6151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postTurn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7" y="2889503"/>
            <a:ext cx="1792224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挂记忆附件，发快照，激活新工具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94959" y="2916935"/>
            <a:ext cx="457200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49440" y="3346703"/>
            <a:ext cx="0" cy="329184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5806440" y="3675887"/>
            <a:ext cx="2286000" cy="87782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5059" y="3675887"/>
            <a:ext cx="1508760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这一步有工具调用？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682496" y="4114800"/>
            <a:ext cx="4123944" cy="0"/>
          </a:xfrm>
          <a:prstGeom prst="line">
            <a:avLst/>
          </a:prstGeom>
          <a:ln w="19050">
            <a:solidFill>
              <a:srgbClr val="17A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682496" y="3346703"/>
            <a:ext cx="0" cy="768097"/>
          </a:xfrm>
          <a:prstGeom prst="line">
            <a:avLst/>
          </a:prstGeom>
          <a:ln w="19050">
            <a:solidFill>
              <a:srgbClr val="17A6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875787" y="3995928"/>
            <a:ext cx="1737360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75787" y="3995928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有 → 回到 preTurn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49440" y="4553712"/>
            <a:ext cx="0" cy="219456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40879" y="453542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5F708C"/>
                </a:solidFill>
                <a:latin typeface="Segoe UI"/>
                <a:ea typeface="Microsoft YaHei"/>
              </a:rPr>
              <a:t>没有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25312" y="4773168"/>
            <a:ext cx="2048256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490118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turn 完成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7" y="5175504"/>
            <a:ext cx="1792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落库并发出完成事件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52460" y="2304288"/>
            <a:ext cx="3322015" cy="97536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11312" y="2249424"/>
            <a:ext cx="3322015" cy="975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11312" y="2377440"/>
            <a:ext cx="54864" cy="71932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49056" y="2359152"/>
            <a:ext cx="28648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runChatTurn()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2670048"/>
            <a:ext cx="2864815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turn 级设置、中间件与中止传播</a:t>
            </a:r>
          </a:p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记忆召回在前，抽取在后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52460" y="3444240"/>
            <a:ext cx="3322015" cy="97536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11312" y="3389376"/>
            <a:ext cx="3322015" cy="975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11312" y="3517392"/>
            <a:ext cx="54864" cy="71932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49056" y="3499104"/>
            <a:ext cx="28648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query()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3810000"/>
            <a:ext cx="2864815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拥有循环计数与活跃工具集</a:t>
            </a:r>
          </a:p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到 maxSteps 关闭工具，强制最终回答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2460" y="4584191"/>
            <a:ext cx="3322015" cy="97536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11312" y="4529328"/>
            <a:ext cx="3322015" cy="975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11312" y="4657344"/>
            <a:ext cx="54864" cy="719328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49056" y="4639056"/>
            <a:ext cx="28648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runStep()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056" y="4949952"/>
            <a:ext cx="2864815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规范化 → streamText() → 流式消费</a:t>
            </a:r>
          </a:p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tool_use 块一到就排队，不等整段响应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5687568"/>
            <a:ext cx="10874959" cy="47548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8368" y="5815583"/>
            <a:ext cx="54864" cy="219456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" y="5687568"/>
            <a:ext cx="1041775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F2445"/>
                </a:solidFill>
                <a:latin typeface="Segoe UI"/>
                <a:ea typeface="Microsoft YaHei"/>
              </a:rPr>
              <a:t>一个细节：计划被批准之后，如果模型回了一条不带任何工具调用的响应，会被提醒覆盖一次，强制它真正进入实现步骤。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8A22"/>
                </a:solidFill>
                <a:latin typeface="Segoe UI"/>
                <a:ea typeface="Microsoft YaHei"/>
              </a:rPr>
              <a:t>工具流水线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从注册表到模型结果的六道关口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运行时决定哪些工具可见、哪次调用被允许、怎么执行、各方看到什么。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414016"/>
            <a:ext cx="1660093" cy="14813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359152"/>
            <a:ext cx="1660093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359152"/>
            <a:ext cx="1660093" cy="54864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523744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2757E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706624"/>
            <a:ext cx="1440637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来源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内置注册表、每轮的技能与子代理工具、MCP 外部工具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2489" y="2478024"/>
            <a:ext cx="1660093" cy="13533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01341" y="2423160"/>
            <a:ext cx="1660093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341" y="2423160"/>
            <a:ext cx="1660093" cy="54864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11069" y="2587752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12B5C4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1069" y="2770632"/>
            <a:ext cx="1440637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组装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1069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assembleToolPool() 拆成 active 与 deferred 两组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36749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85462" y="2542032"/>
            <a:ext cx="1660093" cy="122529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44314" y="2487168"/>
            <a:ext cx="166009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4314" y="2487168"/>
            <a:ext cx="1660093" cy="54864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4042" y="2651760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17A673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4042" y="2834640"/>
            <a:ext cx="1440637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收窄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4042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启用开关、主代理 allow/deny、浏览器策略与当前模式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79722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28435" y="2606040"/>
            <a:ext cx="1660093" cy="109728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87287" y="2551176"/>
            <a:ext cx="1660093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7287" y="2551176"/>
            <a:ext cx="1660093" cy="54864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7015" y="2715768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D68A22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7015" y="2898648"/>
            <a:ext cx="144063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排队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7015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StreamingToolExecutor 判定串行还是并行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22695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071408" y="2670048"/>
            <a:ext cx="1660093" cy="969264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30260" y="2615184"/>
            <a:ext cx="1660093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0260" y="2615184"/>
            <a:ext cx="1660093" cy="54864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9988" y="2779776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D64560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9988" y="2962656"/>
            <a:ext cx="144063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鉴权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9988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canUseTool 在执行前一刻放行、拒绝或等用户回答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65668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914382" y="2734056"/>
            <a:ext cx="1660093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873234" y="2679192"/>
            <a:ext cx="1660093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3234" y="2679192"/>
            <a:ext cx="1660093" cy="5486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82962" y="2843784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7A57DE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2962" y="3026664"/>
            <a:ext cx="144063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双投影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2962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模型拿有界文本或图片块，Wire 额外拿 tool_use_result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708642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99516" y="5010912"/>
            <a:ext cx="3454298" cy="120700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8368" y="4956048"/>
            <a:ext cx="345429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" y="5102352"/>
            <a:ext cx="54864" cy="91440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084064"/>
            <a:ext cx="297881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延迟加载与 ToolSearch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394960"/>
            <a:ext cx="297881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MCP 工具默认 deferred，不占提示词空间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搜到只是「发现」，激活在下一步，同批先搜再用必失败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09846" y="5010912"/>
            <a:ext cx="3454298" cy="120700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8698" y="4956048"/>
            <a:ext cx="345429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68698" y="5102352"/>
            <a:ext cx="54864" cy="9144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4730" y="5084064"/>
            <a:ext cx="297881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并发策略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24730" y="5394960"/>
            <a:ext cx="297881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只有判定输入安全才并行，未知的一律串行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Bash 失败会取消同一并行组的兄弟调用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20176" y="5010912"/>
            <a:ext cx="3454298" cy="120700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79028" y="4956048"/>
            <a:ext cx="345429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79028" y="5102352"/>
            <a:ext cx="54864" cy="914400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5060" y="5084064"/>
            <a:ext cx="297881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失败留在工具边界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5060" y="5394960"/>
            <a:ext cx="297881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未知、拒绝、异常、超时都变成 isError 结果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循环不被打断，两路投影共享同一个 tool_use_id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4560"/>
                </a:solidFill>
                <a:latin typeface="Segoe UI"/>
                <a:ea typeface="Microsoft YaHei"/>
              </a:rPr>
              <a:t>执行平面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编排留在控制机，操作贴着工作区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工具只面对一个 ExecutionBackend；本地与 SSH 暴露完全相同的契约。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22576"/>
            <a:ext cx="4160520" cy="2139696"/>
          </a:xfrm>
          <a:prstGeom prst="roundRect">
            <a:avLst/>
          </a:prstGeom>
          <a:solidFill>
            <a:srgbClr val="F2F5FE"/>
          </a:solidFill>
          <a:ln w="15875">
            <a:solidFill>
              <a:srgbClr val="2757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505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2757E8"/>
                </a:solidFill>
                <a:latin typeface="Segoe UI"/>
                <a:ea typeface="Microsoft YaHei"/>
              </a:rPr>
              <a:t>控制面 Control plane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2807" y="2322576"/>
            <a:ext cx="4160520" cy="2139696"/>
          </a:xfrm>
          <a:prstGeom prst="roundRect">
            <a:avLst/>
          </a:prstGeom>
          <a:solidFill>
            <a:srgbClr val="F1FAF7"/>
          </a:solidFill>
          <a:ln w="15875">
            <a:solidFill>
              <a:srgbClr val="17A6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7127" y="24505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A673"/>
                </a:solidFill>
                <a:latin typeface="Segoe UI"/>
                <a:ea typeface="Microsoft YaHei"/>
              </a:rPr>
              <a:t>执行面 Execution plane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83464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8950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会话与模型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10896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编排与 provider 策略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0068" y="283464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1508" y="288950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权限判定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3220" y="310896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环境选择也在这里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6616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2102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worker 生命周期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84048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启动、健康检查、回收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0068" y="356616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1508" y="362102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RuntimeBroker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3220" y="384048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按 environmentId::cwd 复用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8839" y="283464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0279" y="288950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文件系统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1991" y="310896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读写与路径校验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4507" y="283464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5947" y="288950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Shell 与 ripgrep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7659" y="310896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命令与检索就近执行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8839" y="356616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0279" y="362102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后台进程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1991" y="384048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长任务在这一侧托管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44507" y="356616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35947" y="362102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语言服务器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7659" y="384048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LSP 就近跑在文件旁边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95847" y="2139696"/>
            <a:ext cx="0" cy="2487168"/>
          </a:xfrm>
          <a:prstGeom prst="line">
            <a:avLst/>
          </a:prstGeom>
          <a:ln w="15875">
            <a:solidFill>
              <a:srgbClr val="92A0B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638647" y="2459736"/>
            <a:ext cx="914400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8647" y="24597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D64560"/>
                </a:solidFill>
                <a:latin typeface="Segoe UI"/>
                <a:ea typeface="Microsoft YaHei"/>
              </a:rPr>
              <a:t>RPC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999232"/>
            <a:ext cx="25539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1">
                <a:solidFill>
                  <a:srgbClr val="2757E8"/>
                </a:solidFill>
                <a:latin typeface="Segoe UI"/>
                <a:ea typeface="Microsoft YaHei"/>
              </a:rPr>
              <a:t>操作 + request ID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946903" y="3291840"/>
            <a:ext cx="2297888" cy="0"/>
          </a:xfrm>
          <a:prstGeom prst="line">
            <a:avLst/>
          </a:prstGeom>
          <a:ln w="19050">
            <a:solidFill>
              <a:srgbClr val="2757E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946903" y="3931920"/>
            <a:ext cx="2297888" cy="0"/>
          </a:xfrm>
          <a:prstGeom prst="line">
            <a:avLst/>
          </a:prstGeom>
          <a:ln w="19050">
            <a:solidFill>
              <a:srgbClr val="17A6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818888" y="4005072"/>
            <a:ext cx="25539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1">
                <a:solidFill>
                  <a:srgbClr val="17A673"/>
                </a:solidFill>
                <a:latin typeface="Segoe UI"/>
                <a:ea typeface="Microsoft YaHei"/>
              </a:rPr>
              <a:t>结果按同一个 ID 回关联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44287" y="4398264"/>
            <a:ext cx="2103120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4287" y="43982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92A0B8"/>
                </a:solidFill>
                <a:latin typeface="Segoe UI"/>
                <a:ea typeface="Microsoft YaHei"/>
              </a:rPr>
              <a:t>进程 / 机器边界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9516" y="4754879"/>
            <a:ext cx="3950208" cy="146304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8368" y="4700016"/>
            <a:ext cx="3950208" cy="1463040"/>
          </a:xfrm>
          <a:prstGeom prst="roundRect">
            <a:avLst/>
          </a:prstGeom>
          <a:solidFill>
            <a:srgbClr val="0F2445"/>
          </a:solidFill>
          <a:ln w="12700">
            <a:solidFill>
              <a:srgbClr val="0F2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" y="4882896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Workspace handle = 环境 ID + 环境内路径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" y="5193792"/>
            <a:ext cx="34015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environmentId: 'local' | 'ssh:&lt;host&gt;',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cwd: '/path/inside/that/environment'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64607" y="4700016"/>
            <a:ext cx="6668719" cy="32004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64607" y="4782312"/>
            <a:ext cx="45720" cy="1554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47488" y="470001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0F2445"/>
                </a:solidFill>
                <a:latin typeface="Segoe UI"/>
                <a:ea typeface="Microsoft YaHei"/>
              </a:rPr>
              <a:t>绑定超时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2783" y="4700016"/>
            <a:ext cx="507766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本地 15 秒，SSH 90 秒；切不到目标目录就算绑定失败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64607" y="5148072"/>
            <a:ext cx="45720" cy="1554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47488" y="506577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0F2445"/>
                </a:solidFill>
                <a:latin typeface="Segoe UI"/>
                <a:ea typeface="Microsoft YaHei"/>
              </a:rPr>
              <a:t>路径护栏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72783" y="5065776"/>
            <a:ext cx="507766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发出文件操作前就拒掉工作区之外的路径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64607" y="5431536"/>
            <a:ext cx="6668719" cy="32004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64607" y="5513831"/>
            <a:ext cx="45720" cy="1554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47488" y="543153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0F2445"/>
                </a:solidFill>
                <a:latin typeface="Segoe UI"/>
                <a:ea typeface="Microsoft YaHei"/>
              </a:rPr>
              <a:t>fail-closed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72783" y="5431536"/>
            <a:ext cx="507766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SSH 探测、部署或绑定失败直接中止，不回落本地执行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64607" y="5879592"/>
            <a:ext cx="45720" cy="1554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47488" y="579729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0F2445"/>
                </a:solidFill>
                <a:latin typeface="Segoe UI"/>
                <a:ea typeface="Microsoft YaHei"/>
              </a:rPr>
              <a:t>远端边界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72783" y="5797296"/>
            <a:ext cx="507766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插件与技能仍从控制机加载；项目规则与自动记忆不读远端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12B5C4"/>
                </a:solidFill>
                <a:latin typeface="Segoe UI"/>
                <a:ea typeface="Microsoft YaHei"/>
              </a:rPr>
              <a:t>协议层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引擎与客户端之间的类型化边界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protocol/src 里的 Zod schema 定义进出两个方向的消息联合类型。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4846320" cy="257860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4846320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487168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三种传输，一个出口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" y="2999232"/>
            <a:ext cx="54864" cy="45720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926080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2926080"/>
            <a:ext cx="3127247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5F708C"/>
                </a:solidFill>
                <a:latin typeface="Segoe UI"/>
                <a:ea typeface="Microsoft YaHei"/>
              </a:rPr>
              <a:t>SSE 事件名 + 同一组出站消息的 JSON 序列化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" y="3602736"/>
            <a:ext cx="54864" cy="4572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529584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stdio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3529584"/>
            <a:ext cx="3127247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5F708C"/>
                </a:solidFill>
                <a:latin typeface="Segoe UI"/>
                <a:ea typeface="Microsoft YaHei"/>
              </a:rPr>
              <a:t>每行一条 NDJSON，turn 之间保持 stdout 打开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" y="4206240"/>
            <a:ext cx="54864" cy="45720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4133088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ACP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4133088"/>
            <a:ext cx="3127247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5F708C"/>
                </a:solidFill>
                <a:latin typeface="Segoe UI"/>
                <a:ea typeface="Microsoft YaHei"/>
              </a:rPr>
              <a:t>不只换封帧：把引擎消息翻译成 ACP session update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29199"/>
            <a:ext cx="4846320" cy="1133856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157215"/>
            <a:ext cx="54864" cy="877824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029199"/>
            <a:ext cx="438912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F2445"/>
                </a:solidFill>
                <a:latin typeface="Segoe UI"/>
                <a:ea typeface="Microsoft YaHei"/>
              </a:rPr>
              <a:t>WireEmitter 是引擎唯一的传输中立输出口：打上关联上下文之后，统一发出流、工具、进度、控制与结果事件。worker stdio 是另一套控制面到 worker 的 RPC 协议，与客户端协议分开演进。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3" y="2231136"/>
            <a:ext cx="57177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关联 ID：并发场景下唯一可靠的拼接方式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15583" y="2578608"/>
            <a:ext cx="5717743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15583" y="2660903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57860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session_id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578608"/>
            <a:ext cx="366948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把所有事件归属到一次会话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15583" y="3118103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303580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tool_use_id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035808"/>
            <a:ext cx="366948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关联调用、进度、耗时与结果，并发工具必须靠它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15583" y="3493008"/>
            <a:ext cx="5717743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15583" y="3575303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4" y="349300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request_id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493008"/>
            <a:ext cx="366948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关联一个控制请求与它的响应或取消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15583" y="4032504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395020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parent_tool_use_id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950208"/>
            <a:ext cx="366948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标记嵌套工作，例如子代理内部的调用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15583" y="4407408"/>
            <a:ext cx="5717743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15583" y="4489704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440740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system/init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4407408"/>
            <a:ext cx="366948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握手时宣告协议版本、权限模式与工作目录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15583" y="4956048"/>
            <a:ext cx="5717743" cy="640080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15583" y="5084064"/>
            <a:ext cx="54864" cy="384047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3327" y="4956048"/>
            <a:ext cx="526054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0F2445"/>
                </a:solidFill>
                <a:latin typeface="Segoe UI"/>
                <a:ea typeface="Microsoft YaHei"/>
              </a:rPr>
              <a:t>stdout 上任何非协议输出都会破坏 NDJSON 与 ACP 的 JSON-RPC 封帧 —— 启动日志、worker 日志与诊断信息一律走 stderr。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15583" y="5724144"/>
            <a:ext cx="5717743" cy="65836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15583" y="5852159"/>
            <a:ext cx="54864" cy="402335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53327" y="5724144"/>
            <a:ext cx="526054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0F2445"/>
                </a:solidFill>
                <a:latin typeface="Segoe UI"/>
                <a:ea typeface="Microsoft YaHei"/>
              </a:rPr>
              <a:t>不要按工具名去关联工具活动：并发调用时只有 tool_use_id 是唯一的。破坏性契约变更必须提升 protocol version。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7A57DE"/>
                </a:solidFill>
                <a:latin typeface="Segoe UI"/>
                <a:ea typeface="Microsoft YaHei"/>
              </a:rPr>
              <a:t>ACP 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一个适配器，把引擎讲给编辑器听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src/acp/ 下的实现：会话管理、汇流到共享 turn host、出站翻译与权限桥。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3113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组件职责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578608"/>
            <a:ext cx="5029200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60903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78608"/>
            <a:ext cx="15727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BaizeAcpAgent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1" y="2578608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initialize / newSession / prompt / setSessionMode / cancel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81527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99232"/>
            <a:ext cx="15727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AcpSessionRegistry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0591" y="2999232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按 sessionId 记录会话与 cwd，负责取消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19856"/>
            <a:ext cx="5029200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502151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419856"/>
            <a:ext cx="15727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runAcpPromptTurn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1" y="3419856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把 ACP prompt 汇流到共享的 turn host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922776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840480"/>
            <a:ext cx="15727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AcpTurnSink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591" y="3840480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实现 ProtocolSink，把出站 wire 消息翻译成通知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61104"/>
            <a:ext cx="5029200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343400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261104"/>
            <a:ext cx="15727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permission-bridge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0591" y="4261104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control_request → 客户端权限请求 → 决定回写引擎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764024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4681728"/>
            <a:ext cx="15727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tool-kind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50591" y="4681728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把工具名与参数映射成标题、kind 与文件位置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102352"/>
            <a:ext cx="5029200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184648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102352"/>
            <a:ext cx="157276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prompt-input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0591" y="5102352"/>
            <a:ext cx="305409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把 ACP 的内容块拆成文本与图片输入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650992"/>
            <a:ext cx="5029200" cy="512064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779007"/>
            <a:ext cx="54864" cy="25603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650992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F2445"/>
                </a:solidFill>
                <a:latin typeface="Segoe UI"/>
                <a:ea typeface="Microsoft YaHei"/>
              </a:rPr>
              <a:t>能力声明：loadSession=false，图片输入与嵌入式上下文开启，MCP 支持 http 与 sse；模式集合固定为 Agent / Ask / Plan。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98464" y="2231136"/>
            <a:ext cx="5534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出站消息映射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98464" y="2578608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98464" y="2660903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1344" y="2578608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stream_event · 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578608"/>
            <a:ext cx="312084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agent_message_chunk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98464" y="3081527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344" y="2999232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stream_event · reasoning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2999232"/>
            <a:ext cx="312084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agent_thought_chunk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98464" y="3419856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98464" y="3502151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81344" y="3419856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tool_call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419856"/>
            <a:ext cx="312084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tool_call（pending，带 locations 与 rawInput）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98464" y="3922776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81344" y="3840480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tool_progress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3840480"/>
            <a:ext cx="312084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tool_call_update（in_progress）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98464" y="4261104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98464" y="4343400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81344" y="4261104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tool_result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4261104"/>
            <a:ext cx="312084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tool_call_update（completed / failed + rawOutput）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98464" y="4764024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81344" y="4681728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system · todo_update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681728"/>
            <a:ext cx="312084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plan（过滤掉 cancelled 项）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98464" y="5102352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98464" y="5184648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81344" y="5102352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system · mode_changed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5102352"/>
            <a:ext cx="312084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current_mode_update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98464" y="5605272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81344" y="5522976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result · error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5522976"/>
            <a:ext cx="312084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作为一条 agent_message_chunk 呈现给用户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98464" y="5943600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98464" y="6025896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81344" y="5943600"/>
            <a:ext cx="20116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同一 tool_use_id 再次出现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5943600"/>
            <a:ext cx="312084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发 tool_call_update，而不是新建一张卡片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8A22"/>
                </a:solidFill>
                <a:latin typeface="Segoe UI"/>
                <a:ea typeface="Microsoft YaHei"/>
              </a:rPr>
              <a:t>记忆与压缩的实现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召回走两条通道，压缩分三级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两者都以「不影响主 turn」为前提设计。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128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Auto Memory 召回：两条通道，从不合并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82112"/>
            <a:ext cx="1234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82112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召回请求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7128" y="3081527"/>
            <a:ext cx="2148840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30552" y="3035808"/>
            <a:ext cx="21488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3163824"/>
            <a:ext cx="1929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Fast 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3438144"/>
            <a:ext cx="1892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对文件名与元数据打分，不调模型</a:t>
            </a:r>
          </a:p>
        </p:txBody>
      </p:sp>
      <p:sp>
        <p:nvSpPr>
          <p:cNvPr id="19" name="Diamond 18"/>
          <p:cNvSpPr/>
          <p:nvPr/>
        </p:nvSpPr>
        <p:spPr>
          <a:xfrm>
            <a:off x="4553712" y="2953511"/>
            <a:ext cx="1874519" cy="10058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2380" y="2953511"/>
            <a:ext cx="1237183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强命中？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92808" y="3456432"/>
            <a:ext cx="201168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79392" y="3456432"/>
            <a:ext cx="237744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40295" y="2587751"/>
            <a:ext cx="2286000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19" y="2542032"/>
            <a:ext cx="228600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7" y="2670048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Fast Lane 命中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5" y="2944368"/>
            <a:ext cx="20299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精确命中或 ≥0.82 且领先 0.12，最多 3 个文件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28231" y="3456432"/>
            <a:ext cx="237744" cy="0"/>
          </a:xfrm>
          <a:prstGeom prst="line">
            <a:avLst/>
          </a:prstGeom>
          <a:ln w="17780">
            <a:solidFill>
              <a:srgbClr val="17A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65975" y="2962656"/>
            <a:ext cx="0" cy="493776"/>
          </a:xfrm>
          <a:prstGeom prst="line">
            <a:avLst/>
          </a:prstGeom>
          <a:ln w="17780">
            <a:solidFill>
              <a:srgbClr val="17A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65975" y="2962656"/>
            <a:ext cx="201168" cy="0"/>
          </a:xfrm>
          <a:prstGeom prst="line">
            <a:avLst/>
          </a:prstGeom>
          <a:ln w="17780">
            <a:solidFill>
              <a:srgbClr val="17A6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89719" y="2962656"/>
            <a:ext cx="36577" cy="0"/>
          </a:xfrm>
          <a:prstGeom prst="line">
            <a:avLst/>
          </a:prstGeom>
          <a:ln w="15875">
            <a:solidFill>
              <a:srgbClr val="92A0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26296" y="2962656"/>
            <a:ext cx="0" cy="493776"/>
          </a:xfrm>
          <a:prstGeom prst="line">
            <a:avLst/>
          </a:prstGeom>
          <a:ln w="15875">
            <a:solidFill>
              <a:srgbClr val="92A0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26296" y="3456432"/>
            <a:ext cx="201168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64807" y="3090672"/>
            <a:ext cx="402336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309067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17A673"/>
                </a:solidFill>
                <a:latin typeface="Segoe UI"/>
                <a:ea typeface="Microsoft YaHei"/>
              </a:rPr>
              <a:t>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0295" y="3575303"/>
            <a:ext cx="2286000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03719" y="3529584"/>
            <a:ext cx="228600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13447" y="36576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Semantic Lane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1735" y="3931920"/>
            <a:ext cx="20299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小模型排序，最多 5 个；查询 &lt;10 字符直接跳过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28231" y="3456432"/>
            <a:ext cx="237744" cy="0"/>
          </a:xfrm>
          <a:prstGeom prst="line">
            <a:avLst/>
          </a:prstGeom>
          <a:ln w="17780">
            <a:solidFill>
              <a:srgbClr val="7A5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665975" y="3456432"/>
            <a:ext cx="0" cy="493776"/>
          </a:xfrm>
          <a:prstGeom prst="line">
            <a:avLst/>
          </a:prstGeom>
          <a:ln w="17780">
            <a:solidFill>
              <a:srgbClr val="7A5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65975" y="3950208"/>
            <a:ext cx="201168" cy="0"/>
          </a:xfrm>
          <a:prstGeom prst="line">
            <a:avLst/>
          </a:prstGeom>
          <a:ln w="17780">
            <a:solidFill>
              <a:srgbClr val="7A57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89719" y="3950208"/>
            <a:ext cx="36577" cy="0"/>
          </a:xfrm>
          <a:prstGeom prst="line">
            <a:avLst/>
          </a:prstGeom>
          <a:ln w="15875">
            <a:solidFill>
              <a:srgbClr val="92A0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226296" y="3456432"/>
            <a:ext cx="0" cy="493776"/>
          </a:xfrm>
          <a:prstGeom prst="line">
            <a:avLst/>
          </a:prstGeom>
          <a:ln w="15875">
            <a:solidFill>
              <a:srgbClr val="92A0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226296" y="3456432"/>
            <a:ext cx="201168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464807" y="3584448"/>
            <a:ext cx="402336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64807" y="358444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7A57DE"/>
                </a:solidFill>
                <a:latin typeface="Segoe UI"/>
                <a:ea typeface="Microsoft YaHei"/>
              </a:rPr>
              <a:t>否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00615" y="3081527"/>
            <a:ext cx="2057400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464040" y="3035808"/>
            <a:ext cx="205740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3767" y="3163824"/>
            <a:ext cx="18379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挂进上下文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2056" y="3438144"/>
            <a:ext cx="1801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命中的主题文件作为附件挂到本轮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4517136"/>
            <a:ext cx="350306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" y="4517136"/>
            <a:ext cx="332018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0F2445"/>
                </a:solidFill>
                <a:latin typeface="Segoe UI"/>
                <a:ea typeface="Microsoft YaHei"/>
              </a:rPr>
              <a:t>普通 turn 不等待召回；显式召回最多等 4 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44314" y="4517136"/>
            <a:ext cx="350306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5754" y="4517136"/>
            <a:ext cx="332018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0F2445"/>
                </a:solidFill>
                <a:latin typeface="Segoe UI"/>
                <a:ea typeface="Microsoft YaHei"/>
              </a:rPr>
              <a:t>本次会话已出现或已被读过的文件会被过滤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30260" y="4517136"/>
            <a:ext cx="350306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21700" y="4517136"/>
            <a:ext cx="332018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0F2445"/>
                </a:solidFill>
                <a:latin typeface="Segoe UI"/>
                <a:ea typeface="Microsoft YaHei"/>
              </a:rPr>
              <a:t>结果要么全 Fast Lane，要么全 Semantic Lane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4956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压缩三级：能少做就少做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9516" y="5285231"/>
            <a:ext cx="3442106" cy="93268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8368" y="5230368"/>
            <a:ext cx="344210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2" y="5321807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Micro compact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6112" y="5577840"/>
            <a:ext cx="1669084" cy="237744"/>
          </a:xfrm>
          <a:prstGeom prst="roundRect">
            <a:avLst/>
          </a:prstGeom>
          <a:solidFill>
            <a:srgbClr val="D9F3F6"/>
          </a:solidFill>
          <a:ln w="12700">
            <a:solidFill>
              <a:srgbClr val="A5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" y="5577840"/>
            <a:ext cx="15776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0F2445"/>
                </a:solidFill>
                <a:latin typeface="Segoe UI"/>
                <a:ea typeface="Microsoft YaHei"/>
              </a:rPr>
              <a:t>旧工具负载清空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610916" y="5577840"/>
            <a:ext cx="1251813" cy="237744"/>
          </a:xfrm>
          <a:prstGeom prst="round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56636" y="5577840"/>
            <a:ext cx="11603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  <a:ea typeface="Microsoft YaHei"/>
              </a:rPr>
              <a:t>配对保留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" y="5870448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只动进程内投影，不写边界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15942" y="5285231"/>
            <a:ext cx="3442106" cy="93268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74794" y="5230368"/>
            <a:ext cx="344210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12538" y="5321807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Session compact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612538" y="5577840"/>
            <a:ext cx="1251813" cy="237744"/>
          </a:xfrm>
          <a:prstGeom prst="round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8258" y="5577840"/>
            <a:ext cx="11603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  <a:ea typeface="Microsoft YaHei"/>
              </a:rPr>
              <a:t>summary.md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10072" y="5577840"/>
            <a:ext cx="1669084" cy="237744"/>
          </a:xfrm>
          <a:prstGeom prst="roundRect">
            <a:avLst/>
          </a:prstGeom>
          <a:solidFill>
            <a:srgbClr val="DCE4FB"/>
          </a:solidFill>
          <a:ln w="12700">
            <a:solidFill>
              <a:srgbClr val="ADBF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55792" y="5577840"/>
            <a:ext cx="15776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0F2445"/>
                </a:solidFill>
                <a:latin typeface="Segoe UI"/>
                <a:ea typeface="Microsoft YaHei"/>
              </a:rPr>
              <a:t>配对安全的近期尾部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12538" y="5870448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复用会话记忆，追加 compact_boundary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32368" y="5285231"/>
            <a:ext cx="3442106" cy="93268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091220" y="5230368"/>
            <a:ext cx="344210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28964" y="5321807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Full compact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328964" y="5577840"/>
            <a:ext cx="1251813" cy="237744"/>
          </a:xfrm>
          <a:prstGeom prst="round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74684" y="5577840"/>
            <a:ext cx="11603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  <a:ea typeface="Microsoft YaHei"/>
              </a:rPr>
              <a:t>模型摘要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626498" y="5577840"/>
            <a:ext cx="1669084" cy="237744"/>
          </a:xfrm>
          <a:prstGeom prst="roundRect">
            <a:avLst/>
          </a:prstGeom>
          <a:solidFill>
            <a:srgbClr val="EAE4FA"/>
          </a:solidFill>
          <a:ln w="12700">
            <a:solidFill>
              <a:srgbClr val="CCB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72218" y="5577840"/>
            <a:ext cx="15776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0F2445"/>
                </a:solidFill>
                <a:latin typeface="Segoe UI"/>
                <a:ea typeface="Microsoft YaHei"/>
              </a:rPr>
              <a:t>boundary + 尾部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8964" y="5870448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notes 缺失或过期时才让模型总结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架构与实现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4560"/>
                </a:solidFill>
                <a:latin typeface="Segoe UI"/>
                <a:ea typeface="Microsoft YaHei"/>
              </a:rPr>
              <a:t>失败边界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出问题时，系统退到哪里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这些边界是设计出来的，不是兜底补的。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04288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3042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用户中断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2304288"/>
            <a:ext cx="873526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已产生的可用输出会被提交并记录中断，turn 以 aborted 结束，不是丢弃整轮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843784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7614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工具出错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761488"/>
            <a:ext cx="873526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未知工具、拒绝、异常与超时都变成 isError 结果；Bash 失败额外取消并行兄弟调用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218688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00984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186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上下文超限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4" y="3218688"/>
            <a:ext cx="873526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获得一次反应式压缩重试；已经压过一次还失败才向上报错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675887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步数到顶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5184" y="3675887"/>
            <a:ext cx="873526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关闭工具，强制模型给一次最终回答；再失败则由 wire 报告步数上限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33087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133087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远端不可用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4133087"/>
            <a:ext cx="873526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fail-closed：中止远端 turn 准备，绝不把文件与 shell 操作落回控制机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725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5902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并发写入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5184" y="4590288"/>
            <a:ext cx="873526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一个会话只允许一个活跃 turn，避免同一份 transcript 被并发改写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1297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50474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扩展异常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15184" y="5047488"/>
            <a:ext cx="873526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畸形的插件清单、技能或 MCP JSON 只报告自身来源，其他有效扩展继续加载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5869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55046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MCP 掉线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15184" y="5504688"/>
            <a:ext cx="873526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该服务器的工具缺席；配置变更是替换池化管理器，而不是改活连接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961888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60441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596188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协议不兼容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15184" y="5961888"/>
            <a:ext cx="873526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适配器边界上拒绝或忽略非法消息；破坏性契约变更必须提升 protocol version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12B5C4"/>
                </a:solidFill>
                <a:latin typeface="Segoe UI"/>
                <a:ea typeface="Microsoft YaHei"/>
              </a:rPr>
              <a:t>WRAP UP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8103" y="1517904"/>
            <a:ext cx="475488" cy="4572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7393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200" b="1">
                <a:solidFill>
                  <a:srgbClr val="0F2445"/>
                </a:solidFill>
                <a:latin typeface="Segoe UI"/>
                <a:ea typeface="Microsoft YaHei"/>
              </a:rPr>
              <a:t>三句话记住这套系统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" y="2670048"/>
            <a:ext cx="3442106" cy="14813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615184"/>
            <a:ext cx="34421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52928"/>
            <a:ext cx="73152" cy="100584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285292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3163824"/>
            <a:ext cx="27105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0F2445"/>
                </a:solidFill>
                <a:latin typeface="Segoe UI"/>
                <a:ea typeface="Microsoft YaHei"/>
              </a:rPr>
              <a:t>一套引擎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3529584"/>
            <a:ext cx="27105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桌面端、Web、IDE 与 API 全部汇流到同一个 turn host 与 query 循环，换入口不换行为。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5942" y="2670048"/>
            <a:ext cx="3442106" cy="14813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74794" y="2615184"/>
            <a:ext cx="34421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4794" y="2852928"/>
            <a:ext cx="73152" cy="100584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8842" y="285292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8842" y="3163824"/>
            <a:ext cx="27105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0F2445"/>
                </a:solidFill>
                <a:latin typeface="Segoe UI"/>
                <a:ea typeface="Microsoft YaHei"/>
              </a:rPr>
              <a:t>边界显式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8842" y="3529584"/>
            <a:ext cx="27105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权限闸、执行平面与协议 schema 三道边界，把「能做什么」和「可能出什么事」分开管理。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2368" y="2670048"/>
            <a:ext cx="3442106" cy="14813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1220" y="2615184"/>
            <a:ext cx="34421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1220" y="2852928"/>
            <a:ext cx="73152" cy="100584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5268" y="285292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17A673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5268" y="3163824"/>
            <a:ext cx="27105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0F2445"/>
                </a:solidFill>
                <a:latin typeface="Segoe UI"/>
                <a:ea typeface="Microsoft YaHei"/>
              </a:rPr>
              <a:t>可扩展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5268" y="3529584"/>
            <a:ext cx="27105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加工具、技能、子代理与 MCP 都不需要改核心循环，绝大多数扩展每一轮重新组装。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7083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5F708C"/>
                </a:solidFill>
                <a:latin typeface="Segoe UI"/>
                <a:ea typeface="Microsoft YaHei"/>
              </a:rPr>
              <a:t>现场演示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3442106" cy="47548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718304"/>
            <a:ext cx="344210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DEMO 01   在 IDE 侧栏用 ACP 跑一个真实改动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4794" y="4718304"/>
            <a:ext cx="3442106" cy="47548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4794" y="4718304"/>
            <a:ext cx="344210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DEMO 02   浏览器自动化验证一次登录流程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1220" y="4718304"/>
            <a:ext cx="3442106" cy="47548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1220" y="4718304"/>
            <a:ext cx="344210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DEMO 03   SSH 远端工作区上的检索与编辑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65099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852160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Questions  ·  Coding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