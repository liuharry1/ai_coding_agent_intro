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09728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Baix Series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3E0"/>
                </a:solidFill>
                <a:latin typeface="Segoe UI"/>
              </a:rPr>
              <a:t>Enterprise AI products for knowledge, productivity and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8E5"/>
                </a:solidFill>
                <a:latin typeface="Segoe UI"/>
              </a:rPr>
              <a:t>PRODUCT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Segoe UI"/>
              </a:rPr>
              <a:t>Baix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Baix ChatBot is one AI chat interface for company knowledge: it searches documents, Jira, Confluence, code and databases, and gives answers with sources you can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Segoe U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Build Knowledge Bases &amp; Graphs: </a:t>
            </a:r>
            <a:r>
              <a:rPr sz="1300">
                <a:solidFill>
                  <a:srgbClr val="333333"/>
                </a:solidFill>
                <a:latin typeface="Segoe UI"/>
              </a:rPr>
              <a:t>Turn documents into a searchable vector index and a knowledge graph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Custom Assistants: </a:t>
            </a:r>
            <a:r>
              <a:rPr sz="1300">
                <a:solidFill>
                  <a:srgbClr val="333333"/>
                </a:solidFill>
                <a:latin typeface="Segoe UI"/>
              </a:rPr>
              <a:t>Each assistant has its own knowledge, prompt, tools and team access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Answers with Citations: </a:t>
            </a:r>
            <a:r>
              <a:rPr sz="1300">
                <a:solidFill>
                  <a:srgbClr val="333333"/>
                </a:solidFill>
                <a:latin typeface="Segoe UI"/>
              </a:rPr>
              <a:t>Every answer links back to its source documents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Enterprise Integrations: </a:t>
            </a:r>
            <a:r>
              <a:rPr sz="1300">
                <a:solidFill>
                  <a:srgbClr val="333333"/>
                </a:solidFill>
                <a:latin typeface="Segoe UI"/>
              </a:rPr>
              <a:t>Jira, Confluence, Bitbucket, Web, SQL databases and MCP plugins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Files &amp; Code: </a:t>
            </a:r>
            <a:r>
              <a:rPr sz="1300">
                <a:solidFill>
                  <a:srgbClr val="333333"/>
                </a:solidFill>
                <a:latin typeface="Segoe UI"/>
              </a:rPr>
              <a:t>Upload files, run Python, generate reports and charts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300">
                <a:solidFill>
                  <a:srgbClr val="0B1F3A"/>
                </a:solidFill>
                <a:latin typeface="Segoe UI"/>
              </a:rPr>
              <a:t>Evaluation &amp; Analytics: </a:t>
            </a:r>
            <a:r>
              <a:rPr sz="1300">
                <a:solidFill>
                  <a:srgbClr val="333333"/>
                </a:solidFill>
                <a:latin typeface="Segoe UI"/>
              </a:rPr>
              <a:t>User feedback, a usage dashboard and monthly reports</a:t>
            </a:r>
          </a:p>
        </p:txBody>
      </p:sp>
      <p:sp>
        <p:nvSpPr>
          <p:cNvPr id="8" name="Image Placeholder"/>
          <p:cNvSpPr/>
          <p:nvPr/>
        </p:nvSpPr>
        <p:spPr>
          <a:xfrm>
            <a:off x="6766560" y="640080"/>
            <a:ext cx="4937760" cy="566928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>
            <a:solidFill>
              <a:srgbClr val="C5CF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888888"/>
                </a:solidFill>
              </a:rPr>
              <a:t>Image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8E5"/>
                </a:solidFill>
                <a:latin typeface="Segoe UI"/>
              </a:rPr>
              <a:t>PRODUCT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Segoe UI"/>
              </a:rPr>
              <a:t>Cloud 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Cloud Coding Agent is an AI coding assistant that reads and edits code and runs commands, available on the web and inside your 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Segoe U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Coding Assistance: </a:t>
            </a:r>
            <a:r>
              <a:rPr sz="1200">
                <a:solidFill>
                  <a:srgbClr val="333333"/>
                </a:solidFill>
                <a:latin typeface="Segoe UI"/>
              </a:rPr>
              <a:t>Edit code, run commands and search the codebase with parallel subagents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Multiple Interfaces: </a:t>
            </a:r>
            <a:r>
              <a:rPr sz="1200">
                <a:solidFill>
                  <a:srgbClr val="333333"/>
                </a:solidFill>
                <a:latin typeface="Segoe UI"/>
              </a:rPr>
              <a:t>Web UI, VS Code / Cursor / IntelliJ, API and SDK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Extensibility: </a:t>
            </a:r>
            <a:r>
              <a:rPr sz="1200">
                <a:solidFill>
                  <a:srgbClr val="333333"/>
                </a:solidFill>
                <a:latin typeface="Segoe UI"/>
              </a:rPr>
              <a:t>Skills, plugins, MCP tools, custom agents and session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Segoe U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Team-Level Coding Agent: </a:t>
            </a:r>
            <a:r>
              <a:rPr sz="1200">
                <a:solidFill>
                  <a:srgbClr val="333333"/>
                </a:solidFill>
                <a:latin typeface="Segoe UI"/>
              </a:rPr>
              <a:t>One person sets up the team's MCP servers, skills and agents; everyone else gets them out of the box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Company Skill Marketplaces: </a:t>
            </a:r>
            <a:r>
              <a:rPr sz="1200">
                <a:solidFill>
                  <a:srgbClr val="333333"/>
                </a:solidFill>
                <a:latin typeface="Segoe UI"/>
              </a:rPr>
              <a:t>Easily connect to our company skill marketplaces and reuse shared skills</a:t>
            </a:r>
          </a:p>
        </p:txBody>
      </p:sp>
      <p:sp>
        <p:nvSpPr>
          <p:cNvPr id="10" name="Image Placeholder"/>
          <p:cNvSpPr/>
          <p:nvPr/>
        </p:nvSpPr>
        <p:spPr>
          <a:xfrm>
            <a:off x="6766560" y="640080"/>
            <a:ext cx="4937760" cy="566928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>
            <a:solidFill>
              <a:srgbClr val="C5CF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888888"/>
                </a:solidFill>
              </a:rPr>
              <a:t>Image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8E5"/>
                </a:solidFill>
                <a:latin typeface="Segoe UI"/>
              </a:rPr>
              <a:t>PRODUCT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Segoe UI"/>
              </a:rPr>
              <a:t>Baix Agent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Baix Agent App is the desktop edition of our agent, built on the same codebase as Cloud Coding Agent. It comes with two ready-to-use agents that work on your own computer.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Segoe UI"/>
              </a:rPr>
              <a:t>Browser Automation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Expense Claims: </a:t>
            </a:r>
            <a:r>
              <a:rPr sz="1200">
                <a:solidFill>
                  <a:srgbClr val="333333"/>
                </a:solidFill>
                <a:latin typeface="Segoe UI"/>
              </a:rPr>
              <a:t>Fill in and submit expense reports in Concur automatically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Any Web Task: </a:t>
            </a:r>
            <a:r>
              <a:rPr sz="1200">
                <a:solidFill>
                  <a:srgbClr val="333333"/>
                </a:solidFill>
                <a:latin typeface="Segoe UI"/>
              </a:rPr>
              <a:t>Navigate pages, click, fill forms, collect data and take screenshots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Your Own Chrome: </a:t>
            </a:r>
            <a:r>
              <a:rPr sz="1200">
                <a:solidFill>
                  <a:srgbClr val="333333"/>
                </a:solidFill>
                <a:latin typeface="Segoe UI"/>
              </a:rPr>
              <a:t>Reuses your signed-in sessions, so it works on intranet sites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Segoe UI"/>
              </a:rPr>
              <a:t>Desktop Assistant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Files &amp; Folders: </a:t>
            </a:r>
            <a:r>
              <a:rPr sz="1200">
                <a:solidFill>
                  <a:srgbClr val="333333"/>
                </a:solidFill>
                <a:latin typeface="Segoe UI"/>
              </a:rPr>
              <a:t>Find, organize, rename and clean up local files in bulk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Office Documents: </a:t>
            </a:r>
            <a:r>
              <a:rPr sz="1200">
                <a:solidFill>
                  <a:srgbClr val="333333"/>
                </a:solidFill>
                <a:latin typeface="Segoe UI"/>
              </a:rPr>
              <a:t>Read, summarize and convert Excel, Word, PDF; generate reports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E88E5"/>
                </a:solidFill>
              </a:rPr>
              <a:t>■  </a:t>
            </a:r>
            <a:r>
              <a:rPr b="1" sz="1200">
                <a:solidFill>
                  <a:srgbClr val="0B1F3A"/>
                </a:solidFill>
                <a:latin typeface="Segoe UI"/>
              </a:rPr>
              <a:t>System Tasks: </a:t>
            </a:r>
            <a:r>
              <a:rPr sz="1200">
                <a:solidFill>
                  <a:srgbClr val="333333"/>
                </a:solidFill>
                <a:latin typeface="Segoe UI"/>
              </a:rPr>
              <a:t>Run scripts, set up tools and check system settings</a:t>
            </a:r>
          </a:p>
        </p:txBody>
      </p:sp>
      <p:sp>
        <p:nvSpPr>
          <p:cNvPr id="10" name="Image Placeholder"/>
          <p:cNvSpPr/>
          <p:nvPr/>
        </p:nvSpPr>
        <p:spPr>
          <a:xfrm>
            <a:off x="6766560" y="640080"/>
            <a:ext cx="4937760" cy="566928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>
            <a:solidFill>
              <a:srgbClr val="C5CF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888888"/>
                </a:solidFill>
              </a:rPr>
              <a:t>Image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